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3212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365760"/>
            <a:ext cx="0" cy="420624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5486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2344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9202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6060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32918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3977640"/>
            <a:ext cx="3840480" cy="0"/>
          </a:xfrm>
          <a:prstGeom prst="line">
            <a:avLst/>
          </a:prstGeom>
          <a:noFill/>
          <a:ln w="6350">
            <a:solidFill>
              <a:srgbClr val="103B5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914400"/>
            <a:ext cx="2926080" cy="2926080"/>
          </a:xfrm>
          <a:prstGeom prst="ellipse">
            <a:avLst/>
          </a:prstGeom>
          <a:solidFill>
            <a:srgbClr val="0B2233"/>
          </a:solidFill>
          <a:ln w="19050">
            <a:solidFill>
              <a:srgbClr val="20A4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143000"/>
            <a:ext cx="2468880" cy="2468880"/>
          </a:xfrm>
          <a:prstGeom prst="ellipse">
            <a:avLst/>
          </a:prstGeom>
          <a:solidFill>
            <a:srgbClr val="103B59">
              <a:alpha val="70000"/>
            </a:srgbClr>
          </a:solidFill>
          <a:ln w="9525">
            <a:solidFill>
              <a:srgbClr val="54D9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691640"/>
            <a:ext cx="1371600" cy="1371600"/>
          </a:xfrm>
          <a:prstGeom prst="ellipse">
            <a:avLst/>
          </a:prstGeom>
          <a:solidFill>
            <a:srgbClr val="0A2A40"/>
          </a:solidFill>
          <a:ln w="6350">
            <a:solidFill>
              <a:srgbClr val="20A4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640080"/>
            <a:ext cx="3657600" cy="3474720"/>
          </a:xfrm>
          <a:prstGeom prst="ellipse">
            <a:avLst/>
          </a:prstGeom>
          <a:ln w="12700">
            <a:solidFill>
              <a:srgbClr val="54D9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331720"/>
            <a:ext cx="201168" cy="201168"/>
          </a:xfrm>
          <a:prstGeom prst="ellipse">
            <a:avLst/>
          </a:prstGeom>
          <a:solidFill>
            <a:srgbClr val="F4E84A"/>
          </a:solidFill>
          <a:ln w="12700">
            <a:solidFill>
              <a:srgbClr val="F4E8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2267712"/>
            <a:ext cx="329184" cy="329184"/>
          </a:xfrm>
          <a:prstGeom prst="ellipse">
            <a:avLst/>
          </a:prstGeom>
          <a:ln w="19050">
            <a:solidFill>
              <a:srgbClr val="F4E84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004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103B5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0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AN EARTH SYSTEM TREND DETECTIVE!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12801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36576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Evidence-first Earth-system investigation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data  →  quality control  →  trend evidence  →  spatial context  →  responsible conclusion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46120"/>
            <a:ext cx="2011680" cy="27432"/>
          </a:xfrm>
          <a:prstGeom prst="rect">
            <a:avLst/>
          </a:prstGeom>
          <a:solidFill>
            <a:srgbClr val="20A4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Space Apps Challenge 2026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decoder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Challenge: Be An Earth System Trend Detective!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Seeing a trend is easy.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what the evidence supports is harder.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47472" cy="347472"/>
          </a:xfrm>
          <a:prstGeom prst="ellipse">
            <a:avLst/>
          </a:prstGeom>
          <a:solidFill>
            <a:srgbClr val="103B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Incomplete Records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months and incomplete years can distort annual comparisons.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17320"/>
            <a:ext cx="347472" cy="347472"/>
          </a:xfrm>
          <a:prstGeom prst="ellipse">
            <a:avLst/>
          </a:prstGeom>
          <a:solidFill>
            <a:srgbClr val="103B5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Temperature, precipitation, and wind do not automatically share the same aggregation semantics.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17520"/>
            <a:ext cx="347472" cy="347472"/>
          </a:xfrm>
          <a:prstGeom prst="ellipse">
            <a:avLst/>
          </a:prstGeom>
          <a:solidFill>
            <a:srgbClr val="103B5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Evidence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visible line is not automatically a statistically supported trend.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17520"/>
            <a:ext cx="347472" cy="347472"/>
          </a:xfrm>
          <a:prstGeom prst="ellipse">
            <a:avLst/>
          </a:prstGeom>
          <a:solidFill>
            <a:srgbClr val="103B5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Context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Nearby locations may share the same source grid or reanalysis structure and should not automatically be treated as independent confirmation.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Investigate. Verify. Replay.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99032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7" name="Shape 5"/>
          <p:cNvSpPr/>
          <p:nvPr/>
        </p:nvSpPr>
        <p:spPr>
          <a:xfrm>
            <a:off x="1490472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6192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60904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52344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8064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22776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014216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216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59936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84648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6088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21808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Valid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08392" y="1417320"/>
            <a:ext cx="91440" cy="91440"/>
          </a:xfrm>
          <a:prstGeom prst="ellipse">
            <a:avLst/>
          </a:prstGeom>
          <a:solidFill>
            <a:srgbClr val="20A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799832" y="822960"/>
            <a:ext cx="1170432" cy="1417320"/>
          </a:xfrm>
          <a:prstGeom prst="roundRect">
            <a:avLst>
              <a:gd name="adj" fmla="val 6250"/>
            </a:avLst>
          </a:prstGeom>
          <a:solidFill>
            <a:srgbClr val="0D1F2D"/>
          </a:solidFill>
          <a:ln w="19050">
            <a:solidFill>
              <a:srgbClr val="F4E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9144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45552" y="128016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24688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03B59"/>
          </a:solidFill>
          <a:ln w="19050">
            <a:solidFill>
              <a:srgbClr val="F4E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Responsible Conclusion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5760" y="320040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does not simply display a trend.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shows how the evidence was assembled and what the data can—and cannot—support.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data, explicit analysis rules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Monthly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749040" cy="438912"/>
          </a:xfrm>
          <a:prstGeom prst="roundRect">
            <a:avLst>
              <a:gd name="adj" fmla="val 10417"/>
            </a:avLst>
          </a:prstGeom>
          <a:solidFill>
            <a:srgbClr val="0B22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A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T2M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749040" cy="438912"/>
          </a:xfrm>
          <a:prstGeom prst="roundRect">
            <a:avLst>
              <a:gd name="adj" fmla="val 10417"/>
            </a:avLst>
          </a:prstGeom>
          <a:solidFill>
            <a:srgbClr val="0B22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A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PRECTOTCORR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Precipitation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3749040" cy="438912"/>
          </a:xfrm>
          <a:prstGeom prst="roundRect">
            <a:avLst>
              <a:gd name="adj" fmla="val 10417"/>
            </a:avLst>
          </a:prstGeom>
          <a:solidFill>
            <a:srgbClr val="0B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A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WS10M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exposed: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Selected location &amp; time window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Source metadata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Requested &amp; returned coordinates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7315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Complete calendar-year quality 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Missing values are not zero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No silent interpolation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Parameter-specific aggregation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Source unit preservation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Visible retrieval status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33756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0A1A28"/>
          </a:solidFill>
          <a:ln w="12700">
            <a:solidFill>
              <a:srgbClr val="F4E8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values are model/reanalysis-derived meteorological data, not exact satellite-pixel observations.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records to responsible evidence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594360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D1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Validate monthly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A1A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418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Reject incomplete calendar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89304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D1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93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Apply parameter-specific aggregation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36776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A1A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367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Compute application-derived reference climatology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84248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D1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84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Calculate absolute anomalies where valid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A1A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Calculate Theil–Sen descriptive slope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D1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9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Report significance only when implemented and valid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0A1A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26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Generate a cautious interpretation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Application-computed 1991–2020 reference climatology.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5943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SUPPORTS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1051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Selected-series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Direction &amp; magnitude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Valid record 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Source metadata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49240" y="24688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0D1F2D"/>
          </a:solidFill>
          <a:ln w="12700">
            <a:solidFill>
              <a:srgbClr val="6F84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DOES NOT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Causation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Official forecast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Proof of event attribution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Automatic regional generalization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location to evidence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0" y="182880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103B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182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PREVIEW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8503920" cy="3977640"/>
          </a:xfrm>
          <a:prstGeom prst="roundRect">
            <a:avLst>
              <a:gd name="adj" fmla="val 2299"/>
            </a:avLst>
          </a:prstGeom>
          <a:solidFill>
            <a:srgbClr val="081828"/>
          </a:solidFill>
          <a:ln w="19050">
            <a:solidFill>
              <a:srgbClr val="1A3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4360"/>
            <a:ext cx="8503920" cy="411480"/>
          </a:xfrm>
          <a:prstGeom prst="rect">
            <a:avLst/>
          </a:prstGeom>
          <a:solidFill>
            <a:srgbClr val="0B22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Evidence-first investigation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07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location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T2M / PRECTOTCORR / WS10M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Window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User-selected range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0A2A20"/>
          </a:solidFill>
          <a:ln w="12700">
            <a:solidFill>
              <a:srgbClr val="2A6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FF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Data Status: Ready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1188720"/>
            <a:ext cx="3566160" cy="2468880"/>
          </a:xfrm>
          <a:prstGeom prst="roundRect">
            <a:avLst>
              <a:gd name="adj" fmla="val 2222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Chart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560320"/>
            <a:ext cx="3017520" cy="-731520"/>
          </a:xfrm>
          <a:prstGeom prst="line">
            <a:avLst/>
          </a:prstGeom>
          <a:noFill/>
          <a:ln w="25400">
            <a:solidFill>
              <a:srgbClr val="20A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651760"/>
            <a:ext cx="3017520" cy="-274320"/>
          </a:xfrm>
          <a:prstGeom prst="line">
            <a:avLst/>
          </a:prstGeom>
          <a:noFill/>
          <a:ln w="19050">
            <a:solidFill>
              <a:srgbClr val="54D9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UI PREVIEW — ILLUSTRATIVE, NOT LIVE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20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280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Panel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15544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trend summary &amp; valid record length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42316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0D1F2D"/>
          </a:solidFill>
          <a:ln w="12700">
            <a:solidFill>
              <a:srgbClr val="F4E8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514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Replay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Step-through of quality gate, series, and interpretation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&amp; methodology details  •  Units preserved  •  Limitations visible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is part of the product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25880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90472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87752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52344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9624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14216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11496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76088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3368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777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99832" y="731520"/>
            <a:ext cx="1170432" cy="502920"/>
          </a:xfrm>
          <a:prstGeom prst="roundRect">
            <a:avLst>
              <a:gd name="adj" fmla="val 9091"/>
            </a:avLst>
          </a:prstGeom>
          <a:solidFill>
            <a:srgbClr val="0D1F2D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7315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Source is visible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Units are visible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157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Period is visible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Valid record count is visible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52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Missing data is disclosed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Method version is visible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Limitations are visible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2157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No fake fallback data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No causal language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33756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1A1010"/>
          </a:solidFill>
          <a:ln w="12700">
            <a:solidFill>
              <a:srgbClr val="5A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0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TRACEABILITY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"Trend detected."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54880" y="333756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0A1A20"/>
          </a:solidFill>
          <a:ln w="19050">
            <a:solidFill>
              <a:srgbClr val="20A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EARTH FORENSICS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"Here is the source, method, record quality, result, and limitation."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investigation experience, every screen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85800"/>
            <a:ext cx="2743200" cy="2651760"/>
          </a:xfrm>
          <a:prstGeom prst="roundRect">
            <a:avLst>
              <a:gd name="adj" fmla="val 2759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868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Stacked investigation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Touch-friendly controls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Charts full width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Evidence Replay vertical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685800"/>
            <a:ext cx="2743200" cy="2651760"/>
          </a:xfrm>
          <a:prstGeom prst="roundRect">
            <a:avLst>
              <a:gd name="adj" fmla="val 2759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868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Balanced two-column layout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Touch + pointer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Compact evidence panels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Adaptive chart sizing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685800"/>
            <a:ext cx="2743200" cy="2651760"/>
          </a:xfrm>
          <a:prstGeom prst="roundRect">
            <a:avLst>
              <a:gd name="adj" fmla="val 2759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8686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Navigation rail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Multi-column workspace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798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Charts + provenance together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Spatial context beside trend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8"/>
          </a:solidFill>
          <a:ln w="12700">
            <a:solidFill>
              <a:srgbClr val="20A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57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data, calculations, units, and scientific wording remain identical across devices. Only the presentation layout changes.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transparent prototype, not a black box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Open Earth Forensics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Select 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Select variable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Choose time range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Retrieve NASA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 Inspect the chart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 Review quality checks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 Open Evidence Replay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 Export or share the 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64008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0D1F2D"/>
          </a:solidFill>
          <a:ln w="12700">
            <a:solidFill>
              <a:srgbClr val="1A3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NASA POWER retrieval &amp; visualization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IN SERVER FUNCTIONS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Significance testing uses the documented validated method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IN SERVER FUNCTIONS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FIRMS integration needs server credentials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697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sweeps use bounded backend requests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00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LIMITATION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Browser-local ≠ cloud database storage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703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LIMITATION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context is not proof of causality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trend detection starts with better evidence.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1F2D"/>
          </a:solidFill>
          <a:ln w="19050">
            <a:solidFill>
              <a:srgbClr val="20A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914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0" y="8686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1F2D"/>
          </a:solidFill>
          <a:ln w="19050">
            <a:solidFill>
              <a:srgbClr val="20A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914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8686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1F2D"/>
          </a:solidFill>
          <a:ln w="19050">
            <a:solidFill>
              <a:srgbClr val="20A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TREND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8686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1F2D"/>
          </a:solidFill>
          <a:ln w="19050">
            <a:solidFill>
              <a:srgbClr val="20A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9144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A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06640" y="8686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0D1F2D"/>
          </a:solidFill>
          <a:ln w="19050">
            <a:solidFill>
              <a:srgbClr val="F4E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8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REPLAYABLE CONCLUSION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1600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helps users ask: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What is changing?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Where is it changing?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596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How much is it changing?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889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Is the evidence statistically supported?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What limitations should guide the conclusion?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0A1A28"/>
          </a:solidFill>
          <a:ln w="12700">
            <a:solidFill>
              <a:srgbClr val="6F84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57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B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describes evidence in selected NASA Earth-system data. It does not establish causality, official NASA endorsement, or automatic regional conclusions.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•  Team decoder  •  NASA Space Apps Challenge 2026  •  Be An Earth System Trend Detective!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Forensics  |  Team decoder  |  NASA Space Apps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4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 Forensics - NASA Space Apps Challenge 2026</dc:title>
  <dc:subject>Evidence-first Earth-system investigation</dc:subject>
  <dc:creator>Team decoder</dc:creator>
  <cp:lastModifiedBy>Team decoder</cp:lastModifiedBy>
  <cp:revision>1</cp:revision>
  <dcterms:created xsi:type="dcterms:W3CDTF">2026-10-01T07:10:04Z</dcterms:created>
  <dcterms:modified xsi:type="dcterms:W3CDTF">2026-10-01T07:10:04Z</dcterms:modified>
</cp:coreProperties>
</file>