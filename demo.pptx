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core distinction: the product is not a generic climate dashboard. It is an investigation workflow designed to make each detected trend traceable from NASA source data to a defensible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why the problem is methodological, not merely visual. The app forces explicit scope, data completeness, baseline definition, and statistical interpretation before a finding is surfaced.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six-step flow. The key user experience idea is “case file” clarity: every result has an obvious path back to the data, rules, and statistical checks that produced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out the concrete methods. Annual values are the arithmetic mean of 12 valid monthly values. The trend estimate uses Theil–Sen. Modified Mann–Kendall is only used when there are at least 8 complete annual observations. EONET wildfire events are contextual, not proof of a climate trend.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an illustrative UI preview, not a live Chattogram result. Show how one investigation is presented: location, annual series, finding panel, and evidence fields. Emphasize that the interface keeps scope and causality boundaries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trust slide. Judges should see that the product actively blocks common overclaims: turning point data into regional claims, confusing association with causality, treating non-significance as no change, or manufacturing significance from short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submission stack: final app, public GitHub source/documentation, and a compact demo story. The value proposition is the evidence layer: the user can trace what changed, how it was tested, and exactly where the claim boundary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
    <p:bg>
      <p:bgPr>
        <a:solidFill>
          <a:srgbClr val="06131D"/>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6131D"/>
          </a:solidFill>
          <a:ln w="12700">
            <a:solidFill>
              <a:srgbClr val="06131D">
                <a:alpha val="0"/>
              </a:srgbClr>
            </a:solidFill>
            <a:prstDash val="solid"/>
          </a:ln>
        </p:spPr>
      </p:sp>
      <p:sp>
        <p:nvSpPr>
          <p:cNvPr id="3" name="Shape 1"/>
          <p:cNvSpPr/>
          <p:nvPr/>
        </p:nvSpPr>
        <p:spPr>
          <a:xfrm>
            <a:off x="438912" y="6528816"/>
            <a:ext cx="11301984" cy="0"/>
          </a:xfrm>
          <a:prstGeom prst="line">
            <a:avLst/>
          </a:prstGeom>
          <a:noFill/>
          <a:ln w="7620">
            <a:solidFill>
              <a:srgbClr val="203746">
                <a:alpha val="70000"/>
              </a:srgbClr>
            </a:solidFill>
            <a:prstDash val="solid"/>
          </a:ln>
        </p:spPr>
      </p:sp>
      <p:sp>
        <p:nvSpPr>
          <p:cNvPr id="4" name="Text 2"/>
          <p:cNvSpPr/>
          <p:nvPr/>
        </p:nvSpPr>
        <p:spPr>
          <a:xfrm>
            <a:off x="475488" y="6583680"/>
            <a:ext cx="1828800" cy="164592"/>
          </a:xfrm>
          <a:prstGeom prst="rect">
            <a:avLst/>
          </a:prstGeom>
          <a:noFill/>
          <a:ln/>
        </p:spPr>
        <p:txBody>
          <a:bodyPr wrap="square" lIns="0" tIns="0" rIns="0" bIns="0" rtlCol="0" anchor="ctr"/>
          <a:lstStyle/>
          <a:p>
            <a:pPr indent="0" marL="0">
              <a:buNone/>
            </a:pPr>
            <a:r>
              <a:rPr lang="en-US" sz="750" b="1" spc="80" kern="0" dirty="0">
                <a:solidFill>
                  <a:srgbClr val="6F8692"/>
                </a:solidFill>
                <a:latin typeface="Aptos" pitchFamily="34" charset="0"/>
                <a:ea typeface="Aptos" pitchFamily="34" charset="-122"/>
                <a:cs typeface="Aptos" pitchFamily="34" charset="-120"/>
              </a:rPr>
              <a:t>EARTHSYSTEM / 2026</a:t>
            </a:r>
            <a:endParaRPr lang="en-US" sz="750" dirty="0"/>
          </a:p>
        </p:txBody>
      </p:sp>
      <p:sp>
        <p:nvSpPr>
          <p:cNvPr id="5" name="Text 3"/>
          <p:cNvSpPr/>
          <p:nvPr/>
        </p:nvSpPr>
        <p:spPr>
          <a:xfrm>
            <a:off x="10195560" y="6583680"/>
            <a:ext cx="1508760" cy="164592"/>
          </a:xfrm>
          <a:prstGeom prst="rect">
            <a:avLst/>
          </a:prstGeom>
          <a:noFill/>
          <a:ln/>
        </p:spPr>
        <p:txBody>
          <a:bodyPr wrap="square" lIns="0" tIns="0" rIns="0" bIns="0" rtlCol="0" anchor="ctr"/>
          <a:lstStyle/>
          <a:p>
            <a:pPr algn="r" indent="0" marL="0">
              <a:buNone/>
            </a:pPr>
            <a:r>
              <a:rPr lang="en-US" sz="750" b="1" spc="80" kern="0" dirty="0">
                <a:solidFill>
                  <a:srgbClr val="6F8692"/>
                </a:solidFill>
                <a:latin typeface="Aptos" pitchFamily="34" charset="0"/>
                <a:ea typeface="Aptos" pitchFamily="34" charset="-122"/>
                <a:cs typeface="Aptos" pitchFamily="34" charset="-120"/>
              </a:rPr>
              <a:t>TEAM DECODER</a:t>
            </a:r>
            <a:endParaRPr lang="en-US" sz="750" dirty="0"/>
          </a:p>
        </p:txBody>
      </p:sp>
      <p:sp>
        <p:nvSpPr>
          <p:cNvPr id="25" name="Slide Number Placeholder 0"/>
          <p:cNvSpPr>
            <a:spLocks noGrp="1"/>
          </p:cNvSpPr>
          <p:nvPr>
            <p:ph type="sldNum" sz="quarter" idx="4294967295"/>
          </p:nvPr>
        </p:nvSpPr>
        <p:spPr>
          <a:xfrm>
            <a:off x="11759184" y="6556248"/>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A95A1"/>
                </a:solidFill>
                <a:latin typeface="Aptos"/>
                <a:ea typeface="Aptos"/>
                <a:cs typeface="Aptos"/>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759184" y="6556248"/>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A95A1"/>
                </a:solidFill>
                <a:latin typeface="Aptos"/>
                <a:ea typeface="Aptos"/>
                <a:cs typeface="Aptos"/>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8001000" y="384048"/>
            <a:ext cx="0" cy="5532120"/>
          </a:xfrm>
          <a:prstGeom prst="line">
            <a:avLst/>
          </a:prstGeom>
          <a:noFill/>
          <a:ln w="6350">
            <a:solidFill>
              <a:srgbClr val="183340">
                <a:alpha val="58000"/>
              </a:srgbClr>
            </a:solidFill>
            <a:prstDash val="solid"/>
            <a:headEnd type="none"/>
            <a:tailEnd type="none"/>
          </a:ln>
        </p:spPr>
      </p:sp>
      <p:sp>
        <p:nvSpPr>
          <p:cNvPr id="3" name="Shape 1"/>
          <p:cNvSpPr/>
          <p:nvPr/>
        </p:nvSpPr>
        <p:spPr>
          <a:xfrm>
            <a:off x="8403336" y="384048"/>
            <a:ext cx="0" cy="5532120"/>
          </a:xfrm>
          <a:prstGeom prst="line">
            <a:avLst/>
          </a:prstGeom>
          <a:noFill/>
          <a:ln w="6350">
            <a:solidFill>
              <a:srgbClr val="183340">
                <a:alpha val="58000"/>
              </a:srgbClr>
            </a:solidFill>
            <a:prstDash val="solid"/>
            <a:headEnd type="none"/>
            <a:tailEnd type="none"/>
          </a:ln>
        </p:spPr>
      </p:sp>
      <p:sp>
        <p:nvSpPr>
          <p:cNvPr id="4" name="Shape 2"/>
          <p:cNvSpPr/>
          <p:nvPr/>
        </p:nvSpPr>
        <p:spPr>
          <a:xfrm>
            <a:off x="8805672" y="384048"/>
            <a:ext cx="0" cy="5532120"/>
          </a:xfrm>
          <a:prstGeom prst="line">
            <a:avLst/>
          </a:prstGeom>
          <a:noFill/>
          <a:ln w="6350">
            <a:solidFill>
              <a:srgbClr val="183340">
                <a:alpha val="58000"/>
              </a:srgbClr>
            </a:solidFill>
            <a:prstDash val="solid"/>
            <a:headEnd type="none"/>
            <a:tailEnd type="none"/>
          </a:ln>
        </p:spPr>
      </p:sp>
      <p:sp>
        <p:nvSpPr>
          <p:cNvPr id="5" name="Shape 3"/>
          <p:cNvSpPr/>
          <p:nvPr/>
        </p:nvSpPr>
        <p:spPr>
          <a:xfrm>
            <a:off x="9208008" y="384048"/>
            <a:ext cx="0" cy="5532120"/>
          </a:xfrm>
          <a:prstGeom prst="line">
            <a:avLst/>
          </a:prstGeom>
          <a:noFill/>
          <a:ln w="6350">
            <a:solidFill>
              <a:srgbClr val="183340">
                <a:alpha val="58000"/>
              </a:srgbClr>
            </a:solidFill>
            <a:prstDash val="solid"/>
            <a:headEnd type="none"/>
            <a:tailEnd type="none"/>
          </a:ln>
        </p:spPr>
      </p:sp>
      <p:sp>
        <p:nvSpPr>
          <p:cNvPr id="6" name="Shape 4"/>
          <p:cNvSpPr/>
          <p:nvPr/>
        </p:nvSpPr>
        <p:spPr>
          <a:xfrm>
            <a:off x="9610344" y="384048"/>
            <a:ext cx="0" cy="5532120"/>
          </a:xfrm>
          <a:prstGeom prst="line">
            <a:avLst/>
          </a:prstGeom>
          <a:noFill/>
          <a:ln w="6350">
            <a:solidFill>
              <a:srgbClr val="183340">
                <a:alpha val="58000"/>
              </a:srgbClr>
            </a:solidFill>
            <a:prstDash val="solid"/>
            <a:headEnd type="none"/>
            <a:tailEnd type="none"/>
          </a:ln>
        </p:spPr>
      </p:sp>
      <p:sp>
        <p:nvSpPr>
          <p:cNvPr id="7" name="Shape 5"/>
          <p:cNvSpPr/>
          <p:nvPr/>
        </p:nvSpPr>
        <p:spPr>
          <a:xfrm>
            <a:off x="10012680" y="384048"/>
            <a:ext cx="0" cy="5532120"/>
          </a:xfrm>
          <a:prstGeom prst="line">
            <a:avLst/>
          </a:prstGeom>
          <a:noFill/>
          <a:ln w="6350">
            <a:solidFill>
              <a:srgbClr val="183340">
                <a:alpha val="58000"/>
              </a:srgbClr>
            </a:solidFill>
            <a:prstDash val="solid"/>
            <a:headEnd type="none"/>
            <a:tailEnd type="none"/>
          </a:ln>
        </p:spPr>
      </p:sp>
      <p:sp>
        <p:nvSpPr>
          <p:cNvPr id="8" name="Shape 6"/>
          <p:cNvSpPr/>
          <p:nvPr/>
        </p:nvSpPr>
        <p:spPr>
          <a:xfrm>
            <a:off x="10415016" y="384048"/>
            <a:ext cx="0" cy="5532120"/>
          </a:xfrm>
          <a:prstGeom prst="line">
            <a:avLst/>
          </a:prstGeom>
          <a:noFill/>
          <a:ln w="6350">
            <a:solidFill>
              <a:srgbClr val="183340">
                <a:alpha val="58000"/>
              </a:srgbClr>
            </a:solidFill>
            <a:prstDash val="solid"/>
            <a:headEnd type="none"/>
            <a:tailEnd type="none"/>
          </a:ln>
        </p:spPr>
      </p:sp>
      <p:sp>
        <p:nvSpPr>
          <p:cNvPr id="9" name="Shape 7"/>
          <p:cNvSpPr/>
          <p:nvPr/>
        </p:nvSpPr>
        <p:spPr>
          <a:xfrm>
            <a:off x="10817352" y="384048"/>
            <a:ext cx="0" cy="5532120"/>
          </a:xfrm>
          <a:prstGeom prst="line">
            <a:avLst/>
          </a:prstGeom>
          <a:noFill/>
          <a:ln w="6350">
            <a:solidFill>
              <a:srgbClr val="183340">
                <a:alpha val="58000"/>
              </a:srgbClr>
            </a:solidFill>
            <a:prstDash val="solid"/>
            <a:headEnd type="none"/>
            <a:tailEnd type="none"/>
          </a:ln>
        </p:spPr>
      </p:sp>
      <p:sp>
        <p:nvSpPr>
          <p:cNvPr id="10" name="Shape 8"/>
          <p:cNvSpPr/>
          <p:nvPr/>
        </p:nvSpPr>
        <p:spPr>
          <a:xfrm>
            <a:off x="11219688" y="384048"/>
            <a:ext cx="0" cy="5532120"/>
          </a:xfrm>
          <a:prstGeom prst="line">
            <a:avLst/>
          </a:prstGeom>
          <a:noFill/>
          <a:ln w="6350">
            <a:solidFill>
              <a:srgbClr val="183340">
                <a:alpha val="58000"/>
              </a:srgbClr>
            </a:solidFill>
            <a:prstDash val="solid"/>
            <a:headEnd type="none"/>
            <a:tailEnd type="none"/>
          </a:ln>
        </p:spPr>
      </p:sp>
      <p:sp>
        <p:nvSpPr>
          <p:cNvPr id="11" name="Shape 9"/>
          <p:cNvSpPr/>
          <p:nvPr/>
        </p:nvSpPr>
        <p:spPr>
          <a:xfrm>
            <a:off x="11622024" y="384048"/>
            <a:ext cx="0" cy="5532120"/>
          </a:xfrm>
          <a:prstGeom prst="line">
            <a:avLst/>
          </a:prstGeom>
          <a:noFill/>
          <a:ln w="6350">
            <a:solidFill>
              <a:srgbClr val="183340">
                <a:alpha val="58000"/>
              </a:srgbClr>
            </a:solidFill>
            <a:prstDash val="solid"/>
            <a:headEnd type="none"/>
            <a:tailEnd type="none"/>
          </a:ln>
        </p:spPr>
      </p:sp>
      <p:sp>
        <p:nvSpPr>
          <p:cNvPr id="12" name="Shape 10"/>
          <p:cNvSpPr/>
          <p:nvPr/>
        </p:nvSpPr>
        <p:spPr>
          <a:xfrm>
            <a:off x="8001000" y="384048"/>
            <a:ext cx="3657600" cy="0"/>
          </a:xfrm>
          <a:prstGeom prst="line">
            <a:avLst/>
          </a:prstGeom>
          <a:noFill/>
          <a:ln w="6350">
            <a:solidFill>
              <a:srgbClr val="183340">
                <a:alpha val="58000"/>
              </a:srgbClr>
            </a:solidFill>
            <a:prstDash val="solid"/>
            <a:headEnd type="none"/>
            <a:tailEnd type="none"/>
          </a:ln>
        </p:spPr>
      </p:sp>
      <p:sp>
        <p:nvSpPr>
          <p:cNvPr id="13" name="Shape 11"/>
          <p:cNvSpPr/>
          <p:nvPr/>
        </p:nvSpPr>
        <p:spPr>
          <a:xfrm>
            <a:off x="8001000" y="786384"/>
            <a:ext cx="3657600" cy="0"/>
          </a:xfrm>
          <a:prstGeom prst="line">
            <a:avLst/>
          </a:prstGeom>
          <a:noFill/>
          <a:ln w="6350">
            <a:solidFill>
              <a:srgbClr val="183340">
                <a:alpha val="58000"/>
              </a:srgbClr>
            </a:solidFill>
            <a:prstDash val="solid"/>
            <a:headEnd type="none"/>
            <a:tailEnd type="none"/>
          </a:ln>
        </p:spPr>
      </p:sp>
      <p:sp>
        <p:nvSpPr>
          <p:cNvPr id="14" name="Shape 12"/>
          <p:cNvSpPr/>
          <p:nvPr/>
        </p:nvSpPr>
        <p:spPr>
          <a:xfrm>
            <a:off x="8001000" y="1188720"/>
            <a:ext cx="3657600" cy="0"/>
          </a:xfrm>
          <a:prstGeom prst="line">
            <a:avLst/>
          </a:prstGeom>
          <a:noFill/>
          <a:ln w="6350">
            <a:solidFill>
              <a:srgbClr val="183340">
                <a:alpha val="58000"/>
              </a:srgbClr>
            </a:solidFill>
            <a:prstDash val="solid"/>
            <a:headEnd type="none"/>
            <a:tailEnd type="none"/>
          </a:ln>
        </p:spPr>
      </p:sp>
      <p:sp>
        <p:nvSpPr>
          <p:cNvPr id="15" name="Shape 13"/>
          <p:cNvSpPr/>
          <p:nvPr/>
        </p:nvSpPr>
        <p:spPr>
          <a:xfrm>
            <a:off x="8001000" y="1591056"/>
            <a:ext cx="3657600" cy="0"/>
          </a:xfrm>
          <a:prstGeom prst="line">
            <a:avLst/>
          </a:prstGeom>
          <a:noFill/>
          <a:ln w="6350">
            <a:solidFill>
              <a:srgbClr val="183340">
                <a:alpha val="58000"/>
              </a:srgbClr>
            </a:solidFill>
            <a:prstDash val="solid"/>
            <a:headEnd type="none"/>
            <a:tailEnd type="none"/>
          </a:ln>
        </p:spPr>
      </p:sp>
      <p:sp>
        <p:nvSpPr>
          <p:cNvPr id="16" name="Shape 14"/>
          <p:cNvSpPr/>
          <p:nvPr/>
        </p:nvSpPr>
        <p:spPr>
          <a:xfrm>
            <a:off x="8001000" y="1993392"/>
            <a:ext cx="3657600" cy="0"/>
          </a:xfrm>
          <a:prstGeom prst="line">
            <a:avLst/>
          </a:prstGeom>
          <a:noFill/>
          <a:ln w="6350">
            <a:solidFill>
              <a:srgbClr val="183340">
                <a:alpha val="58000"/>
              </a:srgbClr>
            </a:solidFill>
            <a:prstDash val="solid"/>
            <a:headEnd type="none"/>
            <a:tailEnd type="none"/>
          </a:ln>
        </p:spPr>
      </p:sp>
      <p:sp>
        <p:nvSpPr>
          <p:cNvPr id="17" name="Shape 15"/>
          <p:cNvSpPr/>
          <p:nvPr/>
        </p:nvSpPr>
        <p:spPr>
          <a:xfrm>
            <a:off x="8001000" y="2395728"/>
            <a:ext cx="3657600" cy="0"/>
          </a:xfrm>
          <a:prstGeom prst="line">
            <a:avLst/>
          </a:prstGeom>
          <a:noFill/>
          <a:ln w="6350">
            <a:solidFill>
              <a:srgbClr val="183340">
                <a:alpha val="58000"/>
              </a:srgbClr>
            </a:solidFill>
            <a:prstDash val="solid"/>
            <a:headEnd type="none"/>
            <a:tailEnd type="none"/>
          </a:ln>
        </p:spPr>
      </p:sp>
      <p:sp>
        <p:nvSpPr>
          <p:cNvPr id="18" name="Shape 16"/>
          <p:cNvSpPr/>
          <p:nvPr/>
        </p:nvSpPr>
        <p:spPr>
          <a:xfrm>
            <a:off x="8001000" y="2798064"/>
            <a:ext cx="3657600" cy="0"/>
          </a:xfrm>
          <a:prstGeom prst="line">
            <a:avLst/>
          </a:prstGeom>
          <a:noFill/>
          <a:ln w="6350">
            <a:solidFill>
              <a:srgbClr val="183340">
                <a:alpha val="58000"/>
              </a:srgbClr>
            </a:solidFill>
            <a:prstDash val="solid"/>
            <a:headEnd type="none"/>
            <a:tailEnd type="none"/>
          </a:ln>
        </p:spPr>
      </p:sp>
      <p:sp>
        <p:nvSpPr>
          <p:cNvPr id="19" name="Shape 17"/>
          <p:cNvSpPr/>
          <p:nvPr/>
        </p:nvSpPr>
        <p:spPr>
          <a:xfrm>
            <a:off x="8001000" y="3200400"/>
            <a:ext cx="3657600" cy="0"/>
          </a:xfrm>
          <a:prstGeom prst="line">
            <a:avLst/>
          </a:prstGeom>
          <a:noFill/>
          <a:ln w="6350">
            <a:solidFill>
              <a:srgbClr val="183340">
                <a:alpha val="58000"/>
              </a:srgbClr>
            </a:solidFill>
            <a:prstDash val="solid"/>
            <a:headEnd type="none"/>
            <a:tailEnd type="none"/>
          </a:ln>
        </p:spPr>
      </p:sp>
      <p:sp>
        <p:nvSpPr>
          <p:cNvPr id="20" name="Shape 18"/>
          <p:cNvSpPr/>
          <p:nvPr/>
        </p:nvSpPr>
        <p:spPr>
          <a:xfrm>
            <a:off x="8001000" y="3602736"/>
            <a:ext cx="3657600" cy="0"/>
          </a:xfrm>
          <a:prstGeom prst="line">
            <a:avLst/>
          </a:prstGeom>
          <a:noFill/>
          <a:ln w="6350">
            <a:solidFill>
              <a:srgbClr val="183340">
                <a:alpha val="58000"/>
              </a:srgbClr>
            </a:solidFill>
            <a:prstDash val="solid"/>
            <a:headEnd type="none"/>
            <a:tailEnd type="none"/>
          </a:ln>
        </p:spPr>
      </p:sp>
      <p:sp>
        <p:nvSpPr>
          <p:cNvPr id="21" name="Shape 19"/>
          <p:cNvSpPr/>
          <p:nvPr/>
        </p:nvSpPr>
        <p:spPr>
          <a:xfrm>
            <a:off x="8001000" y="4005072"/>
            <a:ext cx="3657600" cy="0"/>
          </a:xfrm>
          <a:prstGeom prst="line">
            <a:avLst/>
          </a:prstGeom>
          <a:noFill/>
          <a:ln w="6350">
            <a:solidFill>
              <a:srgbClr val="183340">
                <a:alpha val="58000"/>
              </a:srgbClr>
            </a:solidFill>
            <a:prstDash val="solid"/>
            <a:headEnd type="none"/>
            <a:tailEnd type="none"/>
          </a:ln>
        </p:spPr>
      </p:sp>
      <p:sp>
        <p:nvSpPr>
          <p:cNvPr id="22" name="Shape 20"/>
          <p:cNvSpPr/>
          <p:nvPr/>
        </p:nvSpPr>
        <p:spPr>
          <a:xfrm>
            <a:off x="8001000" y="4407408"/>
            <a:ext cx="3657600" cy="0"/>
          </a:xfrm>
          <a:prstGeom prst="line">
            <a:avLst/>
          </a:prstGeom>
          <a:noFill/>
          <a:ln w="6350">
            <a:solidFill>
              <a:srgbClr val="183340">
                <a:alpha val="58000"/>
              </a:srgbClr>
            </a:solidFill>
            <a:prstDash val="solid"/>
            <a:headEnd type="none"/>
            <a:tailEnd type="none"/>
          </a:ln>
        </p:spPr>
      </p:sp>
      <p:sp>
        <p:nvSpPr>
          <p:cNvPr id="23" name="Shape 21"/>
          <p:cNvSpPr/>
          <p:nvPr/>
        </p:nvSpPr>
        <p:spPr>
          <a:xfrm>
            <a:off x="8001000" y="4809744"/>
            <a:ext cx="3657600" cy="0"/>
          </a:xfrm>
          <a:prstGeom prst="line">
            <a:avLst/>
          </a:prstGeom>
          <a:noFill/>
          <a:ln w="6350">
            <a:solidFill>
              <a:srgbClr val="183340">
                <a:alpha val="58000"/>
              </a:srgbClr>
            </a:solidFill>
            <a:prstDash val="solid"/>
            <a:headEnd type="none"/>
            <a:tailEnd type="none"/>
          </a:ln>
        </p:spPr>
      </p:sp>
      <p:sp>
        <p:nvSpPr>
          <p:cNvPr id="24" name="Shape 22"/>
          <p:cNvSpPr/>
          <p:nvPr/>
        </p:nvSpPr>
        <p:spPr>
          <a:xfrm>
            <a:off x="8001000" y="5212080"/>
            <a:ext cx="3657600" cy="0"/>
          </a:xfrm>
          <a:prstGeom prst="line">
            <a:avLst/>
          </a:prstGeom>
          <a:noFill/>
          <a:ln w="6350">
            <a:solidFill>
              <a:srgbClr val="183340">
                <a:alpha val="58000"/>
              </a:srgbClr>
            </a:solidFill>
            <a:prstDash val="solid"/>
            <a:headEnd type="none"/>
            <a:tailEnd type="none"/>
          </a:ln>
        </p:spPr>
      </p:sp>
      <p:sp>
        <p:nvSpPr>
          <p:cNvPr id="25" name="Shape 23"/>
          <p:cNvSpPr/>
          <p:nvPr/>
        </p:nvSpPr>
        <p:spPr>
          <a:xfrm>
            <a:off x="8001000" y="5614416"/>
            <a:ext cx="3657600" cy="0"/>
          </a:xfrm>
          <a:prstGeom prst="line">
            <a:avLst/>
          </a:prstGeom>
          <a:noFill/>
          <a:ln w="6350">
            <a:solidFill>
              <a:srgbClr val="183340">
                <a:alpha val="58000"/>
              </a:srgbClr>
            </a:solidFill>
            <a:prstDash val="solid"/>
            <a:headEnd type="none"/>
            <a:tailEnd type="none"/>
          </a:ln>
        </p:spPr>
      </p:sp>
      <p:sp>
        <p:nvSpPr>
          <p:cNvPr id="26" name="Shape 24"/>
          <p:cNvSpPr/>
          <p:nvPr/>
        </p:nvSpPr>
        <p:spPr>
          <a:xfrm>
            <a:off x="8915400" y="822960"/>
            <a:ext cx="2651760" cy="2651760"/>
          </a:xfrm>
          <a:prstGeom prst="ellipse">
            <a:avLst/>
          </a:prstGeom>
          <a:solidFill>
            <a:srgbClr val="1479FF">
              <a:alpha val="14000"/>
            </a:srgbClr>
          </a:solidFill>
          <a:ln w="12700">
            <a:solidFill>
              <a:srgbClr val="1479FF">
                <a:alpha val="0"/>
              </a:srgbClr>
            </a:solidFill>
            <a:prstDash val="solid"/>
          </a:ln>
        </p:spPr>
      </p:sp>
      <p:sp>
        <p:nvSpPr>
          <p:cNvPr id="27" name="Shape 25"/>
          <p:cNvSpPr/>
          <p:nvPr/>
        </p:nvSpPr>
        <p:spPr>
          <a:xfrm>
            <a:off x="9464040" y="3383280"/>
            <a:ext cx="1645920" cy="1645920"/>
          </a:xfrm>
          <a:prstGeom prst="ellipse">
            <a:avLst/>
          </a:prstGeom>
          <a:solidFill>
            <a:srgbClr val="41D9FF">
              <a:alpha val="14000"/>
            </a:srgbClr>
          </a:solidFill>
          <a:ln w="12700">
            <a:solidFill>
              <a:srgbClr val="41D9FF">
                <a:alpha val="0"/>
              </a:srgbClr>
            </a:solidFill>
            <a:prstDash val="solid"/>
          </a:ln>
        </p:spPr>
      </p:sp>
      <p:sp>
        <p:nvSpPr>
          <p:cNvPr id="28" name="Shape 26"/>
          <p:cNvSpPr/>
          <p:nvPr/>
        </p:nvSpPr>
        <p:spPr>
          <a:xfrm>
            <a:off x="8412480" y="1463040"/>
            <a:ext cx="2651760" cy="2651760"/>
          </a:xfrm>
          <a:prstGeom prst="ellipse">
            <a:avLst/>
          </a:prstGeom>
          <a:solidFill>
            <a:srgbClr val="0B3651"/>
          </a:solidFill>
          <a:ln w="25400">
            <a:solidFill>
              <a:srgbClr val="1479FF">
                <a:alpha val="80000"/>
              </a:srgbClr>
            </a:solidFill>
            <a:prstDash val="solid"/>
          </a:ln>
        </p:spPr>
      </p:sp>
      <p:sp>
        <p:nvSpPr>
          <p:cNvPr id="29" name="Shape 27"/>
          <p:cNvSpPr/>
          <p:nvPr/>
        </p:nvSpPr>
        <p:spPr>
          <a:xfrm>
            <a:off x="8783726" y="1860804"/>
            <a:ext cx="1909267" cy="1856232"/>
          </a:xfrm>
          <a:prstGeom prst="ellipse">
            <a:avLst/>
          </a:prstGeom>
          <a:solidFill>
            <a:srgbClr val="114C70">
              <a:alpha val="58000"/>
            </a:srgbClr>
          </a:solidFill>
          <a:ln w="10160">
            <a:solidFill>
              <a:srgbClr val="41D9FF">
                <a:alpha val="35000"/>
              </a:srgbClr>
            </a:solidFill>
            <a:prstDash val="solid"/>
          </a:ln>
        </p:spPr>
      </p:sp>
      <p:sp>
        <p:nvSpPr>
          <p:cNvPr id="30" name="Shape 28"/>
          <p:cNvSpPr/>
          <p:nvPr/>
        </p:nvSpPr>
        <p:spPr>
          <a:xfrm>
            <a:off x="8540496" y="2276856"/>
            <a:ext cx="2395728" cy="0"/>
          </a:xfrm>
          <a:prstGeom prst="line">
            <a:avLst/>
          </a:prstGeom>
          <a:noFill/>
          <a:ln w="8890">
            <a:solidFill>
              <a:srgbClr val="2B5972">
                <a:alpha val="35000"/>
              </a:srgbClr>
            </a:solidFill>
            <a:prstDash val="solid"/>
            <a:headEnd type="none"/>
            <a:tailEnd type="none"/>
          </a:ln>
        </p:spPr>
      </p:sp>
      <p:sp>
        <p:nvSpPr>
          <p:cNvPr id="31" name="Shape 29"/>
          <p:cNvSpPr/>
          <p:nvPr/>
        </p:nvSpPr>
        <p:spPr>
          <a:xfrm>
            <a:off x="8540496" y="2532888"/>
            <a:ext cx="2395728" cy="0"/>
          </a:xfrm>
          <a:prstGeom prst="line">
            <a:avLst/>
          </a:prstGeom>
          <a:noFill/>
          <a:ln w="8890">
            <a:solidFill>
              <a:srgbClr val="2B5972">
                <a:alpha val="35000"/>
              </a:srgbClr>
            </a:solidFill>
            <a:prstDash val="solid"/>
            <a:headEnd type="none"/>
            <a:tailEnd type="none"/>
          </a:ln>
        </p:spPr>
      </p:sp>
      <p:sp>
        <p:nvSpPr>
          <p:cNvPr id="32" name="Shape 30"/>
          <p:cNvSpPr/>
          <p:nvPr/>
        </p:nvSpPr>
        <p:spPr>
          <a:xfrm>
            <a:off x="8540496" y="2788920"/>
            <a:ext cx="2395728" cy="0"/>
          </a:xfrm>
          <a:prstGeom prst="line">
            <a:avLst/>
          </a:prstGeom>
          <a:noFill/>
          <a:ln w="8890">
            <a:solidFill>
              <a:srgbClr val="2B5972">
                <a:alpha val="35000"/>
              </a:srgbClr>
            </a:solidFill>
            <a:prstDash val="solid"/>
            <a:headEnd type="none"/>
            <a:tailEnd type="none"/>
          </a:ln>
        </p:spPr>
      </p:sp>
      <p:sp>
        <p:nvSpPr>
          <p:cNvPr id="33" name="Shape 31"/>
          <p:cNvSpPr/>
          <p:nvPr/>
        </p:nvSpPr>
        <p:spPr>
          <a:xfrm>
            <a:off x="8540496" y="3044952"/>
            <a:ext cx="2395728" cy="0"/>
          </a:xfrm>
          <a:prstGeom prst="line">
            <a:avLst/>
          </a:prstGeom>
          <a:noFill/>
          <a:ln w="8890">
            <a:solidFill>
              <a:srgbClr val="2B5972">
                <a:alpha val="35000"/>
              </a:srgbClr>
            </a:solidFill>
            <a:prstDash val="solid"/>
            <a:headEnd type="none"/>
            <a:tailEnd type="none"/>
          </a:ln>
        </p:spPr>
      </p:sp>
      <p:sp>
        <p:nvSpPr>
          <p:cNvPr id="34" name="Shape 32"/>
          <p:cNvSpPr/>
          <p:nvPr/>
        </p:nvSpPr>
        <p:spPr>
          <a:xfrm>
            <a:off x="8540496" y="3300984"/>
            <a:ext cx="2395728" cy="0"/>
          </a:xfrm>
          <a:prstGeom prst="line">
            <a:avLst/>
          </a:prstGeom>
          <a:noFill/>
          <a:ln w="8890">
            <a:solidFill>
              <a:srgbClr val="2B5972">
                <a:alpha val="35000"/>
              </a:srgbClr>
            </a:solidFill>
            <a:prstDash val="solid"/>
            <a:headEnd type="none"/>
            <a:tailEnd type="none"/>
          </a:ln>
        </p:spPr>
      </p:sp>
      <p:sp>
        <p:nvSpPr>
          <p:cNvPr id="35" name="Shape 33"/>
          <p:cNvSpPr/>
          <p:nvPr/>
        </p:nvSpPr>
        <p:spPr>
          <a:xfrm>
            <a:off x="9738360" y="1572768"/>
            <a:ext cx="0" cy="2432304"/>
          </a:xfrm>
          <a:prstGeom prst="line">
            <a:avLst/>
          </a:prstGeom>
          <a:noFill/>
          <a:ln w="8890">
            <a:solidFill>
              <a:srgbClr val="2B5972">
                <a:alpha val="35000"/>
              </a:srgbClr>
            </a:solidFill>
            <a:prstDash val="solid"/>
            <a:headEnd type="none"/>
            <a:tailEnd type="none"/>
          </a:ln>
        </p:spPr>
      </p:sp>
      <p:sp>
        <p:nvSpPr>
          <p:cNvPr id="36" name="Shape 34"/>
          <p:cNvSpPr/>
          <p:nvPr/>
        </p:nvSpPr>
        <p:spPr>
          <a:xfrm>
            <a:off x="9101938" y="2338121"/>
            <a:ext cx="347472" cy="164592"/>
          </a:xfrm>
          <a:prstGeom prst="arc">
            <a:avLst/>
          </a:prstGeom>
          <a:solidFill>
            <a:srgbClr val="67E0A3">
              <a:alpha val="90000"/>
            </a:srgbClr>
          </a:solidFill>
          <a:ln w="12700">
            <a:solidFill>
              <a:srgbClr val="67E0A3">
                <a:alpha val="0"/>
              </a:srgbClr>
            </a:solidFill>
            <a:prstDash val="solid"/>
          </a:ln>
        </p:spPr>
      </p:sp>
      <p:sp>
        <p:nvSpPr>
          <p:cNvPr id="37" name="Shape 35"/>
          <p:cNvSpPr/>
          <p:nvPr/>
        </p:nvSpPr>
        <p:spPr>
          <a:xfrm>
            <a:off x="9446666" y="2722626"/>
            <a:ext cx="219456" cy="164592"/>
          </a:xfrm>
          <a:prstGeom prst="arc">
            <a:avLst/>
          </a:prstGeom>
          <a:solidFill>
            <a:srgbClr val="67E0A3">
              <a:alpha val="90000"/>
            </a:srgbClr>
          </a:solidFill>
          <a:ln w="12700">
            <a:solidFill>
              <a:srgbClr val="67E0A3">
                <a:alpha val="0"/>
              </a:srgbClr>
            </a:solidFill>
            <a:prstDash val="solid"/>
          </a:ln>
        </p:spPr>
      </p:sp>
      <p:sp>
        <p:nvSpPr>
          <p:cNvPr id="38" name="Shape 36"/>
          <p:cNvSpPr/>
          <p:nvPr/>
        </p:nvSpPr>
        <p:spPr>
          <a:xfrm>
            <a:off x="9937242" y="2311603"/>
            <a:ext cx="457200" cy="201168"/>
          </a:xfrm>
          <a:prstGeom prst="arc">
            <a:avLst/>
          </a:prstGeom>
          <a:solidFill>
            <a:srgbClr val="67E0A3">
              <a:alpha val="90000"/>
            </a:srgbClr>
          </a:solidFill>
          <a:ln w="12700">
            <a:solidFill>
              <a:srgbClr val="67E0A3">
                <a:alpha val="0"/>
              </a:srgbClr>
            </a:solidFill>
            <a:prstDash val="solid"/>
          </a:ln>
        </p:spPr>
      </p:sp>
      <p:sp>
        <p:nvSpPr>
          <p:cNvPr id="39" name="Shape 37"/>
          <p:cNvSpPr/>
          <p:nvPr/>
        </p:nvSpPr>
        <p:spPr>
          <a:xfrm>
            <a:off x="10136124" y="2855214"/>
            <a:ext cx="228600" cy="219456"/>
          </a:xfrm>
          <a:prstGeom prst="arc">
            <a:avLst/>
          </a:prstGeom>
          <a:solidFill>
            <a:srgbClr val="67E0A3">
              <a:alpha val="90000"/>
            </a:srgbClr>
          </a:solidFill>
          <a:ln w="12700">
            <a:solidFill>
              <a:srgbClr val="67E0A3">
                <a:alpha val="0"/>
              </a:srgbClr>
            </a:solidFill>
            <a:prstDash val="solid"/>
          </a:ln>
        </p:spPr>
      </p:sp>
      <p:sp>
        <p:nvSpPr>
          <p:cNvPr id="40" name="Shape 38"/>
          <p:cNvSpPr/>
          <p:nvPr/>
        </p:nvSpPr>
        <p:spPr>
          <a:xfrm>
            <a:off x="9579254" y="3080614"/>
            <a:ext cx="320040" cy="173736"/>
          </a:xfrm>
          <a:prstGeom prst="arc">
            <a:avLst/>
          </a:prstGeom>
          <a:solidFill>
            <a:srgbClr val="67E0A3">
              <a:alpha val="90000"/>
            </a:srgbClr>
          </a:solidFill>
          <a:ln w="12700">
            <a:solidFill>
              <a:srgbClr val="67E0A3">
                <a:alpha val="0"/>
              </a:srgbClr>
            </a:solidFill>
            <a:prstDash val="solid"/>
          </a:ln>
        </p:spPr>
      </p:sp>
      <p:sp>
        <p:nvSpPr>
          <p:cNvPr id="41" name="Shape 39"/>
          <p:cNvSpPr/>
          <p:nvPr/>
        </p:nvSpPr>
        <p:spPr>
          <a:xfrm>
            <a:off x="8942832" y="2656332"/>
            <a:ext cx="265176" cy="265176"/>
          </a:xfrm>
          <a:prstGeom prst="ellipse">
            <a:avLst/>
          </a:prstGeom>
          <a:solidFill>
            <a:srgbClr val="F2E84A"/>
          </a:solidFill>
          <a:ln w="12700">
            <a:solidFill>
              <a:srgbClr val="F2E84A">
                <a:alpha val="0"/>
              </a:srgbClr>
            </a:solidFill>
            <a:prstDash val="solid"/>
          </a:ln>
        </p:spPr>
      </p:sp>
      <p:sp>
        <p:nvSpPr>
          <p:cNvPr id="42" name="Text 40"/>
          <p:cNvSpPr/>
          <p:nvPr/>
        </p:nvSpPr>
        <p:spPr>
          <a:xfrm>
            <a:off x="566928" y="512064"/>
            <a:ext cx="4846320" cy="228600"/>
          </a:xfrm>
          <a:prstGeom prst="rect">
            <a:avLst/>
          </a:prstGeom>
          <a:noFill/>
          <a:ln/>
        </p:spPr>
        <p:txBody>
          <a:bodyPr wrap="square" lIns="0" tIns="0" rIns="0" bIns="0" rtlCol="0" anchor="ctr">
            <a:normAutofit/>
          </a:bodyPr>
          <a:lstStyle/>
          <a:p>
            <a:pPr algn="l" indent="0" marL="0">
              <a:buNone/>
            </a:pPr>
            <a:r>
              <a:rPr lang="en-US" sz="950" b="1" spc="160" kern="0" dirty="0">
                <a:solidFill>
                  <a:srgbClr val="41D9FF"/>
                </a:solidFill>
                <a:latin typeface="Aptos" pitchFamily="34" charset="0"/>
                <a:ea typeface="Aptos" pitchFamily="34" charset="-122"/>
                <a:cs typeface="Aptos" pitchFamily="34" charset="-120"/>
              </a:rPr>
              <a:t>EARTH SYSTEM / TREND INTELLIGENCE</a:t>
            </a:r>
            <a:endParaRPr lang="en-US" sz="950" dirty="0"/>
          </a:p>
        </p:txBody>
      </p:sp>
      <p:sp>
        <p:nvSpPr>
          <p:cNvPr id="43" name="Text 41"/>
          <p:cNvSpPr/>
          <p:nvPr/>
        </p:nvSpPr>
        <p:spPr>
          <a:xfrm>
            <a:off x="530352" y="1216152"/>
            <a:ext cx="7132320" cy="1417320"/>
          </a:xfrm>
          <a:prstGeom prst="rect">
            <a:avLst/>
          </a:prstGeom>
          <a:noFill/>
          <a:ln/>
        </p:spPr>
        <p:txBody>
          <a:bodyPr wrap="square" lIns="0" tIns="0" rIns="0" bIns="0" rtlCol="0" anchor="ctr">
            <a:normAutofit/>
          </a:bodyPr>
          <a:lstStyle/>
          <a:p>
            <a:pPr algn="l" indent="0" marL="0">
              <a:buNone/>
            </a:pPr>
            <a:r>
              <a:rPr lang="en-US" sz="3100" b="1" dirty="0">
                <a:solidFill>
                  <a:srgbClr val="F4F8FA"/>
                </a:solidFill>
                <a:latin typeface="Aptos Display" pitchFamily="34" charset="0"/>
                <a:ea typeface="Aptos Display" pitchFamily="34" charset="-122"/>
                <a:cs typeface="Aptos Display" pitchFamily="34" charset="-120"/>
              </a:rPr>
              <a:t>EarthTrend</a:t>
            </a:r>
            <a:endParaRPr lang="en-US" sz="3100" dirty="0"/>
          </a:p>
          <a:p>
            <a:pPr algn="l" indent="0" marL="0">
              <a:buNone/>
            </a:pPr>
            <a:r>
              <a:rPr lang="en-US" sz="3100" b="1" dirty="0">
                <a:solidFill>
                  <a:srgbClr val="F4F8FA"/>
                </a:solidFill>
                <a:latin typeface="Aptos Display" pitchFamily="34" charset="0"/>
                <a:ea typeface="Aptos Display" pitchFamily="34" charset="-122"/>
                <a:cs typeface="Aptos Display" pitchFamily="34" charset="-120"/>
              </a:rPr>
              <a:t>Detective Pro</a:t>
            </a:r>
            <a:endParaRPr lang="en-US" sz="3100" dirty="0"/>
          </a:p>
        </p:txBody>
      </p:sp>
      <p:sp>
        <p:nvSpPr>
          <p:cNvPr id="44" name="Text 42"/>
          <p:cNvSpPr/>
          <p:nvPr/>
        </p:nvSpPr>
        <p:spPr>
          <a:xfrm>
            <a:off x="566928" y="2788920"/>
            <a:ext cx="6126480" cy="475488"/>
          </a:xfrm>
          <a:prstGeom prst="rect">
            <a:avLst/>
          </a:prstGeom>
          <a:noFill/>
          <a:ln/>
        </p:spPr>
        <p:txBody>
          <a:bodyPr wrap="square" lIns="0" tIns="0" rIns="0" bIns="0" rtlCol="0" anchor="ctr">
            <a:normAutofit/>
          </a:bodyPr>
          <a:lstStyle/>
          <a:p>
            <a:pPr algn="l" indent="0" marL="0">
              <a:buNone/>
            </a:pPr>
            <a:r>
              <a:rPr lang="en-US" sz="1500" dirty="0">
                <a:solidFill>
                  <a:srgbClr val="A7BBC5"/>
                </a:solidFill>
                <a:latin typeface="Aptos" pitchFamily="34" charset="0"/>
                <a:ea typeface="Aptos" pitchFamily="34" charset="-122"/>
                <a:cs typeface="Aptos" pitchFamily="34" charset="-120"/>
              </a:rPr>
              <a:t>Evidence-first investigation of Earth-system change</a:t>
            </a:r>
            <a:endParaRPr lang="en-US" sz="1500" dirty="0"/>
          </a:p>
        </p:txBody>
      </p:sp>
      <p:sp>
        <p:nvSpPr>
          <p:cNvPr id="45" name="Shape 43"/>
          <p:cNvSpPr/>
          <p:nvPr/>
        </p:nvSpPr>
        <p:spPr>
          <a:xfrm>
            <a:off x="566928" y="3685032"/>
            <a:ext cx="2331720" cy="265176"/>
          </a:xfrm>
          <a:prstGeom prst="roundRect">
            <a:avLst>
              <a:gd name="adj" fmla="val 31034"/>
            </a:avLst>
          </a:prstGeom>
          <a:solidFill>
            <a:srgbClr val="1479FF"/>
          </a:solidFill>
          <a:ln w="12700">
            <a:solidFill>
              <a:srgbClr val="1479FF">
                <a:alpha val="0"/>
              </a:srgbClr>
            </a:solidFill>
            <a:prstDash val="solid"/>
          </a:ln>
        </p:spPr>
      </p:sp>
      <p:sp>
        <p:nvSpPr>
          <p:cNvPr id="46" name="Text 44"/>
          <p:cNvSpPr/>
          <p:nvPr/>
        </p:nvSpPr>
        <p:spPr>
          <a:xfrm>
            <a:off x="658368" y="3694176"/>
            <a:ext cx="2148840" cy="228600"/>
          </a:xfrm>
          <a:prstGeom prst="rect">
            <a:avLst/>
          </a:prstGeom>
          <a:noFill/>
          <a:ln/>
        </p:spPr>
        <p:txBody>
          <a:bodyPr wrap="square" lIns="0" tIns="0" rIns="0" bIns="0" rtlCol="0" anchor="ctr">
            <a:normAutofit/>
          </a:bodyPr>
          <a:lstStyle/>
          <a:p>
            <a:pPr algn="ctr" indent="0" marL="0">
              <a:buNone/>
            </a:pPr>
            <a:r>
              <a:rPr lang="en-US" sz="850" b="1" spc="40" kern="0" dirty="0">
                <a:solidFill>
                  <a:srgbClr val="F4F8FA"/>
                </a:solidFill>
                <a:latin typeface="Aptos" pitchFamily="34" charset="0"/>
                <a:ea typeface="Aptos" pitchFamily="34" charset="-122"/>
                <a:cs typeface="Aptos" pitchFamily="34" charset="-120"/>
              </a:rPr>
              <a:t>NASA SPACE APPS CHALLENGE 2026</a:t>
            </a:r>
            <a:endParaRPr lang="en-US" sz="850" dirty="0"/>
          </a:p>
        </p:txBody>
      </p:sp>
      <p:sp>
        <p:nvSpPr>
          <p:cNvPr id="47" name="Shape 45"/>
          <p:cNvSpPr/>
          <p:nvPr/>
        </p:nvSpPr>
        <p:spPr>
          <a:xfrm>
            <a:off x="3054096" y="3685032"/>
            <a:ext cx="1417320" cy="265176"/>
          </a:xfrm>
          <a:prstGeom prst="roundRect">
            <a:avLst>
              <a:gd name="adj" fmla="val 31034"/>
            </a:avLst>
          </a:prstGeom>
          <a:solidFill>
            <a:srgbClr val="102938"/>
          </a:solidFill>
          <a:ln w="12700">
            <a:solidFill>
              <a:srgbClr val="102938">
                <a:alpha val="0"/>
              </a:srgbClr>
            </a:solidFill>
            <a:prstDash val="solid"/>
          </a:ln>
        </p:spPr>
      </p:sp>
      <p:sp>
        <p:nvSpPr>
          <p:cNvPr id="48" name="Text 46"/>
          <p:cNvSpPr/>
          <p:nvPr/>
        </p:nvSpPr>
        <p:spPr>
          <a:xfrm>
            <a:off x="3145536" y="3694176"/>
            <a:ext cx="1234440" cy="228600"/>
          </a:xfrm>
          <a:prstGeom prst="rect">
            <a:avLst/>
          </a:prstGeom>
          <a:noFill/>
          <a:ln/>
        </p:spPr>
        <p:txBody>
          <a:bodyPr wrap="square" lIns="0" tIns="0" rIns="0" bIns="0" rtlCol="0" anchor="ctr">
            <a:normAutofit/>
          </a:bodyPr>
          <a:lstStyle/>
          <a:p>
            <a:pPr algn="ctr" indent="0" marL="0">
              <a:buNone/>
            </a:pPr>
            <a:r>
              <a:rPr lang="en-US" sz="850" b="1" spc="40" kern="0" dirty="0">
                <a:solidFill>
                  <a:srgbClr val="41D9FF"/>
                </a:solidFill>
                <a:latin typeface="Aptos" pitchFamily="34" charset="0"/>
                <a:ea typeface="Aptos" pitchFamily="34" charset="-122"/>
                <a:cs typeface="Aptos" pitchFamily="34" charset="-120"/>
              </a:rPr>
              <a:t>TEAM DECODER</a:t>
            </a:r>
            <a:endParaRPr lang="en-US" sz="850" dirty="0"/>
          </a:p>
        </p:txBody>
      </p:sp>
      <p:sp>
        <p:nvSpPr>
          <p:cNvPr id="49" name="Text 47"/>
          <p:cNvSpPr/>
          <p:nvPr/>
        </p:nvSpPr>
        <p:spPr>
          <a:xfrm>
            <a:off x="566928" y="4251960"/>
            <a:ext cx="6492240" cy="502920"/>
          </a:xfrm>
          <a:prstGeom prst="rect">
            <a:avLst/>
          </a:prstGeom>
          <a:noFill/>
          <a:ln/>
        </p:spPr>
        <p:txBody>
          <a:bodyPr wrap="square" lIns="0" tIns="0" rIns="0" bIns="0" rtlCol="0" anchor="ctr">
            <a:normAutofit/>
          </a:bodyPr>
          <a:lstStyle/>
          <a:p>
            <a:pPr algn="l" indent="0" marL="0">
              <a:buNone/>
            </a:pPr>
            <a:r>
              <a:rPr lang="en-US" sz="1200" b="1" dirty="0">
                <a:solidFill>
                  <a:srgbClr val="F4F8FA"/>
                </a:solidFill>
                <a:latin typeface="Aptos" pitchFamily="34" charset="0"/>
                <a:ea typeface="Aptos" pitchFamily="34" charset="-122"/>
                <a:cs typeface="Aptos" pitchFamily="34" charset="-120"/>
              </a:rPr>
              <a:t>From raw NASA measurements → a traceable, defensible finding.</a:t>
            </a:r>
            <a:endParaRPr lang="en-US" sz="1200" dirty="0"/>
          </a:p>
        </p:txBody>
      </p:sp>
      <p:sp>
        <p:nvSpPr>
          <p:cNvPr id="50" name="Text 48"/>
          <p:cNvSpPr/>
          <p:nvPr/>
        </p:nvSpPr>
        <p:spPr>
          <a:xfrm>
            <a:off x="585216" y="5230368"/>
            <a:ext cx="868680" cy="228600"/>
          </a:xfrm>
          <a:prstGeom prst="rect">
            <a:avLst/>
          </a:prstGeom>
          <a:noFill/>
          <a:ln/>
        </p:spPr>
        <p:txBody>
          <a:bodyPr wrap="square" lIns="0" tIns="0" rIns="0" bIns="0" rtlCol="0" anchor="ctr">
            <a:normAutofit/>
          </a:bodyPr>
          <a:lstStyle/>
          <a:p>
            <a:pPr algn="ctr" indent="0" marL="0">
              <a:buNone/>
            </a:pPr>
            <a:r>
              <a:rPr lang="en-US" sz="750" b="1" spc="45" kern="0" dirty="0">
                <a:solidFill>
                  <a:srgbClr val="A7BBC5"/>
                </a:solidFill>
                <a:latin typeface="Aptos" pitchFamily="34" charset="0"/>
                <a:ea typeface="Aptos" pitchFamily="34" charset="-122"/>
                <a:cs typeface="Aptos" pitchFamily="34" charset="-120"/>
              </a:rPr>
              <a:t>SOURCE</a:t>
            </a:r>
            <a:endParaRPr lang="en-US" sz="750" dirty="0"/>
          </a:p>
        </p:txBody>
      </p:sp>
      <p:sp>
        <p:nvSpPr>
          <p:cNvPr id="51" name="Shape 49"/>
          <p:cNvSpPr/>
          <p:nvPr/>
        </p:nvSpPr>
        <p:spPr>
          <a:xfrm>
            <a:off x="1444752" y="5340096"/>
            <a:ext cx="109728" cy="0"/>
          </a:xfrm>
          <a:prstGeom prst="line">
            <a:avLst/>
          </a:prstGeom>
          <a:noFill/>
          <a:ln w="15240">
            <a:solidFill>
              <a:srgbClr val="1479FF"/>
            </a:solidFill>
            <a:prstDash val="solid"/>
            <a:headEnd type="none"/>
            <a:tailEnd type="none"/>
          </a:ln>
        </p:spPr>
      </p:sp>
      <p:sp>
        <p:nvSpPr>
          <p:cNvPr id="52" name="Text 50"/>
          <p:cNvSpPr/>
          <p:nvPr/>
        </p:nvSpPr>
        <p:spPr>
          <a:xfrm>
            <a:off x="1572768" y="5230368"/>
            <a:ext cx="868680" cy="228600"/>
          </a:xfrm>
          <a:prstGeom prst="rect">
            <a:avLst/>
          </a:prstGeom>
          <a:noFill/>
          <a:ln/>
        </p:spPr>
        <p:txBody>
          <a:bodyPr wrap="square" lIns="0" tIns="0" rIns="0" bIns="0" rtlCol="0" anchor="ctr">
            <a:normAutofit/>
          </a:bodyPr>
          <a:lstStyle/>
          <a:p>
            <a:pPr algn="ctr" indent="0" marL="0">
              <a:buNone/>
            </a:pPr>
            <a:r>
              <a:rPr lang="en-US" sz="750" b="1" spc="45" kern="0" dirty="0">
                <a:solidFill>
                  <a:srgbClr val="A7BBC5"/>
                </a:solidFill>
                <a:latin typeface="Aptos" pitchFamily="34" charset="0"/>
                <a:ea typeface="Aptos" pitchFamily="34" charset="-122"/>
                <a:cs typeface="Aptos" pitchFamily="34" charset="-120"/>
              </a:rPr>
              <a:t>GATE</a:t>
            </a:r>
            <a:endParaRPr lang="en-US" sz="750" dirty="0"/>
          </a:p>
        </p:txBody>
      </p:sp>
      <p:sp>
        <p:nvSpPr>
          <p:cNvPr id="53" name="Shape 51"/>
          <p:cNvSpPr/>
          <p:nvPr/>
        </p:nvSpPr>
        <p:spPr>
          <a:xfrm>
            <a:off x="2432304" y="5340096"/>
            <a:ext cx="109728" cy="0"/>
          </a:xfrm>
          <a:prstGeom prst="line">
            <a:avLst/>
          </a:prstGeom>
          <a:noFill/>
          <a:ln w="15240">
            <a:solidFill>
              <a:srgbClr val="1479FF"/>
            </a:solidFill>
            <a:prstDash val="solid"/>
            <a:headEnd type="none"/>
            <a:tailEnd type="none"/>
          </a:ln>
        </p:spPr>
      </p:sp>
      <p:sp>
        <p:nvSpPr>
          <p:cNvPr id="54" name="Text 52"/>
          <p:cNvSpPr/>
          <p:nvPr/>
        </p:nvSpPr>
        <p:spPr>
          <a:xfrm>
            <a:off x="2560320" y="5230368"/>
            <a:ext cx="868680" cy="228600"/>
          </a:xfrm>
          <a:prstGeom prst="rect">
            <a:avLst/>
          </a:prstGeom>
          <a:noFill/>
          <a:ln/>
        </p:spPr>
        <p:txBody>
          <a:bodyPr wrap="square" lIns="0" tIns="0" rIns="0" bIns="0" rtlCol="0" anchor="ctr">
            <a:normAutofit/>
          </a:bodyPr>
          <a:lstStyle/>
          <a:p>
            <a:pPr algn="ctr" indent="0" marL="0">
              <a:buNone/>
            </a:pPr>
            <a:r>
              <a:rPr lang="en-US" sz="750" b="1" spc="45" kern="0" dirty="0">
                <a:solidFill>
                  <a:srgbClr val="A7BBC5"/>
                </a:solidFill>
                <a:latin typeface="Aptos" pitchFamily="34" charset="0"/>
                <a:ea typeface="Aptos" pitchFamily="34" charset="-122"/>
                <a:cs typeface="Aptos" pitchFamily="34" charset="-120"/>
              </a:rPr>
              <a:t>TREND</a:t>
            </a:r>
            <a:endParaRPr lang="en-US" sz="750" dirty="0"/>
          </a:p>
        </p:txBody>
      </p:sp>
      <p:sp>
        <p:nvSpPr>
          <p:cNvPr id="55" name="Shape 53"/>
          <p:cNvSpPr/>
          <p:nvPr/>
        </p:nvSpPr>
        <p:spPr>
          <a:xfrm>
            <a:off x="3419856" y="5340096"/>
            <a:ext cx="109728" cy="0"/>
          </a:xfrm>
          <a:prstGeom prst="line">
            <a:avLst/>
          </a:prstGeom>
          <a:noFill/>
          <a:ln w="15240">
            <a:solidFill>
              <a:srgbClr val="1479FF"/>
            </a:solidFill>
            <a:prstDash val="solid"/>
            <a:headEnd type="none"/>
            <a:tailEnd type="none"/>
          </a:ln>
        </p:spPr>
      </p:sp>
      <p:sp>
        <p:nvSpPr>
          <p:cNvPr id="56" name="Text 54"/>
          <p:cNvSpPr/>
          <p:nvPr/>
        </p:nvSpPr>
        <p:spPr>
          <a:xfrm>
            <a:off x="3547872" y="5230368"/>
            <a:ext cx="868680" cy="228600"/>
          </a:xfrm>
          <a:prstGeom prst="rect">
            <a:avLst/>
          </a:prstGeom>
          <a:noFill/>
          <a:ln/>
        </p:spPr>
        <p:txBody>
          <a:bodyPr wrap="square" lIns="0" tIns="0" rIns="0" bIns="0" rtlCol="0" anchor="ctr">
            <a:normAutofit/>
          </a:bodyPr>
          <a:lstStyle/>
          <a:p>
            <a:pPr algn="ctr" indent="0" marL="0">
              <a:buNone/>
            </a:pPr>
            <a:r>
              <a:rPr lang="en-US" sz="750" b="1" spc="45" kern="0" dirty="0">
                <a:solidFill>
                  <a:srgbClr val="A7BBC5"/>
                </a:solidFill>
                <a:latin typeface="Aptos" pitchFamily="34" charset="0"/>
                <a:ea typeface="Aptos" pitchFamily="34" charset="-122"/>
                <a:cs typeface="Aptos" pitchFamily="34" charset="-120"/>
              </a:rPr>
              <a:t>SIGNIFICANCE</a:t>
            </a:r>
            <a:endParaRPr lang="en-US" sz="750" dirty="0"/>
          </a:p>
        </p:txBody>
      </p:sp>
      <p:sp>
        <p:nvSpPr>
          <p:cNvPr id="57" name="Shape 55"/>
          <p:cNvSpPr/>
          <p:nvPr/>
        </p:nvSpPr>
        <p:spPr>
          <a:xfrm>
            <a:off x="4407408" y="5340096"/>
            <a:ext cx="109728" cy="0"/>
          </a:xfrm>
          <a:prstGeom prst="line">
            <a:avLst/>
          </a:prstGeom>
          <a:noFill/>
          <a:ln w="15240">
            <a:solidFill>
              <a:srgbClr val="1479FF"/>
            </a:solidFill>
            <a:prstDash val="solid"/>
            <a:headEnd type="none"/>
            <a:tailEnd type="none"/>
          </a:ln>
        </p:spPr>
      </p:sp>
      <p:sp>
        <p:nvSpPr>
          <p:cNvPr id="58" name="Text 56"/>
          <p:cNvSpPr/>
          <p:nvPr/>
        </p:nvSpPr>
        <p:spPr>
          <a:xfrm>
            <a:off x="4535424" y="5230368"/>
            <a:ext cx="868680" cy="228600"/>
          </a:xfrm>
          <a:prstGeom prst="rect">
            <a:avLst/>
          </a:prstGeom>
          <a:noFill/>
          <a:ln/>
        </p:spPr>
        <p:txBody>
          <a:bodyPr wrap="square" lIns="0" tIns="0" rIns="0" bIns="0" rtlCol="0" anchor="ctr">
            <a:normAutofit/>
          </a:bodyPr>
          <a:lstStyle/>
          <a:p>
            <a:pPr algn="ctr" indent="0" marL="0">
              <a:buNone/>
            </a:pPr>
            <a:r>
              <a:rPr lang="en-US" sz="750" b="1" spc="45" kern="0" dirty="0">
                <a:solidFill>
                  <a:srgbClr val="A7BBC5"/>
                </a:solidFill>
                <a:latin typeface="Aptos" pitchFamily="34" charset="0"/>
                <a:ea typeface="Aptos" pitchFamily="34" charset="-122"/>
                <a:cs typeface="Aptos" pitchFamily="34" charset="-120"/>
              </a:rPr>
              <a:t>SPACE</a:t>
            </a:r>
            <a:endParaRPr lang="en-US" sz="750" dirty="0"/>
          </a:p>
        </p:txBody>
      </p:sp>
      <p:sp>
        <p:nvSpPr>
          <p:cNvPr id="59" name="Shape 57"/>
          <p:cNvSpPr/>
          <p:nvPr/>
        </p:nvSpPr>
        <p:spPr>
          <a:xfrm>
            <a:off x="5394960" y="5340096"/>
            <a:ext cx="109728" cy="0"/>
          </a:xfrm>
          <a:prstGeom prst="line">
            <a:avLst/>
          </a:prstGeom>
          <a:noFill/>
          <a:ln w="15240">
            <a:solidFill>
              <a:srgbClr val="1479FF"/>
            </a:solidFill>
            <a:prstDash val="solid"/>
            <a:headEnd type="none"/>
            <a:tailEnd type="none"/>
          </a:ln>
        </p:spPr>
      </p:sp>
      <p:sp>
        <p:nvSpPr>
          <p:cNvPr id="60" name="Text 58"/>
          <p:cNvSpPr/>
          <p:nvPr/>
        </p:nvSpPr>
        <p:spPr>
          <a:xfrm>
            <a:off x="5522976" y="5230368"/>
            <a:ext cx="868680" cy="228600"/>
          </a:xfrm>
          <a:prstGeom prst="rect">
            <a:avLst/>
          </a:prstGeom>
          <a:noFill/>
          <a:ln/>
        </p:spPr>
        <p:txBody>
          <a:bodyPr wrap="square" lIns="0" tIns="0" rIns="0" bIns="0" rtlCol="0" anchor="ctr">
            <a:normAutofit/>
          </a:bodyPr>
          <a:lstStyle/>
          <a:p>
            <a:pPr algn="ctr" indent="0" marL="0">
              <a:buNone/>
            </a:pPr>
            <a:r>
              <a:rPr lang="en-US" sz="750" b="1" spc="45" kern="0" dirty="0">
                <a:solidFill>
                  <a:srgbClr val="F2E84A"/>
                </a:solidFill>
                <a:latin typeface="Aptos" pitchFamily="34" charset="0"/>
                <a:ea typeface="Aptos" pitchFamily="34" charset="-122"/>
                <a:cs typeface="Aptos" pitchFamily="34" charset="-120"/>
              </a:rPr>
              <a:t>REPLAY</a:t>
            </a:r>
            <a:endParaRPr lang="en-US" sz="750" dirty="0"/>
          </a:p>
        </p:txBody>
      </p:sp>
      <p:sp>
        <p:nvSpPr>
          <p:cNvPr id="61" name="Text 59"/>
          <p:cNvSpPr/>
          <p:nvPr/>
        </p:nvSpPr>
        <p:spPr>
          <a:xfrm>
            <a:off x="566928" y="5815584"/>
            <a:ext cx="5212080" cy="274320"/>
          </a:xfrm>
          <a:prstGeom prst="rect">
            <a:avLst/>
          </a:prstGeom>
          <a:noFill/>
          <a:ln/>
        </p:spPr>
        <p:txBody>
          <a:bodyPr wrap="square" lIns="0" tIns="0" rIns="0" bIns="0" rtlCol="0" anchor="ctr">
            <a:normAutofit/>
          </a:bodyPr>
          <a:lstStyle/>
          <a:p>
            <a:pPr algn="l" indent="0" marL="0">
              <a:buNone/>
            </a:pPr>
            <a:r>
              <a:rPr lang="en-US" sz="1100" b="1" dirty="0">
                <a:solidFill>
                  <a:srgbClr val="F2E84A"/>
                </a:solidFill>
                <a:latin typeface="Aptos" pitchFamily="34" charset="0"/>
                <a:ea typeface="Aptos" pitchFamily="34" charset="-122"/>
                <a:cs typeface="Aptos" pitchFamily="34" charset="-120"/>
              </a:rPr>
              <a:t>Invest the change. Keep the evidence.</a:t>
            </a:r>
            <a:endParaRPr lang="en-US" sz="1100" dirty="0"/>
          </a:p>
        </p:txBody>
      </p:sp>
      <p:sp>
        <p:nvSpPr>
          <p:cNvPr id="25" name="Slide Number Placeholder 0"/>
          <p:cNvSpPr>
            <a:spLocks noGrp="1"/>
          </p:cNvSpPr>
          <p:nvPr>
            <p:ph type="sldNum" sz="quarter" idx="4294967295"/>
          </p:nvPr>
        </p:nvSpPr>
        <p:spPr>
          <a:xfrm>
            <a:off x="11759184" y="6556248"/>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A95A1"/>
                </a:solidFill>
                <a:latin typeface="Aptos"/>
                <a:ea typeface="Aptos"/>
                <a:cs typeface="Aptos"/>
              </a:defRPr>
            </a:lvl1pPr>
          </a:lstStyle>
          <a:p>
            <a:pPr algn="l"/>
            <a:fld id="{F7021451-1387-4CA6-816F-3879F97B5CBC}" type="slidenum">
              <a:rPr b="0" lang="en-US"/>
              <a:t>1</a:t>
            </a:fld>
            <a:endParaRPr lang="en-US"/>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30352" y="402336"/>
            <a:ext cx="2743200" cy="228600"/>
          </a:xfrm>
          <a:prstGeom prst="rect">
            <a:avLst/>
          </a:prstGeom>
          <a:noFill/>
          <a:ln/>
        </p:spPr>
        <p:txBody>
          <a:bodyPr wrap="square" lIns="0" tIns="0" rIns="0" bIns="0" rtlCol="0" anchor="ctr">
            <a:normAutofit/>
          </a:bodyPr>
          <a:lstStyle/>
          <a:p>
            <a:pPr algn="l" indent="0" marL="0">
              <a:buNone/>
            </a:pPr>
            <a:r>
              <a:rPr lang="en-US" sz="900" b="1" spc="140" kern="0" dirty="0">
                <a:solidFill>
                  <a:srgbClr val="41D9FF"/>
                </a:solidFill>
                <a:latin typeface="Aptos" pitchFamily="34" charset="0"/>
                <a:ea typeface="Aptos" pitchFamily="34" charset="-122"/>
                <a:cs typeface="Aptos" pitchFamily="34" charset="-120"/>
              </a:rPr>
              <a:t>01 / THE PROBLEM</a:t>
            </a:r>
            <a:endParaRPr lang="en-US" sz="900" dirty="0"/>
          </a:p>
        </p:txBody>
      </p:sp>
      <p:sp>
        <p:nvSpPr>
          <p:cNvPr id="3" name="Text 1"/>
          <p:cNvSpPr/>
          <p:nvPr/>
        </p:nvSpPr>
        <p:spPr>
          <a:xfrm>
            <a:off x="530352" y="749808"/>
            <a:ext cx="10698480" cy="594360"/>
          </a:xfrm>
          <a:prstGeom prst="rect">
            <a:avLst/>
          </a:prstGeom>
          <a:noFill/>
          <a:ln/>
        </p:spPr>
        <p:txBody>
          <a:bodyPr wrap="square" lIns="0" tIns="0" rIns="0" bIns="0" rtlCol="0" anchor="ctr">
            <a:normAutofit/>
          </a:bodyPr>
          <a:lstStyle/>
          <a:p>
            <a:pPr algn="l" indent="0" marL="0">
              <a:buNone/>
            </a:pPr>
            <a:r>
              <a:rPr lang="en-US" sz="2700" b="1" dirty="0">
                <a:solidFill>
                  <a:srgbClr val="F4F8FA"/>
                </a:solidFill>
                <a:latin typeface="Aptos Display" pitchFamily="34" charset="0"/>
                <a:ea typeface="Aptos Display" pitchFamily="34" charset="-122"/>
                <a:cs typeface="Aptos Display" pitchFamily="34" charset="-120"/>
              </a:rPr>
              <a:t>Earth data is abundant. Evidence is not.</a:t>
            </a:r>
            <a:endParaRPr lang="en-US" sz="2700" dirty="0"/>
          </a:p>
        </p:txBody>
      </p:sp>
      <p:sp>
        <p:nvSpPr>
          <p:cNvPr id="4" name="Text 2"/>
          <p:cNvSpPr/>
          <p:nvPr/>
        </p:nvSpPr>
        <p:spPr>
          <a:xfrm>
            <a:off x="548640" y="1399032"/>
            <a:ext cx="10515600" cy="365760"/>
          </a:xfrm>
          <a:prstGeom prst="rect">
            <a:avLst/>
          </a:prstGeom>
          <a:noFill/>
          <a:ln/>
        </p:spPr>
        <p:txBody>
          <a:bodyPr wrap="square" lIns="0" tIns="0" rIns="0" bIns="0" rtlCol="0" anchor="ctr">
            <a:normAutofit/>
          </a:bodyPr>
          <a:lstStyle/>
          <a:p>
            <a:pPr algn="l" indent="0" marL="0">
              <a:buNone/>
            </a:pPr>
            <a:r>
              <a:rPr lang="en-US" sz="1150" dirty="0">
                <a:solidFill>
                  <a:srgbClr val="A7BBC5"/>
                </a:solidFill>
                <a:latin typeface="Aptos" pitchFamily="34" charset="0"/>
                <a:ea typeface="Aptos" pitchFamily="34" charset="-122"/>
                <a:cs typeface="Aptos" pitchFamily="34" charset="-120"/>
              </a:rPr>
              <a:t>A trend can be plotted in seconds. Defending what that trend actually means takes a chain of decisions.</a:t>
            </a:r>
            <a:endParaRPr lang="en-US" sz="1150" dirty="0"/>
          </a:p>
        </p:txBody>
      </p:sp>
      <p:sp>
        <p:nvSpPr>
          <p:cNvPr id="5" name="Shape 3"/>
          <p:cNvSpPr/>
          <p:nvPr/>
        </p:nvSpPr>
        <p:spPr>
          <a:xfrm>
            <a:off x="548640" y="2011680"/>
            <a:ext cx="5330952" cy="1426464"/>
          </a:xfrm>
          <a:prstGeom prst="roundRect">
            <a:avLst>
              <a:gd name="adj" fmla="val 7692"/>
            </a:avLst>
          </a:prstGeom>
          <a:solidFill>
            <a:srgbClr val="0D202C"/>
          </a:solidFill>
          <a:ln w="12700">
            <a:solidFill>
              <a:srgbClr val="102938">
                <a:alpha val="65000"/>
              </a:srgbClr>
            </a:solidFill>
            <a:prstDash val="solid"/>
          </a:ln>
        </p:spPr>
      </p:sp>
      <p:sp>
        <p:nvSpPr>
          <p:cNvPr id="6" name="Shape 4"/>
          <p:cNvSpPr/>
          <p:nvPr/>
        </p:nvSpPr>
        <p:spPr>
          <a:xfrm>
            <a:off x="731520" y="2194560"/>
            <a:ext cx="1133856" cy="265176"/>
          </a:xfrm>
          <a:prstGeom prst="roundRect">
            <a:avLst>
              <a:gd name="adj" fmla="val 31034"/>
            </a:avLst>
          </a:prstGeom>
          <a:solidFill>
            <a:srgbClr val="1479FF"/>
          </a:solidFill>
          <a:ln w="12700">
            <a:solidFill>
              <a:srgbClr val="1479FF">
                <a:alpha val="0"/>
              </a:srgbClr>
            </a:solidFill>
            <a:prstDash val="solid"/>
          </a:ln>
        </p:spPr>
      </p:sp>
      <p:sp>
        <p:nvSpPr>
          <p:cNvPr id="7" name="Text 5"/>
          <p:cNvSpPr/>
          <p:nvPr/>
        </p:nvSpPr>
        <p:spPr>
          <a:xfrm>
            <a:off x="822960" y="2203704"/>
            <a:ext cx="950976" cy="228600"/>
          </a:xfrm>
          <a:prstGeom prst="rect">
            <a:avLst/>
          </a:prstGeom>
          <a:noFill/>
          <a:ln/>
        </p:spPr>
        <p:txBody>
          <a:bodyPr wrap="square" lIns="0" tIns="0" rIns="0" bIns="0" rtlCol="0" anchor="ctr">
            <a:normAutofit/>
          </a:bodyPr>
          <a:lstStyle/>
          <a:p>
            <a:pPr algn="ctr" indent="0" marL="0">
              <a:buNone/>
            </a:pPr>
            <a:r>
              <a:rPr lang="en-US" sz="850" b="1" spc="40" kern="0" dirty="0">
                <a:solidFill>
                  <a:srgbClr val="F4F8FA"/>
                </a:solidFill>
                <a:latin typeface="Aptos" pitchFamily="34" charset="0"/>
                <a:ea typeface="Aptos" pitchFamily="34" charset="-122"/>
                <a:cs typeface="Aptos" pitchFamily="34" charset="-120"/>
              </a:rPr>
              <a:t>SCOPE</a:t>
            </a:r>
            <a:endParaRPr lang="en-US" sz="850" dirty="0"/>
          </a:p>
        </p:txBody>
      </p:sp>
      <p:sp>
        <p:nvSpPr>
          <p:cNvPr id="8" name="Text 6"/>
          <p:cNvSpPr/>
          <p:nvPr/>
        </p:nvSpPr>
        <p:spPr>
          <a:xfrm>
            <a:off x="731520" y="2651760"/>
            <a:ext cx="4800600" cy="292608"/>
          </a:xfrm>
          <a:prstGeom prst="rect">
            <a:avLst/>
          </a:prstGeom>
          <a:noFill/>
          <a:ln/>
        </p:spPr>
        <p:txBody>
          <a:bodyPr wrap="square" lIns="0" tIns="0" rIns="0" bIns="0" rtlCol="0" anchor="ctr">
            <a:normAutofit/>
          </a:bodyPr>
          <a:lstStyle/>
          <a:p>
            <a:pPr algn="l" indent="0" marL="0">
              <a:buNone/>
            </a:pPr>
            <a:r>
              <a:rPr lang="en-US" sz="1500" b="1" dirty="0">
                <a:solidFill>
                  <a:srgbClr val="F4F8FA"/>
                </a:solidFill>
                <a:latin typeface="Aptos" pitchFamily="34" charset="0"/>
                <a:ea typeface="Aptos" pitchFamily="34" charset="-122"/>
                <a:cs typeface="Aptos" pitchFamily="34" charset="-120"/>
              </a:rPr>
              <a:t>A point is not a region.</a:t>
            </a:r>
            <a:endParaRPr lang="en-US" sz="1500" dirty="0"/>
          </a:p>
        </p:txBody>
      </p:sp>
      <p:sp>
        <p:nvSpPr>
          <p:cNvPr id="9" name="Text 7"/>
          <p:cNvSpPr/>
          <p:nvPr/>
        </p:nvSpPr>
        <p:spPr>
          <a:xfrm>
            <a:off x="731520" y="2999232"/>
            <a:ext cx="4800600" cy="274320"/>
          </a:xfrm>
          <a:prstGeom prst="rect">
            <a:avLst/>
          </a:prstGeom>
          <a:noFill/>
          <a:ln/>
        </p:spPr>
        <p:txBody>
          <a:bodyPr wrap="square" lIns="0" tIns="0" rIns="0" bIns="0" rtlCol="0" anchor="ctr">
            <a:normAutofit/>
          </a:bodyPr>
          <a:lstStyle/>
          <a:p>
            <a:pPr algn="l" indent="0" marL="0">
              <a:buNone/>
            </a:pPr>
            <a:r>
              <a:rPr lang="en-US" sz="950" dirty="0">
                <a:solidFill>
                  <a:srgbClr val="A7BBC5"/>
                </a:solidFill>
                <a:latin typeface="Aptos" pitchFamily="34" charset="0"/>
                <a:ea typeface="Aptos" pitchFamily="34" charset="-122"/>
                <a:cs typeface="Aptos" pitchFamily="34" charset="-120"/>
              </a:rPr>
              <a:t>Reference-point analysis must not silently become a regional claim.</a:t>
            </a:r>
            <a:endParaRPr lang="en-US" sz="950" dirty="0"/>
          </a:p>
        </p:txBody>
      </p:sp>
      <p:sp>
        <p:nvSpPr>
          <p:cNvPr id="10" name="Shape 8"/>
          <p:cNvSpPr/>
          <p:nvPr/>
        </p:nvSpPr>
        <p:spPr>
          <a:xfrm>
            <a:off x="6245352" y="2011680"/>
            <a:ext cx="5330952" cy="1426464"/>
          </a:xfrm>
          <a:prstGeom prst="roundRect">
            <a:avLst>
              <a:gd name="adj" fmla="val 7692"/>
            </a:avLst>
          </a:prstGeom>
          <a:solidFill>
            <a:srgbClr val="0D202C"/>
          </a:solidFill>
          <a:ln w="12700">
            <a:solidFill>
              <a:srgbClr val="102938">
                <a:alpha val="65000"/>
              </a:srgbClr>
            </a:solidFill>
            <a:prstDash val="solid"/>
          </a:ln>
        </p:spPr>
      </p:sp>
      <p:sp>
        <p:nvSpPr>
          <p:cNvPr id="11" name="Shape 9"/>
          <p:cNvSpPr/>
          <p:nvPr/>
        </p:nvSpPr>
        <p:spPr>
          <a:xfrm>
            <a:off x="6428232" y="2194560"/>
            <a:ext cx="1133856" cy="265176"/>
          </a:xfrm>
          <a:prstGeom prst="roundRect">
            <a:avLst>
              <a:gd name="adj" fmla="val 31034"/>
            </a:avLst>
          </a:prstGeom>
          <a:solidFill>
            <a:srgbClr val="1479FF"/>
          </a:solidFill>
          <a:ln w="12700">
            <a:solidFill>
              <a:srgbClr val="1479FF">
                <a:alpha val="0"/>
              </a:srgbClr>
            </a:solidFill>
            <a:prstDash val="solid"/>
          </a:ln>
        </p:spPr>
      </p:sp>
      <p:sp>
        <p:nvSpPr>
          <p:cNvPr id="12" name="Text 10"/>
          <p:cNvSpPr/>
          <p:nvPr/>
        </p:nvSpPr>
        <p:spPr>
          <a:xfrm>
            <a:off x="6519672" y="2203704"/>
            <a:ext cx="950976" cy="228600"/>
          </a:xfrm>
          <a:prstGeom prst="rect">
            <a:avLst/>
          </a:prstGeom>
          <a:noFill/>
          <a:ln/>
        </p:spPr>
        <p:txBody>
          <a:bodyPr wrap="square" lIns="0" tIns="0" rIns="0" bIns="0" rtlCol="0" anchor="ctr">
            <a:normAutofit/>
          </a:bodyPr>
          <a:lstStyle/>
          <a:p>
            <a:pPr algn="ctr" indent="0" marL="0">
              <a:buNone/>
            </a:pPr>
            <a:r>
              <a:rPr lang="en-US" sz="850" b="1" spc="40" kern="0" dirty="0">
                <a:solidFill>
                  <a:srgbClr val="F4F8FA"/>
                </a:solidFill>
                <a:latin typeface="Aptos" pitchFamily="34" charset="0"/>
                <a:ea typeface="Aptos" pitchFamily="34" charset="-122"/>
                <a:cs typeface="Aptos" pitchFamily="34" charset="-120"/>
              </a:rPr>
              <a:t>COMPLETENESS</a:t>
            </a:r>
            <a:endParaRPr lang="en-US" sz="850" dirty="0"/>
          </a:p>
        </p:txBody>
      </p:sp>
      <p:sp>
        <p:nvSpPr>
          <p:cNvPr id="13" name="Text 11"/>
          <p:cNvSpPr/>
          <p:nvPr/>
        </p:nvSpPr>
        <p:spPr>
          <a:xfrm>
            <a:off x="6428232" y="2651760"/>
            <a:ext cx="4800600" cy="292608"/>
          </a:xfrm>
          <a:prstGeom prst="rect">
            <a:avLst/>
          </a:prstGeom>
          <a:noFill/>
          <a:ln/>
        </p:spPr>
        <p:txBody>
          <a:bodyPr wrap="square" lIns="0" tIns="0" rIns="0" bIns="0" rtlCol="0" anchor="ctr">
            <a:normAutofit/>
          </a:bodyPr>
          <a:lstStyle/>
          <a:p>
            <a:pPr algn="l" indent="0" marL="0">
              <a:buNone/>
            </a:pPr>
            <a:r>
              <a:rPr lang="en-US" sz="1500" b="1" dirty="0">
                <a:solidFill>
                  <a:srgbClr val="F4F8FA"/>
                </a:solidFill>
                <a:latin typeface="Aptos" pitchFamily="34" charset="0"/>
                <a:ea typeface="Aptos" pitchFamily="34" charset="-122"/>
                <a:cs typeface="Aptos" pitchFamily="34" charset="-120"/>
              </a:rPr>
              <a:t>Missing months change the question.</a:t>
            </a:r>
            <a:endParaRPr lang="en-US" sz="1500" dirty="0"/>
          </a:p>
        </p:txBody>
      </p:sp>
      <p:sp>
        <p:nvSpPr>
          <p:cNvPr id="14" name="Text 12"/>
          <p:cNvSpPr/>
          <p:nvPr/>
        </p:nvSpPr>
        <p:spPr>
          <a:xfrm>
            <a:off x="6428232" y="2999232"/>
            <a:ext cx="4800600" cy="274320"/>
          </a:xfrm>
          <a:prstGeom prst="rect">
            <a:avLst/>
          </a:prstGeom>
          <a:noFill/>
          <a:ln/>
        </p:spPr>
        <p:txBody>
          <a:bodyPr wrap="square" lIns="0" tIns="0" rIns="0" bIns="0" rtlCol="0" anchor="ctr">
            <a:normAutofit/>
          </a:bodyPr>
          <a:lstStyle/>
          <a:p>
            <a:pPr algn="l" indent="0" marL="0">
              <a:buNone/>
            </a:pPr>
            <a:r>
              <a:rPr lang="en-US" sz="950" dirty="0">
                <a:solidFill>
                  <a:srgbClr val="A7BBC5"/>
                </a:solidFill>
                <a:latin typeface="Aptos" pitchFamily="34" charset="0"/>
                <a:ea typeface="Aptos" pitchFamily="34" charset="-122"/>
                <a:cs typeface="Aptos" pitchFamily="34" charset="-120"/>
              </a:rPr>
              <a:t>Incomplete calendar years are excluded from annual trend inference.</a:t>
            </a:r>
            <a:endParaRPr lang="en-US" sz="950" dirty="0"/>
          </a:p>
        </p:txBody>
      </p:sp>
      <p:sp>
        <p:nvSpPr>
          <p:cNvPr id="15" name="Shape 13"/>
          <p:cNvSpPr/>
          <p:nvPr/>
        </p:nvSpPr>
        <p:spPr>
          <a:xfrm>
            <a:off x="548640" y="3767328"/>
            <a:ext cx="5330952" cy="1426464"/>
          </a:xfrm>
          <a:prstGeom prst="roundRect">
            <a:avLst>
              <a:gd name="adj" fmla="val 7692"/>
            </a:avLst>
          </a:prstGeom>
          <a:solidFill>
            <a:srgbClr val="0D202C"/>
          </a:solidFill>
          <a:ln w="12700">
            <a:solidFill>
              <a:srgbClr val="102938">
                <a:alpha val="65000"/>
              </a:srgbClr>
            </a:solidFill>
            <a:prstDash val="solid"/>
          </a:ln>
        </p:spPr>
      </p:sp>
      <p:sp>
        <p:nvSpPr>
          <p:cNvPr id="16" name="Shape 14"/>
          <p:cNvSpPr/>
          <p:nvPr/>
        </p:nvSpPr>
        <p:spPr>
          <a:xfrm>
            <a:off x="731520" y="3950208"/>
            <a:ext cx="1133856" cy="265176"/>
          </a:xfrm>
          <a:prstGeom prst="roundRect">
            <a:avLst>
              <a:gd name="adj" fmla="val 31034"/>
            </a:avLst>
          </a:prstGeom>
          <a:solidFill>
            <a:srgbClr val="1479FF"/>
          </a:solidFill>
          <a:ln w="12700">
            <a:solidFill>
              <a:srgbClr val="1479FF">
                <a:alpha val="0"/>
              </a:srgbClr>
            </a:solidFill>
            <a:prstDash val="solid"/>
          </a:ln>
        </p:spPr>
      </p:sp>
      <p:sp>
        <p:nvSpPr>
          <p:cNvPr id="17" name="Text 15"/>
          <p:cNvSpPr/>
          <p:nvPr/>
        </p:nvSpPr>
        <p:spPr>
          <a:xfrm>
            <a:off x="822960" y="3959352"/>
            <a:ext cx="950976" cy="228600"/>
          </a:xfrm>
          <a:prstGeom prst="rect">
            <a:avLst/>
          </a:prstGeom>
          <a:noFill/>
          <a:ln/>
        </p:spPr>
        <p:txBody>
          <a:bodyPr wrap="square" lIns="0" tIns="0" rIns="0" bIns="0" rtlCol="0" anchor="ctr">
            <a:normAutofit/>
          </a:bodyPr>
          <a:lstStyle/>
          <a:p>
            <a:pPr algn="ctr" indent="0" marL="0">
              <a:buNone/>
            </a:pPr>
            <a:r>
              <a:rPr lang="en-US" sz="850" b="1" spc="40" kern="0" dirty="0">
                <a:solidFill>
                  <a:srgbClr val="F4F8FA"/>
                </a:solidFill>
                <a:latin typeface="Aptos" pitchFamily="34" charset="0"/>
                <a:ea typeface="Aptos" pitchFamily="34" charset="-122"/>
                <a:cs typeface="Aptos" pitchFamily="34" charset="-120"/>
              </a:rPr>
              <a:t>BASELINE</a:t>
            </a:r>
            <a:endParaRPr lang="en-US" sz="850" dirty="0"/>
          </a:p>
        </p:txBody>
      </p:sp>
      <p:sp>
        <p:nvSpPr>
          <p:cNvPr id="18" name="Text 16"/>
          <p:cNvSpPr/>
          <p:nvPr/>
        </p:nvSpPr>
        <p:spPr>
          <a:xfrm>
            <a:off x="731520" y="4407408"/>
            <a:ext cx="4800600" cy="292608"/>
          </a:xfrm>
          <a:prstGeom prst="rect">
            <a:avLst/>
          </a:prstGeom>
          <a:noFill/>
          <a:ln/>
        </p:spPr>
        <p:txBody>
          <a:bodyPr wrap="square" lIns="0" tIns="0" rIns="0" bIns="0" rtlCol="0" anchor="ctr">
            <a:normAutofit/>
          </a:bodyPr>
          <a:lstStyle/>
          <a:p>
            <a:pPr algn="l" indent="0" marL="0">
              <a:buNone/>
            </a:pPr>
            <a:r>
              <a:rPr lang="en-US" sz="1500" b="1" dirty="0">
                <a:solidFill>
                  <a:srgbClr val="F4F8FA"/>
                </a:solidFill>
                <a:latin typeface="Aptos" pitchFamily="34" charset="0"/>
                <a:ea typeface="Aptos" pitchFamily="34" charset="-122"/>
                <a:cs typeface="Aptos" pitchFamily="34" charset="-120"/>
              </a:rPr>
              <a:t>“Normal” needs a definition.</a:t>
            </a:r>
            <a:endParaRPr lang="en-US" sz="1500" dirty="0"/>
          </a:p>
        </p:txBody>
      </p:sp>
      <p:sp>
        <p:nvSpPr>
          <p:cNvPr id="19" name="Text 17"/>
          <p:cNvSpPr/>
          <p:nvPr/>
        </p:nvSpPr>
        <p:spPr>
          <a:xfrm>
            <a:off x="731520" y="4754880"/>
            <a:ext cx="4800600" cy="274320"/>
          </a:xfrm>
          <a:prstGeom prst="rect">
            <a:avLst/>
          </a:prstGeom>
          <a:noFill/>
          <a:ln/>
        </p:spPr>
        <p:txBody>
          <a:bodyPr wrap="square" lIns="0" tIns="0" rIns="0" bIns="0" rtlCol="0" anchor="ctr">
            <a:normAutofit/>
          </a:bodyPr>
          <a:lstStyle/>
          <a:p>
            <a:pPr algn="l" indent="0" marL="0">
              <a:buNone/>
            </a:pPr>
            <a:r>
              <a:rPr lang="en-US" sz="950" dirty="0">
                <a:solidFill>
                  <a:srgbClr val="A7BBC5"/>
                </a:solidFill>
                <a:latin typeface="Aptos" pitchFamily="34" charset="0"/>
                <a:ea typeface="Aptos" pitchFamily="34" charset="-122"/>
                <a:cs typeface="Aptos" pitchFamily="34" charset="-120"/>
              </a:rPr>
              <a:t>Reference climatology is explicit and month-by-month.</a:t>
            </a:r>
            <a:endParaRPr lang="en-US" sz="950" dirty="0"/>
          </a:p>
        </p:txBody>
      </p:sp>
      <p:sp>
        <p:nvSpPr>
          <p:cNvPr id="20" name="Shape 18"/>
          <p:cNvSpPr/>
          <p:nvPr/>
        </p:nvSpPr>
        <p:spPr>
          <a:xfrm>
            <a:off x="6245352" y="3767328"/>
            <a:ext cx="5330952" cy="1426464"/>
          </a:xfrm>
          <a:prstGeom prst="roundRect">
            <a:avLst>
              <a:gd name="adj" fmla="val 7692"/>
            </a:avLst>
          </a:prstGeom>
          <a:solidFill>
            <a:srgbClr val="0D202C"/>
          </a:solidFill>
          <a:ln w="12700">
            <a:solidFill>
              <a:srgbClr val="102938">
                <a:alpha val="65000"/>
              </a:srgbClr>
            </a:solidFill>
            <a:prstDash val="solid"/>
          </a:ln>
        </p:spPr>
      </p:sp>
      <p:sp>
        <p:nvSpPr>
          <p:cNvPr id="21" name="Shape 19"/>
          <p:cNvSpPr/>
          <p:nvPr/>
        </p:nvSpPr>
        <p:spPr>
          <a:xfrm>
            <a:off x="6428232" y="3950208"/>
            <a:ext cx="1133856" cy="265176"/>
          </a:xfrm>
          <a:prstGeom prst="roundRect">
            <a:avLst>
              <a:gd name="adj" fmla="val 31034"/>
            </a:avLst>
          </a:prstGeom>
          <a:solidFill>
            <a:srgbClr val="F2E84A"/>
          </a:solidFill>
          <a:ln w="12700">
            <a:solidFill>
              <a:srgbClr val="F2E84A">
                <a:alpha val="0"/>
              </a:srgbClr>
            </a:solidFill>
            <a:prstDash val="solid"/>
          </a:ln>
        </p:spPr>
      </p:sp>
      <p:sp>
        <p:nvSpPr>
          <p:cNvPr id="22" name="Text 20"/>
          <p:cNvSpPr/>
          <p:nvPr/>
        </p:nvSpPr>
        <p:spPr>
          <a:xfrm>
            <a:off x="6519672" y="3959352"/>
            <a:ext cx="950976" cy="228600"/>
          </a:xfrm>
          <a:prstGeom prst="rect">
            <a:avLst/>
          </a:prstGeom>
          <a:noFill/>
          <a:ln/>
        </p:spPr>
        <p:txBody>
          <a:bodyPr wrap="square" lIns="0" tIns="0" rIns="0" bIns="0" rtlCol="0" anchor="ctr">
            <a:normAutofit/>
          </a:bodyPr>
          <a:lstStyle/>
          <a:p>
            <a:pPr algn="ctr" indent="0" marL="0">
              <a:buNone/>
            </a:pPr>
            <a:r>
              <a:rPr lang="en-US" sz="850" b="1" spc="40" kern="0" dirty="0">
                <a:solidFill>
                  <a:srgbClr val="06131D"/>
                </a:solidFill>
                <a:latin typeface="Aptos" pitchFamily="34" charset="0"/>
                <a:ea typeface="Aptos" pitchFamily="34" charset="-122"/>
                <a:cs typeface="Aptos" pitchFamily="34" charset="-120"/>
              </a:rPr>
              <a:t>SIGNIFICANCE</a:t>
            </a:r>
            <a:endParaRPr lang="en-US" sz="850" dirty="0"/>
          </a:p>
        </p:txBody>
      </p:sp>
      <p:sp>
        <p:nvSpPr>
          <p:cNvPr id="23" name="Text 21"/>
          <p:cNvSpPr/>
          <p:nvPr/>
        </p:nvSpPr>
        <p:spPr>
          <a:xfrm>
            <a:off x="6428232" y="4407408"/>
            <a:ext cx="4800600" cy="292608"/>
          </a:xfrm>
          <a:prstGeom prst="rect">
            <a:avLst/>
          </a:prstGeom>
          <a:noFill/>
          <a:ln/>
        </p:spPr>
        <p:txBody>
          <a:bodyPr wrap="square" lIns="0" tIns="0" rIns="0" bIns="0" rtlCol="0" anchor="ctr">
            <a:normAutofit/>
          </a:bodyPr>
          <a:lstStyle/>
          <a:p>
            <a:pPr algn="l" indent="0" marL="0">
              <a:buNone/>
            </a:pPr>
            <a:r>
              <a:rPr lang="en-US" sz="1500" b="1" dirty="0">
                <a:solidFill>
                  <a:srgbClr val="F4F8FA"/>
                </a:solidFill>
                <a:latin typeface="Aptos" pitchFamily="34" charset="0"/>
                <a:ea typeface="Aptos" pitchFamily="34" charset="-122"/>
                <a:cs typeface="Aptos" pitchFamily="34" charset="-120"/>
              </a:rPr>
              <a:t>A slope is not proof.</a:t>
            </a:r>
            <a:endParaRPr lang="en-US" sz="1500" dirty="0"/>
          </a:p>
        </p:txBody>
      </p:sp>
      <p:sp>
        <p:nvSpPr>
          <p:cNvPr id="24" name="Text 22"/>
          <p:cNvSpPr/>
          <p:nvPr/>
        </p:nvSpPr>
        <p:spPr>
          <a:xfrm>
            <a:off x="6428232" y="4754880"/>
            <a:ext cx="4800600" cy="274320"/>
          </a:xfrm>
          <a:prstGeom prst="rect">
            <a:avLst/>
          </a:prstGeom>
          <a:noFill/>
          <a:ln/>
        </p:spPr>
        <p:txBody>
          <a:bodyPr wrap="square" lIns="0" tIns="0" rIns="0" bIns="0" rtlCol="0" anchor="ctr">
            <a:normAutofit/>
          </a:bodyPr>
          <a:lstStyle/>
          <a:p>
            <a:pPr algn="l" indent="0" marL="0">
              <a:buNone/>
            </a:pPr>
            <a:r>
              <a:rPr lang="en-US" sz="950" dirty="0">
                <a:solidFill>
                  <a:srgbClr val="A7BBC5"/>
                </a:solidFill>
                <a:latin typeface="Aptos" pitchFamily="34" charset="0"/>
                <a:ea typeface="Aptos" pitchFamily="34" charset="-122"/>
                <a:cs typeface="Aptos" pitchFamily="34" charset="-120"/>
              </a:rPr>
              <a:t>Statistical evidence is separated from descriptive change.</a:t>
            </a:r>
            <a:endParaRPr lang="en-US" sz="950" dirty="0"/>
          </a:p>
        </p:txBody>
      </p:sp>
      <p:sp>
        <p:nvSpPr>
          <p:cNvPr id="25" name="Shape 23"/>
          <p:cNvSpPr/>
          <p:nvPr/>
        </p:nvSpPr>
        <p:spPr>
          <a:xfrm>
            <a:off x="548640" y="5623560"/>
            <a:ext cx="11018520" cy="502920"/>
          </a:xfrm>
          <a:prstGeom prst="roundRect">
            <a:avLst>
              <a:gd name="adj" fmla="val 21818"/>
            </a:avLst>
          </a:prstGeom>
          <a:solidFill>
            <a:srgbClr val="081A26"/>
          </a:solidFill>
          <a:ln w="12700">
            <a:solidFill>
              <a:srgbClr val="1479FF">
                <a:alpha val="65000"/>
              </a:srgbClr>
            </a:solidFill>
            <a:prstDash val="solid"/>
          </a:ln>
        </p:spPr>
      </p:sp>
      <p:sp>
        <p:nvSpPr>
          <p:cNvPr id="26" name="Text 24"/>
          <p:cNvSpPr/>
          <p:nvPr/>
        </p:nvSpPr>
        <p:spPr>
          <a:xfrm>
            <a:off x="749808" y="5751576"/>
            <a:ext cx="1600200" cy="182880"/>
          </a:xfrm>
          <a:prstGeom prst="rect">
            <a:avLst/>
          </a:prstGeom>
          <a:noFill/>
          <a:ln/>
        </p:spPr>
        <p:txBody>
          <a:bodyPr wrap="square" lIns="0" tIns="0" rIns="0" bIns="0" rtlCol="0" anchor="ctr">
            <a:normAutofit/>
          </a:bodyPr>
          <a:lstStyle/>
          <a:p>
            <a:pPr algn="l" indent="0" marL="0">
              <a:buNone/>
            </a:pPr>
            <a:r>
              <a:rPr lang="en-US" sz="850" b="1" spc="100" kern="0" dirty="0">
                <a:solidFill>
                  <a:srgbClr val="41D9FF"/>
                </a:solidFill>
                <a:latin typeface="Aptos" pitchFamily="34" charset="0"/>
                <a:ea typeface="Aptos" pitchFamily="34" charset="-122"/>
                <a:cs typeface="Aptos" pitchFamily="34" charset="-120"/>
              </a:rPr>
              <a:t>THE DESIGN PRINCIPLE</a:t>
            </a:r>
            <a:endParaRPr lang="en-US" sz="850" dirty="0"/>
          </a:p>
        </p:txBody>
      </p:sp>
      <p:sp>
        <p:nvSpPr>
          <p:cNvPr id="27" name="Text 25"/>
          <p:cNvSpPr/>
          <p:nvPr/>
        </p:nvSpPr>
        <p:spPr>
          <a:xfrm>
            <a:off x="2423160" y="5715000"/>
            <a:ext cx="6035040" cy="237744"/>
          </a:xfrm>
          <a:prstGeom prst="rect">
            <a:avLst/>
          </a:prstGeom>
          <a:noFill/>
          <a:ln/>
        </p:spPr>
        <p:txBody>
          <a:bodyPr wrap="square" lIns="0" tIns="0" rIns="0" bIns="0" rtlCol="0" anchor="ctr">
            <a:normAutofit/>
          </a:bodyPr>
          <a:lstStyle/>
          <a:p>
            <a:pPr algn="l" indent="0" marL="0">
              <a:buNone/>
            </a:pPr>
            <a:r>
              <a:rPr lang="en-US" sz="1300" b="1" dirty="0">
                <a:solidFill>
                  <a:srgbClr val="F4F8FA"/>
                </a:solidFill>
                <a:latin typeface="Aptos" pitchFamily="34" charset="0"/>
                <a:ea typeface="Aptos" pitchFamily="34" charset="-122"/>
                <a:cs typeface="Aptos" pitchFamily="34" charset="-120"/>
              </a:rPr>
              <a:t>Show the reasoning, not just the result.</a:t>
            </a:r>
            <a:endParaRPr lang="en-US" sz="1300" dirty="0"/>
          </a:p>
        </p:txBody>
      </p:sp>
      <p:sp>
        <p:nvSpPr>
          <p:cNvPr id="25" name="Slide Number Placeholder 0"/>
          <p:cNvSpPr>
            <a:spLocks noGrp="1"/>
          </p:cNvSpPr>
          <p:nvPr>
            <p:ph type="sldNum" sz="quarter" idx="4294967295"/>
          </p:nvPr>
        </p:nvSpPr>
        <p:spPr>
          <a:xfrm>
            <a:off x="11759184" y="6556248"/>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A95A1"/>
                </a:solidFill>
                <a:latin typeface="Aptos"/>
                <a:ea typeface="Aptos"/>
                <a:cs typeface="Aptos"/>
              </a:defRPr>
            </a:lvl1pPr>
          </a:lstStyle>
          <a:p>
            <a:pPr algn="l"/>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30352" y="402336"/>
            <a:ext cx="2743200" cy="228600"/>
          </a:xfrm>
          <a:prstGeom prst="rect">
            <a:avLst/>
          </a:prstGeom>
          <a:noFill/>
          <a:ln/>
        </p:spPr>
        <p:txBody>
          <a:bodyPr wrap="square" lIns="0" tIns="0" rIns="0" bIns="0" rtlCol="0" anchor="ctr">
            <a:normAutofit/>
          </a:bodyPr>
          <a:lstStyle/>
          <a:p>
            <a:pPr algn="l" indent="0" marL="0">
              <a:buNone/>
            </a:pPr>
            <a:r>
              <a:rPr lang="en-US" sz="900" b="1" spc="140" kern="0" dirty="0">
                <a:solidFill>
                  <a:srgbClr val="41D9FF"/>
                </a:solidFill>
                <a:latin typeface="Aptos" pitchFamily="34" charset="0"/>
                <a:ea typeface="Aptos" pitchFamily="34" charset="-122"/>
                <a:cs typeface="Aptos" pitchFamily="34" charset="-120"/>
              </a:rPr>
              <a:t>02 / THE SOLUTION</a:t>
            </a:r>
            <a:endParaRPr lang="en-US" sz="900" dirty="0"/>
          </a:p>
        </p:txBody>
      </p:sp>
      <p:sp>
        <p:nvSpPr>
          <p:cNvPr id="3" name="Text 1"/>
          <p:cNvSpPr/>
          <p:nvPr/>
        </p:nvSpPr>
        <p:spPr>
          <a:xfrm>
            <a:off x="530352" y="749808"/>
            <a:ext cx="10698480" cy="594360"/>
          </a:xfrm>
          <a:prstGeom prst="rect">
            <a:avLst/>
          </a:prstGeom>
          <a:noFill/>
          <a:ln/>
        </p:spPr>
        <p:txBody>
          <a:bodyPr wrap="square" lIns="0" tIns="0" rIns="0" bIns="0" rtlCol="0" anchor="ctr">
            <a:normAutofit/>
          </a:bodyPr>
          <a:lstStyle/>
          <a:p>
            <a:pPr algn="l" indent="0" marL="0">
              <a:buNone/>
            </a:pPr>
            <a:r>
              <a:rPr lang="en-US" sz="2700" b="1" dirty="0">
                <a:solidFill>
                  <a:srgbClr val="F4F8FA"/>
                </a:solidFill>
                <a:latin typeface="Aptos Display" pitchFamily="34" charset="0"/>
                <a:ea typeface="Aptos Display" pitchFamily="34" charset="-122"/>
                <a:cs typeface="Aptos Display" pitchFamily="34" charset="-120"/>
              </a:rPr>
              <a:t>Investigate, don’t guess.</a:t>
            </a:r>
            <a:endParaRPr lang="en-US" sz="2700" dirty="0"/>
          </a:p>
        </p:txBody>
      </p:sp>
      <p:sp>
        <p:nvSpPr>
          <p:cNvPr id="4" name="Text 2"/>
          <p:cNvSpPr/>
          <p:nvPr/>
        </p:nvSpPr>
        <p:spPr>
          <a:xfrm>
            <a:off x="548640" y="1399032"/>
            <a:ext cx="10515600" cy="365760"/>
          </a:xfrm>
          <a:prstGeom prst="rect">
            <a:avLst/>
          </a:prstGeom>
          <a:noFill/>
          <a:ln/>
        </p:spPr>
        <p:txBody>
          <a:bodyPr wrap="square" lIns="0" tIns="0" rIns="0" bIns="0" rtlCol="0" anchor="ctr">
            <a:normAutofit/>
          </a:bodyPr>
          <a:lstStyle/>
          <a:p>
            <a:pPr algn="l" indent="0" marL="0">
              <a:buNone/>
            </a:pPr>
            <a:r>
              <a:rPr lang="en-US" sz="1150" dirty="0">
                <a:solidFill>
                  <a:srgbClr val="A7BBC5"/>
                </a:solidFill>
                <a:latin typeface="Aptos" pitchFamily="34" charset="0"/>
                <a:ea typeface="Aptos" pitchFamily="34" charset="-122"/>
                <a:cs typeface="Aptos" pitchFamily="34" charset="-120"/>
              </a:rPr>
              <a:t>Six deliberate steps turn an Earth-system question into an auditable evidence chain.</a:t>
            </a:r>
            <a:endParaRPr lang="en-US" sz="1150" dirty="0"/>
          </a:p>
        </p:txBody>
      </p:sp>
      <p:sp>
        <p:nvSpPr>
          <p:cNvPr id="5" name="Shape 3"/>
          <p:cNvSpPr/>
          <p:nvPr/>
        </p:nvSpPr>
        <p:spPr>
          <a:xfrm>
            <a:off x="548640" y="2103120"/>
            <a:ext cx="1627632" cy="2340864"/>
          </a:xfrm>
          <a:prstGeom prst="roundRect">
            <a:avLst>
              <a:gd name="adj" fmla="val 6742"/>
            </a:avLst>
          </a:prstGeom>
          <a:solidFill>
            <a:srgbClr val="0D202C"/>
          </a:solidFill>
          <a:ln w="12700">
            <a:solidFill>
              <a:srgbClr val="102938">
                <a:alpha val="65000"/>
              </a:srgbClr>
            </a:solidFill>
            <a:prstDash val="solid"/>
          </a:ln>
        </p:spPr>
      </p:sp>
      <p:sp>
        <p:nvSpPr>
          <p:cNvPr id="6" name="Text 4"/>
          <p:cNvSpPr/>
          <p:nvPr/>
        </p:nvSpPr>
        <p:spPr>
          <a:xfrm>
            <a:off x="713232" y="2331720"/>
            <a:ext cx="457200" cy="320040"/>
          </a:xfrm>
          <a:prstGeom prst="rect">
            <a:avLst/>
          </a:prstGeom>
          <a:noFill/>
          <a:ln/>
        </p:spPr>
        <p:txBody>
          <a:bodyPr wrap="square" lIns="0" tIns="0" rIns="0" bIns="0" rtlCol="0" anchor="ctr">
            <a:normAutofit/>
          </a:bodyPr>
          <a:lstStyle/>
          <a:p>
            <a:pPr algn="l" indent="0" marL="0">
              <a:buNone/>
            </a:pPr>
            <a:r>
              <a:rPr lang="en-US" sz="1800" b="1" dirty="0">
                <a:solidFill>
                  <a:srgbClr val="41D9FF"/>
                </a:solidFill>
                <a:latin typeface="Aptos Display" pitchFamily="34" charset="0"/>
                <a:ea typeface="Aptos Display" pitchFamily="34" charset="-122"/>
                <a:cs typeface="Aptos Display" pitchFamily="34" charset="-120"/>
              </a:rPr>
              <a:t>01</a:t>
            </a:r>
            <a:endParaRPr lang="en-US" sz="1800" dirty="0"/>
          </a:p>
        </p:txBody>
      </p:sp>
      <p:sp>
        <p:nvSpPr>
          <p:cNvPr id="7" name="Text 5"/>
          <p:cNvSpPr/>
          <p:nvPr/>
        </p:nvSpPr>
        <p:spPr>
          <a:xfrm>
            <a:off x="713232" y="2798064"/>
            <a:ext cx="1261872" cy="274320"/>
          </a:xfrm>
          <a:prstGeom prst="rect">
            <a:avLst/>
          </a:prstGeom>
          <a:noFill/>
          <a:ln/>
        </p:spPr>
        <p:txBody>
          <a:bodyPr wrap="square" lIns="0" tIns="0" rIns="0" bIns="0" rtlCol="0" anchor="ctr">
            <a:normAutofit/>
          </a:bodyPr>
          <a:lstStyle/>
          <a:p>
            <a:pPr algn="l" indent="0" marL="0">
              <a:buNone/>
            </a:pPr>
            <a:r>
              <a:rPr lang="en-US" sz="1100" b="1" dirty="0">
                <a:solidFill>
                  <a:srgbClr val="F4F8FA"/>
                </a:solidFill>
                <a:latin typeface="Aptos" pitchFamily="34" charset="0"/>
                <a:ea typeface="Aptos" pitchFamily="34" charset="-122"/>
                <a:cs typeface="Aptos" pitchFamily="34" charset="-120"/>
              </a:rPr>
              <a:t>CHOOSE</a:t>
            </a:r>
            <a:endParaRPr lang="en-US" sz="1100" dirty="0"/>
          </a:p>
        </p:txBody>
      </p:sp>
      <p:sp>
        <p:nvSpPr>
          <p:cNvPr id="8" name="Text 6"/>
          <p:cNvSpPr/>
          <p:nvPr/>
        </p:nvSpPr>
        <p:spPr>
          <a:xfrm>
            <a:off x="713232" y="3218688"/>
            <a:ext cx="1234440" cy="694944"/>
          </a:xfrm>
          <a:prstGeom prst="rect">
            <a:avLst/>
          </a:prstGeom>
          <a:noFill/>
          <a:ln/>
        </p:spPr>
        <p:txBody>
          <a:bodyPr wrap="square" lIns="0" tIns="0" rIns="0" bIns="0" rtlCol="0" anchor="t">
            <a:normAutofit/>
          </a:bodyPr>
          <a:lstStyle/>
          <a:p>
            <a:pPr algn="l" indent="0" marL="0">
              <a:buNone/>
            </a:pPr>
            <a:r>
              <a:rPr lang="en-US" sz="950" dirty="0">
                <a:solidFill>
                  <a:srgbClr val="A7BBC5"/>
                </a:solidFill>
                <a:latin typeface="Aptos" pitchFamily="34" charset="0"/>
                <a:ea typeface="Aptos" pitchFamily="34" charset="-122"/>
                <a:cs typeface="Aptos" pitchFamily="34" charset="-120"/>
              </a:rPr>
              <a:t>Pick a location + time window</a:t>
            </a:r>
            <a:endParaRPr lang="en-US" sz="950" dirty="0"/>
          </a:p>
        </p:txBody>
      </p:sp>
      <p:sp>
        <p:nvSpPr>
          <p:cNvPr id="9" name="Shape 7"/>
          <p:cNvSpPr/>
          <p:nvPr/>
        </p:nvSpPr>
        <p:spPr>
          <a:xfrm>
            <a:off x="2194560" y="3227832"/>
            <a:ext cx="182880" cy="0"/>
          </a:xfrm>
          <a:prstGeom prst="line">
            <a:avLst/>
          </a:prstGeom>
          <a:noFill/>
          <a:ln w="19050">
            <a:solidFill>
              <a:srgbClr val="1479FF"/>
            </a:solidFill>
            <a:prstDash val="solid"/>
            <a:headEnd type="none"/>
            <a:tailEnd type="none"/>
          </a:ln>
        </p:spPr>
      </p:sp>
      <p:sp>
        <p:nvSpPr>
          <p:cNvPr id="10" name="Shape 8"/>
          <p:cNvSpPr/>
          <p:nvPr/>
        </p:nvSpPr>
        <p:spPr>
          <a:xfrm>
            <a:off x="2404872" y="2103120"/>
            <a:ext cx="1627632" cy="2340864"/>
          </a:xfrm>
          <a:prstGeom prst="roundRect">
            <a:avLst>
              <a:gd name="adj" fmla="val 6742"/>
            </a:avLst>
          </a:prstGeom>
          <a:solidFill>
            <a:srgbClr val="0D202C"/>
          </a:solidFill>
          <a:ln w="12700">
            <a:solidFill>
              <a:srgbClr val="102938">
                <a:alpha val="65000"/>
              </a:srgbClr>
            </a:solidFill>
            <a:prstDash val="solid"/>
          </a:ln>
        </p:spPr>
      </p:sp>
      <p:sp>
        <p:nvSpPr>
          <p:cNvPr id="11" name="Text 9"/>
          <p:cNvSpPr/>
          <p:nvPr/>
        </p:nvSpPr>
        <p:spPr>
          <a:xfrm>
            <a:off x="2569464" y="2331720"/>
            <a:ext cx="457200" cy="320040"/>
          </a:xfrm>
          <a:prstGeom prst="rect">
            <a:avLst/>
          </a:prstGeom>
          <a:noFill/>
          <a:ln/>
        </p:spPr>
        <p:txBody>
          <a:bodyPr wrap="square" lIns="0" tIns="0" rIns="0" bIns="0" rtlCol="0" anchor="ctr">
            <a:normAutofit/>
          </a:bodyPr>
          <a:lstStyle/>
          <a:p>
            <a:pPr algn="l" indent="0" marL="0">
              <a:buNone/>
            </a:pPr>
            <a:r>
              <a:rPr lang="en-US" sz="1800" b="1" dirty="0">
                <a:solidFill>
                  <a:srgbClr val="41D9FF"/>
                </a:solidFill>
                <a:latin typeface="Aptos Display" pitchFamily="34" charset="0"/>
                <a:ea typeface="Aptos Display" pitchFamily="34" charset="-122"/>
                <a:cs typeface="Aptos Display" pitchFamily="34" charset="-120"/>
              </a:rPr>
              <a:t>02</a:t>
            </a:r>
            <a:endParaRPr lang="en-US" sz="1800" dirty="0"/>
          </a:p>
        </p:txBody>
      </p:sp>
      <p:sp>
        <p:nvSpPr>
          <p:cNvPr id="12" name="Text 10"/>
          <p:cNvSpPr/>
          <p:nvPr/>
        </p:nvSpPr>
        <p:spPr>
          <a:xfrm>
            <a:off x="2569464" y="2798064"/>
            <a:ext cx="1261872" cy="274320"/>
          </a:xfrm>
          <a:prstGeom prst="rect">
            <a:avLst/>
          </a:prstGeom>
          <a:noFill/>
          <a:ln/>
        </p:spPr>
        <p:txBody>
          <a:bodyPr wrap="square" lIns="0" tIns="0" rIns="0" bIns="0" rtlCol="0" anchor="ctr">
            <a:normAutofit/>
          </a:bodyPr>
          <a:lstStyle/>
          <a:p>
            <a:pPr algn="l" indent="0" marL="0">
              <a:buNone/>
            </a:pPr>
            <a:r>
              <a:rPr lang="en-US" sz="1100" b="1" dirty="0">
                <a:solidFill>
                  <a:srgbClr val="F4F8FA"/>
                </a:solidFill>
                <a:latin typeface="Aptos" pitchFamily="34" charset="0"/>
                <a:ea typeface="Aptos" pitchFamily="34" charset="-122"/>
                <a:cs typeface="Aptos" pitchFamily="34" charset="-120"/>
              </a:rPr>
              <a:t>SELECT</a:t>
            </a:r>
            <a:endParaRPr lang="en-US" sz="1100" dirty="0"/>
          </a:p>
        </p:txBody>
      </p:sp>
      <p:sp>
        <p:nvSpPr>
          <p:cNvPr id="13" name="Text 11"/>
          <p:cNvSpPr/>
          <p:nvPr/>
        </p:nvSpPr>
        <p:spPr>
          <a:xfrm>
            <a:off x="2569464" y="3218688"/>
            <a:ext cx="1234440" cy="694944"/>
          </a:xfrm>
          <a:prstGeom prst="rect">
            <a:avLst/>
          </a:prstGeom>
          <a:noFill/>
          <a:ln/>
        </p:spPr>
        <p:txBody>
          <a:bodyPr wrap="square" lIns="0" tIns="0" rIns="0" bIns="0" rtlCol="0" anchor="t">
            <a:normAutofit/>
          </a:bodyPr>
          <a:lstStyle/>
          <a:p>
            <a:pPr algn="l" indent="0" marL="0">
              <a:buNone/>
            </a:pPr>
            <a:r>
              <a:rPr lang="en-US" sz="950" dirty="0">
                <a:solidFill>
                  <a:srgbClr val="A7BBC5"/>
                </a:solidFill>
                <a:latin typeface="Aptos" pitchFamily="34" charset="0"/>
                <a:ea typeface="Aptos" pitchFamily="34" charset="-122"/>
                <a:cs typeface="Aptos" pitchFamily="34" charset="-120"/>
              </a:rPr>
              <a:t>Choose a variable and indicator</a:t>
            </a:r>
            <a:endParaRPr lang="en-US" sz="950" dirty="0"/>
          </a:p>
        </p:txBody>
      </p:sp>
      <p:sp>
        <p:nvSpPr>
          <p:cNvPr id="14" name="Shape 12"/>
          <p:cNvSpPr/>
          <p:nvPr/>
        </p:nvSpPr>
        <p:spPr>
          <a:xfrm>
            <a:off x="4050792" y="3227832"/>
            <a:ext cx="182880" cy="0"/>
          </a:xfrm>
          <a:prstGeom prst="line">
            <a:avLst/>
          </a:prstGeom>
          <a:noFill/>
          <a:ln w="19050">
            <a:solidFill>
              <a:srgbClr val="1479FF"/>
            </a:solidFill>
            <a:prstDash val="solid"/>
            <a:headEnd type="none"/>
            <a:tailEnd type="none"/>
          </a:ln>
        </p:spPr>
      </p:sp>
      <p:sp>
        <p:nvSpPr>
          <p:cNvPr id="15" name="Shape 13"/>
          <p:cNvSpPr/>
          <p:nvPr/>
        </p:nvSpPr>
        <p:spPr>
          <a:xfrm>
            <a:off x="4261104" y="2103120"/>
            <a:ext cx="1627632" cy="2340864"/>
          </a:xfrm>
          <a:prstGeom prst="roundRect">
            <a:avLst>
              <a:gd name="adj" fmla="val 6742"/>
            </a:avLst>
          </a:prstGeom>
          <a:solidFill>
            <a:srgbClr val="0D202C"/>
          </a:solidFill>
          <a:ln w="12700">
            <a:solidFill>
              <a:srgbClr val="102938">
                <a:alpha val="65000"/>
              </a:srgbClr>
            </a:solidFill>
            <a:prstDash val="solid"/>
          </a:ln>
        </p:spPr>
      </p:sp>
      <p:sp>
        <p:nvSpPr>
          <p:cNvPr id="16" name="Text 14"/>
          <p:cNvSpPr/>
          <p:nvPr/>
        </p:nvSpPr>
        <p:spPr>
          <a:xfrm>
            <a:off x="4425696" y="2331720"/>
            <a:ext cx="457200" cy="320040"/>
          </a:xfrm>
          <a:prstGeom prst="rect">
            <a:avLst/>
          </a:prstGeom>
          <a:noFill/>
          <a:ln/>
        </p:spPr>
        <p:txBody>
          <a:bodyPr wrap="square" lIns="0" tIns="0" rIns="0" bIns="0" rtlCol="0" anchor="ctr">
            <a:normAutofit/>
          </a:bodyPr>
          <a:lstStyle/>
          <a:p>
            <a:pPr algn="l" indent="0" marL="0">
              <a:buNone/>
            </a:pPr>
            <a:r>
              <a:rPr lang="en-US" sz="1800" b="1" dirty="0">
                <a:solidFill>
                  <a:srgbClr val="41D9FF"/>
                </a:solidFill>
                <a:latin typeface="Aptos Display" pitchFamily="34" charset="0"/>
                <a:ea typeface="Aptos Display" pitchFamily="34" charset="-122"/>
                <a:cs typeface="Aptos Display" pitchFamily="34" charset="-120"/>
              </a:rPr>
              <a:t>03</a:t>
            </a:r>
            <a:endParaRPr lang="en-US" sz="1800" dirty="0"/>
          </a:p>
        </p:txBody>
      </p:sp>
      <p:sp>
        <p:nvSpPr>
          <p:cNvPr id="17" name="Text 15"/>
          <p:cNvSpPr/>
          <p:nvPr/>
        </p:nvSpPr>
        <p:spPr>
          <a:xfrm>
            <a:off x="4425696" y="2798064"/>
            <a:ext cx="1261872" cy="274320"/>
          </a:xfrm>
          <a:prstGeom prst="rect">
            <a:avLst/>
          </a:prstGeom>
          <a:noFill/>
          <a:ln/>
        </p:spPr>
        <p:txBody>
          <a:bodyPr wrap="square" lIns="0" tIns="0" rIns="0" bIns="0" rtlCol="0" anchor="ctr">
            <a:normAutofit/>
          </a:bodyPr>
          <a:lstStyle/>
          <a:p>
            <a:pPr algn="l" indent="0" marL="0">
              <a:buNone/>
            </a:pPr>
            <a:r>
              <a:rPr lang="en-US" sz="1100" b="1" dirty="0">
                <a:solidFill>
                  <a:srgbClr val="F4F8FA"/>
                </a:solidFill>
                <a:latin typeface="Aptos" pitchFamily="34" charset="0"/>
                <a:ea typeface="Aptos" pitchFamily="34" charset="-122"/>
                <a:cs typeface="Aptos" pitchFamily="34" charset="-120"/>
              </a:rPr>
              <a:t>SET</a:t>
            </a:r>
            <a:endParaRPr lang="en-US" sz="1100" dirty="0"/>
          </a:p>
        </p:txBody>
      </p:sp>
      <p:sp>
        <p:nvSpPr>
          <p:cNvPr id="18" name="Text 16"/>
          <p:cNvSpPr/>
          <p:nvPr/>
        </p:nvSpPr>
        <p:spPr>
          <a:xfrm>
            <a:off x="4425696" y="3218688"/>
            <a:ext cx="1234440" cy="694944"/>
          </a:xfrm>
          <a:prstGeom prst="rect">
            <a:avLst/>
          </a:prstGeom>
          <a:noFill/>
          <a:ln/>
        </p:spPr>
        <p:txBody>
          <a:bodyPr wrap="square" lIns="0" tIns="0" rIns="0" bIns="0" rtlCol="0" anchor="t">
            <a:normAutofit/>
          </a:bodyPr>
          <a:lstStyle/>
          <a:p>
            <a:pPr algn="l" indent="0" marL="0">
              <a:buNone/>
            </a:pPr>
            <a:r>
              <a:rPr lang="en-US" sz="950" dirty="0">
                <a:solidFill>
                  <a:srgbClr val="A7BBC5"/>
                </a:solidFill>
                <a:latin typeface="Aptos" pitchFamily="34" charset="0"/>
                <a:ea typeface="Aptos" pitchFamily="34" charset="-122"/>
                <a:cs typeface="Aptos" pitchFamily="34" charset="-120"/>
              </a:rPr>
              <a:t>Apply completeness + baseline rules</a:t>
            </a:r>
            <a:endParaRPr lang="en-US" sz="950" dirty="0"/>
          </a:p>
        </p:txBody>
      </p:sp>
      <p:sp>
        <p:nvSpPr>
          <p:cNvPr id="19" name="Shape 17"/>
          <p:cNvSpPr/>
          <p:nvPr/>
        </p:nvSpPr>
        <p:spPr>
          <a:xfrm>
            <a:off x="5907024" y="3227832"/>
            <a:ext cx="182880" cy="0"/>
          </a:xfrm>
          <a:prstGeom prst="line">
            <a:avLst/>
          </a:prstGeom>
          <a:noFill/>
          <a:ln w="19050">
            <a:solidFill>
              <a:srgbClr val="1479FF"/>
            </a:solidFill>
            <a:prstDash val="solid"/>
            <a:headEnd type="none"/>
            <a:tailEnd type="none"/>
          </a:ln>
        </p:spPr>
      </p:sp>
      <p:sp>
        <p:nvSpPr>
          <p:cNvPr id="20" name="Shape 18"/>
          <p:cNvSpPr/>
          <p:nvPr/>
        </p:nvSpPr>
        <p:spPr>
          <a:xfrm>
            <a:off x="6117336" y="2103120"/>
            <a:ext cx="1627632" cy="2340864"/>
          </a:xfrm>
          <a:prstGeom prst="roundRect">
            <a:avLst>
              <a:gd name="adj" fmla="val 6742"/>
            </a:avLst>
          </a:prstGeom>
          <a:solidFill>
            <a:srgbClr val="0D202C"/>
          </a:solidFill>
          <a:ln w="12700">
            <a:solidFill>
              <a:srgbClr val="102938">
                <a:alpha val="65000"/>
              </a:srgbClr>
            </a:solidFill>
            <a:prstDash val="solid"/>
          </a:ln>
        </p:spPr>
      </p:sp>
      <p:sp>
        <p:nvSpPr>
          <p:cNvPr id="21" name="Text 19"/>
          <p:cNvSpPr/>
          <p:nvPr/>
        </p:nvSpPr>
        <p:spPr>
          <a:xfrm>
            <a:off x="6281928" y="2331720"/>
            <a:ext cx="457200" cy="320040"/>
          </a:xfrm>
          <a:prstGeom prst="rect">
            <a:avLst/>
          </a:prstGeom>
          <a:noFill/>
          <a:ln/>
        </p:spPr>
        <p:txBody>
          <a:bodyPr wrap="square" lIns="0" tIns="0" rIns="0" bIns="0" rtlCol="0" anchor="ctr">
            <a:normAutofit/>
          </a:bodyPr>
          <a:lstStyle/>
          <a:p>
            <a:pPr algn="l" indent="0" marL="0">
              <a:buNone/>
            </a:pPr>
            <a:r>
              <a:rPr lang="en-US" sz="1800" b="1" dirty="0">
                <a:solidFill>
                  <a:srgbClr val="41D9FF"/>
                </a:solidFill>
                <a:latin typeface="Aptos Display" pitchFamily="34" charset="0"/>
                <a:ea typeface="Aptos Display" pitchFamily="34" charset="-122"/>
                <a:cs typeface="Aptos Display" pitchFamily="34" charset="-120"/>
              </a:rPr>
              <a:t>04</a:t>
            </a:r>
            <a:endParaRPr lang="en-US" sz="1800" dirty="0"/>
          </a:p>
        </p:txBody>
      </p:sp>
      <p:sp>
        <p:nvSpPr>
          <p:cNvPr id="22" name="Text 20"/>
          <p:cNvSpPr/>
          <p:nvPr/>
        </p:nvSpPr>
        <p:spPr>
          <a:xfrm>
            <a:off x="6281928" y="2798064"/>
            <a:ext cx="1261872" cy="274320"/>
          </a:xfrm>
          <a:prstGeom prst="rect">
            <a:avLst/>
          </a:prstGeom>
          <a:noFill/>
          <a:ln/>
        </p:spPr>
        <p:txBody>
          <a:bodyPr wrap="square" lIns="0" tIns="0" rIns="0" bIns="0" rtlCol="0" anchor="ctr">
            <a:normAutofit/>
          </a:bodyPr>
          <a:lstStyle/>
          <a:p>
            <a:pPr algn="l" indent="0" marL="0">
              <a:buNone/>
            </a:pPr>
            <a:r>
              <a:rPr lang="en-US" sz="1100" b="1" dirty="0">
                <a:solidFill>
                  <a:srgbClr val="F4F8FA"/>
                </a:solidFill>
                <a:latin typeface="Aptos" pitchFamily="34" charset="0"/>
                <a:ea typeface="Aptos" pitchFamily="34" charset="-122"/>
                <a:cs typeface="Aptos" pitchFamily="34" charset="-120"/>
              </a:rPr>
              <a:t>INSPECT</a:t>
            </a:r>
            <a:endParaRPr lang="en-US" sz="1100" dirty="0"/>
          </a:p>
        </p:txBody>
      </p:sp>
      <p:sp>
        <p:nvSpPr>
          <p:cNvPr id="23" name="Text 21"/>
          <p:cNvSpPr/>
          <p:nvPr/>
        </p:nvSpPr>
        <p:spPr>
          <a:xfrm>
            <a:off x="6281928" y="3218688"/>
            <a:ext cx="1234440" cy="694944"/>
          </a:xfrm>
          <a:prstGeom prst="rect">
            <a:avLst/>
          </a:prstGeom>
          <a:noFill/>
          <a:ln/>
        </p:spPr>
        <p:txBody>
          <a:bodyPr wrap="square" lIns="0" tIns="0" rIns="0" bIns="0" rtlCol="0" anchor="t">
            <a:normAutofit/>
          </a:bodyPr>
          <a:lstStyle/>
          <a:p>
            <a:pPr algn="l" indent="0" marL="0">
              <a:buNone/>
            </a:pPr>
            <a:r>
              <a:rPr lang="en-US" sz="950" dirty="0">
                <a:solidFill>
                  <a:srgbClr val="A7BBC5"/>
                </a:solidFill>
                <a:latin typeface="Aptos" pitchFamily="34" charset="0"/>
                <a:ea typeface="Aptos" pitchFamily="34" charset="-122"/>
                <a:cs typeface="Aptos" pitchFamily="34" charset="-120"/>
              </a:rPr>
              <a:t>Build annual series + trend</a:t>
            </a:r>
            <a:endParaRPr lang="en-US" sz="950" dirty="0"/>
          </a:p>
        </p:txBody>
      </p:sp>
      <p:sp>
        <p:nvSpPr>
          <p:cNvPr id="24" name="Shape 22"/>
          <p:cNvSpPr/>
          <p:nvPr/>
        </p:nvSpPr>
        <p:spPr>
          <a:xfrm>
            <a:off x="7763256" y="3227832"/>
            <a:ext cx="182880" cy="0"/>
          </a:xfrm>
          <a:prstGeom prst="line">
            <a:avLst/>
          </a:prstGeom>
          <a:noFill/>
          <a:ln w="19050">
            <a:solidFill>
              <a:srgbClr val="1479FF"/>
            </a:solidFill>
            <a:prstDash val="solid"/>
            <a:headEnd type="none"/>
            <a:tailEnd type="none"/>
          </a:ln>
        </p:spPr>
      </p:sp>
      <p:sp>
        <p:nvSpPr>
          <p:cNvPr id="25" name="Shape 23"/>
          <p:cNvSpPr/>
          <p:nvPr/>
        </p:nvSpPr>
        <p:spPr>
          <a:xfrm>
            <a:off x="7973568" y="2103120"/>
            <a:ext cx="1627632" cy="2340864"/>
          </a:xfrm>
          <a:prstGeom prst="roundRect">
            <a:avLst>
              <a:gd name="adj" fmla="val 6742"/>
            </a:avLst>
          </a:prstGeom>
          <a:solidFill>
            <a:srgbClr val="0D202C"/>
          </a:solidFill>
          <a:ln w="12700">
            <a:solidFill>
              <a:srgbClr val="102938">
                <a:alpha val="65000"/>
              </a:srgbClr>
            </a:solidFill>
            <a:prstDash val="solid"/>
          </a:ln>
        </p:spPr>
      </p:sp>
      <p:sp>
        <p:nvSpPr>
          <p:cNvPr id="26" name="Text 24"/>
          <p:cNvSpPr/>
          <p:nvPr/>
        </p:nvSpPr>
        <p:spPr>
          <a:xfrm>
            <a:off x="8138160" y="2331720"/>
            <a:ext cx="457200" cy="320040"/>
          </a:xfrm>
          <a:prstGeom prst="rect">
            <a:avLst/>
          </a:prstGeom>
          <a:noFill/>
          <a:ln/>
        </p:spPr>
        <p:txBody>
          <a:bodyPr wrap="square" lIns="0" tIns="0" rIns="0" bIns="0" rtlCol="0" anchor="ctr">
            <a:normAutofit/>
          </a:bodyPr>
          <a:lstStyle/>
          <a:p>
            <a:pPr algn="l" indent="0" marL="0">
              <a:buNone/>
            </a:pPr>
            <a:r>
              <a:rPr lang="en-US" sz="1800" b="1" dirty="0">
                <a:solidFill>
                  <a:srgbClr val="41D9FF"/>
                </a:solidFill>
                <a:latin typeface="Aptos Display" pitchFamily="34" charset="0"/>
                <a:ea typeface="Aptos Display" pitchFamily="34" charset="-122"/>
                <a:cs typeface="Aptos Display" pitchFamily="34" charset="-120"/>
              </a:rPr>
              <a:t>05</a:t>
            </a:r>
            <a:endParaRPr lang="en-US" sz="1800" dirty="0"/>
          </a:p>
        </p:txBody>
      </p:sp>
      <p:sp>
        <p:nvSpPr>
          <p:cNvPr id="27" name="Text 25"/>
          <p:cNvSpPr/>
          <p:nvPr/>
        </p:nvSpPr>
        <p:spPr>
          <a:xfrm>
            <a:off x="8138160" y="2798064"/>
            <a:ext cx="1261872" cy="274320"/>
          </a:xfrm>
          <a:prstGeom prst="rect">
            <a:avLst/>
          </a:prstGeom>
          <a:noFill/>
          <a:ln/>
        </p:spPr>
        <p:txBody>
          <a:bodyPr wrap="square" lIns="0" tIns="0" rIns="0" bIns="0" rtlCol="0" anchor="ctr">
            <a:normAutofit/>
          </a:bodyPr>
          <a:lstStyle/>
          <a:p>
            <a:pPr algn="l" indent="0" marL="0">
              <a:buNone/>
            </a:pPr>
            <a:r>
              <a:rPr lang="en-US" sz="1100" b="1" dirty="0">
                <a:solidFill>
                  <a:srgbClr val="F4F8FA"/>
                </a:solidFill>
                <a:latin typeface="Aptos" pitchFamily="34" charset="0"/>
                <a:ea typeface="Aptos" pitchFamily="34" charset="-122"/>
                <a:cs typeface="Aptos" pitchFamily="34" charset="-120"/>
              </a:rPr>
              <a:t>VERIFY</a:t>
            </a:r>
            <a:endParaRPr lang="en-US" sz="1100" dirty="0"/>
          </a:p>
        </p:txBody>
      </p:sp>
      <p:sp>
        <p:nvSpPr>
          <p:cNvPr id="28" name="Text 26"/>
          <p:cNvSpPr/>
          <p:nvPr/>
        </p:nvSpPr>
        <p:spPr>
          <a:xfrm>
            <a:off x="8138160" y="3218688"/>
            <a:ext cx="1234440" cy="694944"/>
          </a:xfrm>
          <a:prstGeom prst="rect">
            <a:avLst/>
          </a:prstGeom>
          <a:noFill/>
          <a:ln/>
        </p:spPr>
        <p:txBody>
          <a:bodyPr wrap="square" lIns="0" tIns="0" rIns="0" bIns="0" rtlCol="0" anchor="t">
            <a:normAutofit/>
          </a:bodyPr>
          <a:lstStyle/>
          <a:p>
            <a:pPr algn="l" indent="0" marL="0">
              <a:buNone/>
            </a:pPr>
            <a:r>
              <a:rPr lang="en-US" sz="950" dirty="0">
                <a:solidFill>
                  <a:srgbClr val="A7BBC5"/>
                </a:solidFill>
                <a:latin typeface="Aptos" pitchFamily="34" charset="0"/>
                <a:ea typeface="Aptos" pitchFamily="34" charset="-122"/>
                <a:cs typeface="Aptos" pitchFamily="34" charset="-120"/>
              </a:rPr>
              <a:t>Check significance + spatial consistency</a:t>
            </a:r>
            <a:endParaRPr lang="en-US" sz="950" dirty="0"/>
          </a:p>
        </p:txBody>
      </p:sp>
      <p:sp>
        <p:nvSpPr>
          <p:cNvPr id="29" name="Shape 27"/>
          <p:cNvSpPr/>
          <p:nvPr/>
        </p:nvSpPr>
        <p:spPr>
          <a:xfrm>
            <a:off x="9619488" y="3227832"/>
            <a:ext cx="182880" cy="0"/>
          </a:xfrm>
          <a:prstGeom prst="line">
            <a:avLst/>
          </a:prstGeom>
          <a:noFill/>
          <a:ln w="19050">
            <a:solidFill>
              <a:srgbClr val="1479FF"/>
            </a:solidFill>
            <a:prstDash val="solid"/>
            <a:headEnd type="none"/>
            <a:tailEnd type="none"/>
          </a:ln>
        </p:spPr>
      </p:sp>
      <p:sp>
        <p:nvSpPr>
          <p:cNvPr id="30" name="Shape 28"/>
          <p:cNvSpPr/>
          <p:nvPr/>
        </p:nvSpPr>
        <p:spPr>
          <a:xfrm>
            <a:off x="9829800" y="2103120"/>
            <a:ext cx="1627632" cy="2340864"/>
          </a:xfrm>
          <a:prstGeom prst="roundRect">
            <a:avLst>
              <a:gd name="adj" fmla="val 6742"/>
            </a:avLst>
          </a:prstGeom>
          <a:solidFill>
            <a:srgbClr val="132A36"/>
          </a:solidFill>
          <a:ln w="12700">
            <a:solidFill>
              <a:srgbClr val="102938">
                <a:alpha val="65000"/>
              </a:srgbClr>
            </a:solidFill>
            <a:prstDash val="solid"/>
          </a:ln>
        </p:spPr>
      </p:sp>
      <p:sp>
        <p:nvSpPr>
          <p:cNvPr id="31" name="Text 29"/>
          <p:cNvSpPr/>
          <p:nvPr/>
        </p:nvSpPr>
        <p:spPr>
          <a:xfrm>
            <a:off x="9994392" y="2331720"/>
            <a:ext cx="457200" cy="320040"/>
          </a:xfrm>
          <a:prstGeom prst="rect">
            <a:avLst/>
          </a:prstGeom>
          <a:noFill/>
          <a:ln/>
        </p:spPr>
        <p:txBody>
          <a:bodyPr wrap="square" lIns="0" tIns="0" rIns="0" bIns="0" rtlCol="0" anchor="ctr">
            <a:normAutofit/>
          </a:bodyPr>
          <a:lstStyle/>
          <a:p>
            <a:pPr algn="l" indent="0" marL="0">
              <a:buNone/>
            </a:pPr>
            <a:r>
              <a:rPr lang="en-US" sz="1800" b="1" dirty="0">
                <a:solidFill>
                  <a:srgbClr val="F2E84A"/>
                </a:solidFill>
                <a:latin typeface="Aptos Display" pitchFamily="34" charset="0"/>
                <a:ea typeface="Aptos Display" pitchFamily="34" charset="-122"/>
                <a:cs typeface="Aptos Display" pitchFamily="34" charset="-120"/>
              </a:rPr>
              <a:t>06</a:t>
            </a:r>
            <a:endParaRPr lang="en-US" sz="1800" dirty="0"/>
          </a:p>
        </p:txBody>
      </p:sp>
      <p:sp>
        <p:nvSpPr>
          <p:cNvPr id="32" name="Text 30"/>
          <p:cNvSpPr/>
          <p:nvPr/>
        </p:nvSpPr>
        <p:spPr>
          <a:xfrm>
            <a:off x="9994392" y="2798064"/>
            <a:ext cx="1261872" cy="274320"/>
          </a:xfrm>
          <a:prstGeom prst="rect">
            <a:avLst/>
          </a:prstGeom>
          <a:noFill/>
          <a:ln/>
        </p:spPr>
        <p:txBody>
          <a:bodyPr wrap="square" lIns="0" tIns="0" rIns="0" bIns="0" rtlCol="0" anchor="ctr">
            <a:normAutofit/>
          </a:bodyPr>
          <a:lstStyle/>
          <a:p>
            <a:pPr algn="l" indent="0" marL="0">
              <a:buNone/>
            </a:pPr>
            <a:r>
              <a:rPr lang="en-US" sz="1100" b="1" dirty="0">
                <a:solidFill>
                  <a:srgbClr val="F4F8FA"/>
                </a:solidFill>
                <a:latin typeface="Aptos" pitchFamily="34" charset="0"/>
                <a:ea typeface="Aptos" pitchFamily="34" charset="-122"/>
                <a:cs typeface="Aptos" pitchFamily="34" charset="-120"/>
              </a:rPr>
              <a:t>REPLAY</a:t>
            </a:r>
            <a:endParaRPr lang="en-US" sz="1100" dirty="0"/>
          </a:p>
        </p:txBody>
      </p:sp>
      <p:sp>
        <p:nvSpPr>
          <p:cNvPr id="33" name="Text 31"/>
          <p:cNvSpPr/>
          <p:nvPr/>
        </p:nvSpPr>
        <p:spPr>
          <a:xfrm>
            <a:off x="9994392" y="3218688"/>
            <a:ext cx="1234440" cy="694944"/>
          </a:xfrm>
          <a:prstGeom prst="rect">
            <a:avLst/>
          </a:prstGeom>
          <a:noFill/>
          <a:ln/>
        </p:spPr>
        <p:txBody>
          <a:bodyPr wrap="square" lIns="0" tIns="0" rIns="0" bIns="0" rtlCol="0" anchor="t">
            <a:normAutofit/>
          </a:bodyPr>
          <a:lstStyle/>
          <a:p>
            <a:pPr algn="l" indent="0" marL="0">
              <a:buNone/>
            </a:pPr>
            <a:r>
              <a:rPr lang="en-US" sz="950" dirty="0">
                <a:solidFill>
                  <a:srgbClr val="A7BBC5"/>
                </a:solidFill>
                <a:latin typeface="Aptos" pitchFamily="34" charset="0"/>
                <a:ea typeface="Aptos" pitchFamily="34" charset="-122"/>
                <a:cs typeface="Aptos" pitchFamily="34" charset="-120"/>
              </a:rPr>
              <a:t>Export the evidence trail</a:t>
            </a:r>
            <a:endParaRPr lang="en-US" sz="950" dirty="0"/>
          </a:p>
        </p:txBody>
      </p:sp>
      <p:sp>
        <p:nvSpPr>
          <p:cNvPr id="34" name="Shape 32"/>
          <p:cNvSpPr/>
          <p:nvPr/>
        </p:nvSpPr>
        <p:spPr>
          <a:xfrm>
            <a:off x="1764792" y="5239512"/>
            <a:ext cx="768096" cy="768096"/>
          </a:xfrm>
          <a:prstGeom prst="ellipse">
            <a:avLst/>
          </a:prstGeom>
          <a:solidFill>
            <a:srgbClr val="0B3651"/>
          </a:solidFill>
          <a:ln w="25400">
            <a:solidFill>
              <a:srgbClr val="1479FF">
                <a:alpha val="80000"/>
              </a:srgbClr>
            </a:solidFill>
            <a:prstDash val="solid"/>
          </a:ln>
        </p:spPr>
      </p:sp>
      <p:sp>
        <p:nvSpPr>
          <p:cNvPr id="35" name="Shape 33"/>
          <p:cNvSpPr/>
          <p:nvPr/>
        </p:nvSpPr>
        <p:spPr>
          <a:xfrm>
            <a:off x="1872325" y="5354726"/>
            <a:ext cx="553029" cy="537667"/>
          </a:xfrm>
          <a:prstGeom prst="ellipse">
            <a:avLst/>
          </a:prstGeom>
          <a:solidFill>
            <a:srgbClr val="114C70">
              <a:alpha val="58000"/>
            </a:srgbClr>
          </a:solidFill>
          <a:ln w="10160">
            <a:solidFill>
              <a:srgbClr val="41D9FF">
                <a:alpha val="35000"/>
              </a:srgbClr>
            </a:solidFill>
            <a:prstDash val="solid"/>
          </a:ln>
        </p:spPr>
      </p:sp>
      <p:sp>
        <p:nvSpPr>
          <p:cNvPr id="36" name="Shape 34"/>
          <p:cNvSpPr/>
          <p:nvPr/>
        </p:nvSpPr>
        <p:spPr>
          <a:xfrm>
            <a:off x="1892808" y="5111496"/>
            <a:ext cx="512064" cy="0"/>
          </a:xfrm>
          <a:prstGeom prst="line">
            <a:avLst/>
          </a:prstGeom>
          <a:noFill/>
          <a:ln w="8890">
            <a:solidFill>
              <a:srgbClr val="2B5972">
                <a:alpha val="35000"/>
              </a:srgbClr>
            </a:solidFill>
            <a:prstDash val="solid"/>
            <a:headEnd type="none"/>
            <a:tailEnd type="none"/>
          </a:ln>
        </p:spPr>
      </p:sp>
      <p:sp>
        <p:nvSpPr>
          <p:cNvPr id="37" name="Shape 35"/>
          <p:cNvSpPr/>
          <p:nvPr/>
        </p:nvSpPr>
        <p:spPr>
          <a:xfrm>
            <a:off x="1892808" y="5367528"/>
            <a:ext cx="512064" cy="0"/>
          </a:xfrm>
          <a:prstGeom prst="line">
            <a:avLst/>
          </a:prstGeom>
          <a:noFill/>
          <a:ln w="8890">
            <a:solidFill>
              <a:srgbClr val="2B5972">
                <a:alpha val="35000"/>
              </a:srgbClr>
            </a:solidFill>
            <a:prstDash val="solid"/>
            <a:headEnd type="none"/>
            <a:tailEnd type="none"/>
          </a:ln>
        </p:spPr>
      </p:sp>
      <p:sp>
        <p:nvSpPr>
          <p:cNvPr id="38" name="Shape 36"/>
          <p:cNvSpPr/>
          <p:nvPr/>
        </p:nvSpPr>
        <p:spPr>
          <a:xfrm>
            <a:off x="1892808" y="5623560"/>
            <a:ext cx="512064" cy="0"/>
          </a:xfrm>
          <a:prstGeom prst="line">
            <a:avLst/>
          </a:prstGeom>
          <a:noFill/>
          <a:ln w="8890">
            <a:solidFill>
              <a:srgbClr val="2B5972">
                <a:alpha val="35000"/>
              </a:srgbClr>
            </a:solidFill>
            <a:prstDash val="solid"/>
            <a:headEnd type="none"/>
            <a:tailEnd type="none"/>
          </a:ln>
        </p:spPr>
      </p:sp>
      <p:sp>
        <p:nvSpPr>
          <p:cNvPr id="39" name="Shape 37"/>
          <p:cNvSpPr/>
          <p:nvPr/>
        </p:nvSpPr>
        <p:spPr>
          <a:xfrm>
            <a:off x="1892808" y="5879592"/>
            <a:ext cx="512064" cy="0"/>
          </a:xfrm>
          <a:prstGeom prst="line">
            <a:avLst/>
          </a:prstGeom>
          <a:noFill/>
          <a:ln w="8890">
            <a:solidFill>
              <a:srgbClr val="2B5972">
                <a:alpha val="35000"/>
              </a:srgbClr>
            </a:solidFill>
            <a:prstDash val="solid"/>
            <a:headEnd type="none"/>
            <a:tailEnd type="none"/>
          </a:ln>
        </p:spPr>
      </p:sp>
      <p:sp>
        <p:nvSpPr>
          <p:cNvPr id="40" name="Shape 38"/>
          <p:cNvSpPr/>
          <p:nvPr/>
        </p:nvSpPr>
        <p:spPr>
          <a:xfrm>
            <a:off x="1892808" y="6135624"/>
            <a:ext cx="512064" cy="0"/>
          </a:xfrm>
          <a:prstGeom prst="line">
            <a:avLst/>
          </a:prstGeom>
          <a:noFill/>
          <a:ln w="8890">
            <a:solidFill>
              <a:srgbClr val="2B5972">
                <a:alpha val="35000"/>
              </a:srgbClr>
            </a:solidFill>
            <a:prstDash val="solid"/>
            <a:headEnd type="none"/>
            <a:tailEnd type="none"/>
          </a:ln>
        </p:spPr>
      </p:sp>
      <p:sp>
        <p:nvSpPr>
          <p:cNvPr id="41" name="Shape 39"/>
          <p:cNvSpPr/>
          <p:nvPr/>
        </p:nvSpPr>
        <p:spPr>
          <a:xfrm>
            <a:off x="2148840" y="5349240"/>
            <a:ext cx="0" cy="548640"/>
          </a:xfrm>
          <a:prstGeom prst="line">
            <a:avLst/>
          </a:prstGeom>
          <a:noFill/>
          <a:ln w="8890">
            <a:solidFill>
              <a:srgbClr val="2B5972">
                <a:alpha val="35000"/>
              </a:srgbClr>
            </a:solidFill>
            <a:prstDash val="solid"/>
            <a:headEnd type="none"/>
            <a:tailEnd type="none"/>
          </a:ln>
        </p:spPr>
      </p:sp>
      <p:sp>
        <p:nvSpPr>
          <p:cNvPr id="42" name="Shape 40"/>
          <p:cNvSpPr/>
          <p:nvPr/>
        </p:nvSpPr>
        <p:spPr>
          <a:xfrm>
            <a:off x="1964497" y="5492984"/>
            <a:ext cx="347472" cy="164592"/>
          </a:xfrm>
          <a:prstGeom prst="arc">
            <a:avLst/>
          </a:prstGeom>
          <a:solidFill>
            <a:srgbClr val="67E0A3">
              <a:alpha val="90000"/>
            </a:srgbClr>
          </a:solidFill>
          <a:ln w="12700">
            <a:solidFill>
              <a:srgbClr val="67E0A3">
                <a:alpha val="0"/>
              </a:srgbClr>
            </a:solidFill>
            <a:prstDash val="solid"/>
          </a:ln>
        </p:spPr>
      </p:sp>
      <p:sp>
        <p:nvSpPr>
          <p:cNvPr id="43" name="Shape 41"/>
          <p:cNvSpPr/>
          <p:nvPr/>
        </p:nvSpPr>
        <p:spPr>
          <a:xfrm>
            <a:off x="2064349" y="5604358"/>
            <a:ext cx="219456" cy="164592"/>
          </a:xfrm>
          <a:prstGeom prst="arc">
            <a:avLst/>
          </a:prstGeom>
          <a:solidFill>
            <a:srgbClr val="67E0A3">
              <a:alpha val="90000"/>
            </a:srgbClr>
          </a:solidFill>
          <a:ln w="12700">
            <a:solidFill>
              <a:srgbClr val="67E0A3">
                <a:alpha val="0"/>
              </a:srgbClr>
            </a:solidFill>
            <a:prstDash val="solid"/>
          </a:ln>
        </p:spPr>
      </p:sp>
      <p:sp>
        <p:nvSpPr>
          <p:cNvPr id="44" name="Shape 42"/>
          <p:cNvSpPr/>
          <p:nvPr/>
        </p:nvSpPr>
        <p:spPr>
          <a:xfrm>
            <a:off x="2206447" y="5485303"/>
            <a:ext cx="457200" cy="201168"/>
          </a:xfrm>
          <a:prstGeom prst="arc">
            <a:avLst/>
          </a:prstGeom>
          <a:solidFill>
            <a:srgbClr val="67E0A3">
              <a:alpha val="90000"/>
            </a:srgbClr>
          </a:solidFill>
          <a:ln w="12700">
            <a:solidFill>
              <a:srgbClr val="67E0A3">
                <a:alpha val="0"/>
              </a:srgbClr>
            </a:solidFill>
            <a:prstDash val="solid"/>
          </a:ln>
        </p:spPr>
      </p:sp>
      <p:sp>
        <p:nvSpPr>
          <p:cNvPr id="45" name="Shape 43"/>
          <p:cNvSpPr/>
          <p:nvPr/>
        </p:nvSpPr>
        <p:spPr>
          <a:xfrm>
            <a:off x="2264054" y="5642762"/>
            <a:ext cx="228600" cy="219456"/>
          </a:xfrm>
          <a:prstGeom prst="arc">
            <a:avLst/>
          </a:prstGeom>
          <a:solidFill>
            <a:srgbClr val="67E0A3">
              <a:alpha val="90000"/>
            </a:srgbClr>
          </a:solidFill>
          <a:ln w="12700">
            <a:solidFill>
              <a:srgbClr val="67E0A3">
                <a:alpha val="0"/>
              </a:srgbClr>
            </a:solidFill>
            <a:prstDash val="solid"/>
          </a:ln>
        </p:spPr>
      </p:sp>
      <p:sp>
        <p:nvSpPr>
          <p:cNvPr id="46" name="Shape 44"/>
          <p:cNvSpPr/>
          <p:nvPr/>
        </p:nvSpPr>
        <p:spPr>
          <a:xfrm>
            <a:off x="2102754" y="5708051"/>
            <a:ext cx="320040" cy="173736"/>
          </a:xfrm>
          <a:prstGeom prst="arc">
            <a:avLst/>
          </a:prstGeom>
          <a:solidFill>
            <a:srgbClr val="67E0A3">
              <a:alpha val="90000"/>
            </a:srgbClr>
          </a:solidFill>
          <a:ln w="12700">
            <a:solidFill>
              <a:srgbClr val="67E0A3">
                <a:alpha val="0"/>
              </a:srgbClr>
            </a:solidFill>
            <a:prstDash val="solid"/>
          </a:ln>
        </p:spPr>
      </p:sp>
      <p:sp>
        <p:nvSpPr>
          <p:cNvPr id="47" name="Shape 45"/>
          <p:cNvSpPr/>
          <p:nvPr/>
        </p:nvSpPr>
        <p:spPr>
          <a:xfrm>
            <a:off x="1918411" y="5585155"/>
            <a:ext cx="76810" cy="76810"/>
          </a:xfrm>
          <a:prstGeom prst="ellipse">
            <a:avLst/>
          </a:prstGeom>
          <a:solidFill>
            <a:srgbClr val="F2E84A"/>
          </a:solidFill>
          <a:ln w="12700">
            <a:solidFill>
              <a:srgbClr val="F2E84A">
                <a:alpha val="0"/>
              </a:srgbClr>
            </a:solidFill>
            <a:prstDash val="solid"/>
          </a:ln>
        </p:spPr>
      </p:sp>
      <p:sp>
        <p:nvSpPr>
          <p:cNvPr id="48" name="Text 46"/>
          <p:cNvSpPr/>
          <p:nvPr/>
        </p:nvSpPr>
        <p:spPr>
          <a:xfrm>
            <a:off x="2816352" y="5440680"/>
            <a:ext cx="8183880" cy="384048"/>
          </a:xfrm>
          <a:prstGeom prst="rect">
            <a:avLst/>
          </a:prstGeom>
          <a:noFill/>
          <a:ln/>
        </p:spPr>
        <p:txBody>
          <a:bodyPr wrap="square" lIns="0" tIns="0" rIns="0" bIns="0" rtlCol="0" anchor="ctr">
            <a:normAutofit/>
          </a:bodyPr>
          <a:lstStyle/>
          <a:p>
            <a:pPr algn="l" indent="0" marL="0">
              <a:buNone/>
            </a:pPr>
            <a:r>
              <a:rPr lang="en-US" sz="1250" b="1" dirty="0">
                <a:solidFill>
                  <a:srgbClr val="F4F8FA"/>
                </a:solidFill>
                <a:latin typeface="Aptos" pitchFamily="34" charset="0"/>
                <a:ea typeface="Aptos" pitchFamily="34" charset="-122"/>
                <a:cs typeface="Aptos" pitchFamily="34" charset="-120"/>
              </a:rPr>
              <a:t>The product feels like a case file, but behaves like a statistical workflow.</a:t>
            </a:r>
            <a:endParaRPr lang="en-US" sz="1250" dirty="0"/>
          </a:p>
        </p:txBody>
      </p:sp>
      <p:sp>
        <p:nvSpPr>
          <p:cNvPr id="49" name="Text 47"/>
          <p:cNvSpPr/>
          <p:nvPr/>
        </p:nvSpPr>
        <p:spPr>
          <a:xfrm>
            <a:off x="2816352" y="5843016"/>
            <a:ext cx="7863840" cy="228600"/>
          </a:xfrm>
          <a:prstGeom prst="rect">
            <a:avLst/>
          </a:prstGeom>
          <a:noFill/>
          <a:ln/>
        </p:spPr>
        <p:txBody>
          <a:bodyPr wrap="square" lIns="0" tIns="0" rIns="0" bIns="0" rtlCol="0" anchor="ctr">
            <a:normAutofit/>
          </a:bodyPr>
          <a:lstStyle/>
          <a:p>
            <a:pPr algn="l" indent="0" marL="0">
              <a:buNone/>
            </a:pPr>
            <a:r>
              <a:rPr lang="en-US" sz="950" dirty="0">
                <a:solidFill>
                  <a:srgbClr val="A7BBC5"/>
                </a:solidFill>
                <a:latin typeface="Aptos" pitchFamily="34" charset="0"/>
                <a:ea typeface="Aptos" pitchFamily="34" charset="-122"/>
                <a:cs typeface="Aptos" pitchFamily="34" charset="-120"/>
              </a:rPr>
              <a:t>No black-box “risk score” is used to hide methodological uncertainty.</a:t>
            </a:r>
            <a:endParaRPr lang="en-US" sz="950" dirty="0"/>
          </a:p>
        </p:txBody>
      </p:sp>
      <p:sp>
        <p:nvSpPr>
          <p:cNvPr id="25" name="Slide Number Placeholder 0"/>
          <p:cNvSpPr>
            <a:spLocks noGrp="1"/>
          </p:cNvSpPr>
          <p:nvPr>
            <p:ph type="sldNum" sz="quarter" idx="4294967295"/>
          </p:nvPr>
        </p:nvSpPr>
        <p:spPr>
          <a:xfrm>
            <a:off x="11759184" y="6556248"/>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A95A1"/>
                </a:solidFill>
                <a:latin typeface="Aptos"/>
                <a:ea typeface="Aptos"/>
                <a:cs typeface="Aptos"/>
              </a:defRPr>
            </a:lvl1pPr>
          </a:lstStyle>
          <a:p>
            <a:pPr algn="l"/>
            <a:fld id="{F7021451-1387-4CA6-816F-3879F97B5CBC}" type="slidenum">
              <a:rPr b="0" lang="en-US"/>
              <a:t>3</a:t>
            </a:fld>
            <a:endParaRPr lang="en-US"/>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30352" y="402336"/>
            <a:ext cx="2743200" cy="228600"/>
          </a:xfrm>
          <a:prstGeom prst="rect">
            <a:avLst/>
          </a:prstGeom>
          <a:noFill/>
          <a:ln/>
        </p:spPr>
        <p:txBody>
          <a:bodyPr wrap="square" lIns="0" tIns="0" rIns="0" bIns="0" rtlCol="0" anchor="ctr">
            <a:normAutofit/>
          </a:bodyPr>
          <a:lstStyle/>
          <a:p>
            <a:pPr algn="l" indent="0" marL="0">
              <a:buNone/>
            </a:pPr>
            <a:r>
              <a:rPr lang="en-US" sz="900" b="1" spc="140" kern="0" dirty="0">
                <a:solidFill>
                  <a:srgbClr val="41D9FF"/>
                </a:solidFill>
                <a:latin typeface="Aptos" pitchFamily="34" charset="0"/>
                <a:ea typeface="Aptos" pitchFamily="34" charset="-122"/>
                <a:cs typeface="Aptos" pitchFamily="34" charset="-120"/>
              </a:rPr>
              <a:t>03 / SCIENCE + NASA DATA</a:t>
            </a:r>
            <a:endParaRPr lang="en-US" sz="900" dirty="0"/>
          </a:p>
        </p:txBody>
      </p:sp>
      <p:sp>
        <p:nvSpPr>
          <p:cNvPr id="3" name="Text 1"/>
          <p:cNvSpPr/>
          <p:nvPr/>
        </p:nvSpPr>
        <p:spPr>
          <a:xfrm>
            <a:off x="530352" y="749808"/>
            <a:ext cx="10698480" cy="594360"/>
          </a:xfrm>
          <a:prstGeom prst="rect">
            <a:avLst/>
          </a:prstGeom>
          <a:noFill/>
          <a:ln/>
        </p:spPr>
        <p:txBody>
          <a:bodyPr wrap="square" lIns="0" tIns="0" rIns="0" bIns="0" rtlCol="0" anchor="ctr">
            <a:normAutofit/>
          </a:bodyPr>
          <a:lstStyle/>
          <a:p>
            <a:pPr algn="l" indent="0" marL="0">
              <a:buNone/>
            </a:pPr>
            <a:r>
              <a:rPr lang="en-US" sz="2700" b="1" dirty="0">
                <a:solidFill>
                  <a:srgbClr val="F4F8FA"/>
                </a:solidFill>
                <a:latin typeface="Aptos Display" pitchFamily="34" charset="0"/>
                <a:ea typeface="Aptos Display" pitchFamily="34" charset="-122"/>
                <a:cs typeface="Aptos Display" pitchFamily="34" charset="-120"/>
              </a:rPr>
              <a:t>NASA measurements, explicit statistics.</a:t>
            </a:r>
            <a:endParaRPr lang="en-US" sz="2700" dirty="0"/>
          </a:p>
        </p:txBody>
      </p:sp>
      <p:sp>
        <p:nvSpPr>
          <p:cNvPr id="4" name="Text 2"/>
          <p:cNvSpPr/>
          <p:nvPr/>
        </p:nvSpPr>
        <p:spPr>
          <a:xfrm>
            <a:off x="548640" y="1399032"/>
            <a:ext cx="10515600" cy="365760"/>
          </a:xfrm>
          <a:prstGeom prst="rect">
            <a:avLst/>
          </a:prstGeom>
          <a:noFill/>
          <a:ln/>
        </p:spPr>
        <p:txBody>
          <a:bodyPr wrap="square" lIns="0" tIns="0" rIns="0" bIns="0" rtlCol="0" anchor="ctr">
            <a:normAutofit/>
          </a:bodyPr>
          <a:lstStyle/>
          <a:p>
            <a:pPr algn="l" indent="0" marL="0">
              <a:buNone/>
            </a:pPr>
            <a:r>
              <a:rPr lang="en-US" sz="1150" dirty="0">
                <a:solidFill>
                  <a:srgbClr val="A7BBC5"/>
                </a:solidFill>
                <a:latin typeface="Aptos" pitchFamily="34" charset="0"/>
                <a:ea typeface="Aptos" pitchFamily="34" charset="-122"/>
                <a:cs typeface="Aptos" pitchFamily="34" charset="-120"/>
              </a:rPr>
              <a:t>The scientific layer is deliberately conservative: methods are shown, short records are descriptive only, and provenance is exportable.</a:t>
            </a:r>
            <a:endParaRPr lang="en-US" sz="1150" dirty="0"/>
          </a:p>
        </p:txBody>
      </p:sp>
      <p:sp>
        <p:nvSpPr>
          <p:cNvPr id="5" name="Shape 3"/>
          <p:cNvSpPr/>
          <p:nvPr/>
        </p:nvSpPr>
        <p:spPr>
          <a:xfrm>
            <a:off x="548640" y="2029968"/>
            <a:ext cx="5349240" cy="3547872"/>
          </a:xfrm>
          <a:prstGeom prst="roundRect">
            <a:avLst>
              <a:gd name="adj" fmla="val 3093"/>
            </a:avLst>
          </a:prstGeom>
          <a:solidFill>
            <a:srgbClr val="0D202C"/>
          </a:solidFill>
          <a:ln w="12700">
            <a:solidFill>
              <a:srgbClr val="102938">
                <a:alpha val="65000"/>
              </a:srgbClr>
            </a:solidFill>
            <a:prstDash val="solid"/>
          </a:ln>
        </p:spPr>
      </p:sp>
      <p:sp>
        <p:nvSpPr>
          <p:cNvPr id="6" name="Text 4"/>
          <p:cNvSpPr/>
          <p:nvPr/>
        </p:nvSpPr>
        <p:spPr>
          <a:xfrm>
            <a:off x="786384" y="2304288"/>
            <a:ext cx="4297680" cy="228600"/>
          </a:xfrm>
          <a:prstGeom prst="rect">
            <a:avLst/>
          </a:prstGeom>
          <a:noFill/>
          <a:ln/>
        </p:spPr>
        <p:txBody>
          <a:bodyPr wrap="square" lIns="0" tIns="0" rIns="0" bIns="0" rtlCol="0" anchor="ctr">
            <a:normAutofit/>
          </a:bodyPr>
          <a:lstStyle/>
          <a:p>
            <a:pPr algn="l" indent="0" marL="0">
              <a:buNone/>
            </a:pPr>
            <a:r>
              <a:rPr lang="en-US" sz="900" b="1" spc="100" kern="0" dirty="0">
                <a:solidFill>
                  <a:srgbClr val="41D9FF"/>
                </a:solidFill>
                <a:latin typeface="Aptos" pitchFamily="34" charset="0"/>
                <a:ea typeface="Aptos" pitchFamily="34" charset="-122"/>
                <a:cs typeface="Aptos" pitchFamily="34" charset="-120"/>
              </a:rPr>
              <a:t>NASA POWER · MONTHLY POINT API</a:t>
            </a:r>
            <a:endParaRPr lang="en-US" sz="900" dirty="0"/>
          </a:p>
        </p:txBody>
      </p:sp>
      <p:sp>
        <p:nvSpPr>
          <p:cNvPr id="7" name="Text 5"/>
          <p:cNvSpPr/>
          <p:nvPr/>
        </p:nvSpPr>
        <p:spPr>
          <a:xfrm>
            <a:off x="786384" y="2724912"/>
            <a:ext cx="1243584" cy="201168"/>
          </a:xfrm>
          <a:prstGeom prst="rect">
            <a:avLst/>
          </a:prstGeom>
          <a:noFill/>
          <a:ln/>
        </p:spPr>
        <p:txBody>
          <a:bodyPr wrap="square" lIns="0" tIns="0" rIns="0" bIns="0" rtlCol="0" anchor="ctr">
            <a:normAutofit/>
          </a:bodyPr>
          <a:lstStyle/>
          <a:p>
            <a:pPr algn="l" indent="0" marL="0">
              <a:buNone/>
            </a:pPr>
            <a:r>
              <a:rPr lang="en-US" sz="850" b="1" dirty="0">
                <a:solidFill>
                  <a:srgbClr val="A7BBC5"/>
                </a:solidFill>
                <a:latin typeface="Aptos" pitchFamily="34" charset="0"/>
                <a:ea typeface="Aptos" pitchFamily="34" charset="-122"/>
                <a:cs typeface="Aptos" pitchFamily="34" charset="-120"/>
              </a:rPr>
              <a:t>Variables</a:t>
            </a:r>
            <a:endParaRPr lang="en-US" sz="850" dirty="0"/>
          </a:p>
        </p:txBody>
      </p:sp>
      <p:sp>
        <p:nvSpPr>
          <p:cNvPr id="8" name="Text 6"/>
          <p:cNvSpPr/>
          <p:nvPr/>
        </p:nvSpPr>
        <p:spPr>
          <a:xfrm>
            <a:off x="2048256" y="2724912"/>
            <a:ext cx="3520440" cy="201168"/>
          </a:xfrm>
          <a:prstGeom prst="rect">
            <a:avLst/>
          </a:prstGeom>
          <a:noFill/>
          <a:ln/>
        </p:spPr>
        <p:txBody>
          <a:bodyPr wrap="square" lIns="0" tIns="0" rIns="0" bIns="0" rtlCol="0" anchor="ctr">
            <a:normAutofit/>
          </a:bodyPr>
          <a:lstStyle/>
          <a:p>
            <a:pPr algn="l" indent="0" marL="0">
              <a:buNone/>
            </a:pPr>
            <a:r>
              <a:rPr lang="en-US" sz="1000" b="1" dirty="0">
                <a:solidFill>
                  <a:srgbClr val="F4F8FA"/>
                </a:solidFill>
                <a:latin typeface="Aptos" pitchFamily="34" charset="0"/>
                <a:ea typeface="Aptos" pitchFamily="34" charset="-122"/>
                <a:cs typeface="Aptos" pitchFamily="34" charset="-120"/>
              </a:rPr>
              <a:t>T2M · PRECTOTCORR · WS10M</a:t>
            </a:r>
            <a:endParaRPr lang="en-US" sz="1000" dirty="0"/>
          </a:p>
        </p:txBody>
      </p:sp>
      <p:sp>
        <p:nvSpPr>
          <p:cNvPr id="9" name="Shape 7"/>
          <p:cNvSpPr/>
          <p:nvPr/>
        </p:nvSpPr>
        <p:spPr>
          <a:xfrm>
            <a:off x="786384" y="3035808"/>
            <a:ext cx="4791456" cy="0"/>
          </a:xfrm>
          <a:prstGeom prst="line">
            <a:avLst/>
          </a:prstGeom>
          <a:noFill/>
          <a:ln w="7620">
            <a:solidFill>
              <a:srgbClr val="183340"/>
            </a:solidFill>
            <a:prstDash val="solid"/>
            <a:headEnd type="none"/>
            <a:tailEnd type="none"/>
          </a:ln>
        </p:spPr>
      </p:sp>
      <p:sp>
        <p:nvSpPr>
          <p:cNvPr id="10" name="Text 8"/>
          <p:cNvSpPr/>
          <p:nvPr/>
        </p:nvSpPr>
        <p:spPr>
          <a:xfrm>
            <a:off x="786384" y="3163824"/>
            <a:ext cx="1243584" cy="201168"/>
          </a:xfrm>
          <a:prstGeom prst="rect">
            <a:avLst/>
          </a:prstGeom>
          <a:noFill/>
          <a:ln/>
        </p:spPr>
        <p:txBody>
          <a:bodyPr wrap="square" lIns="0" tIns="0" rIns="0" bIns="0" rtlCol="0" anchor="ctr">
            <a:normAutofit/>
          </a:bodyPr>
          <a:lstStyle/>
          <a:p>
            <a:pPr algn="l" indent="0" marL="0">
              <a:buNone/>
            </a:pPr>
            <a:r>
              <a:rPr lang="en-US" sz="850" b="1" dirty="0">
                <a:solidFill>
                  <a:srgbClr val="A7BBC5"/>
                </a:solidFill>
                <a:latin typeface="Aptos" pitchFamily="34" charset="0"/>
                <a:ea typeface="Aptos" pitchFamily="34" charset="-122"/>
                <a:cs typeface="Aptos" pitchFamily="34" charset="-120"/>
              </a:rPr>
              <a:t>Annualization</a:t>
            </a:r>
            <a:endParaRPr lang="en-US" sz="850" dirty="0"/>
          </a:p>
        </p:txBody>
      </p:sp>
      <p:sp>
        <p:nvSpPr>
          <p:cNvPr id="11" name="Text 9"/>
          <p:cNvSpPr/>
          <p:nvPr/>
        </p:nvSpPr>
        <p:spPr>
          <a:xfrm>
            <a:off x="2048256" y="3163824"/>
            <a:ext cx="3520440" cy="201168"/>
          </a:xfrm>
          <a:prstGeom prst="rect">
            <a:avLst/>
          </a:prstGeom>
          <a:noFill/>
          <a:ln/>
        </p:spPr>
        <p:txBody>
          <a:bodyPr wrap="square" lIns="0" tIns="0" rIns="0" bIns="0" rtlCol="0" anchor="ctr">
            <a:normAutofit/>
          </a:bodyPr>
          <a:lstStyle/>
          <a:p>
            <a:pPr algn="l" indent="0" marL="0">
              <a:buNone/>
            </a:pPr>
            <a:r>
              <a:rPr lang="en-US" sz="1000" dirty="0">
                <a:solidFill>
                  <a:srgbClr val="F4F8FA"/>
                </a:solidFill>
                <a:latin typeface="Aptos" pitchFamily="34" charset="0"/>
                <a:ea typeface="Aptos" pitchFamily="34" charset="-122"/>
                <a:cs typeface="Aptos" pitchFamily="34" charset="-120"/>
              </a:rPr>
              <a:t>12/12 valid calendar months</a:t>
            </a:r>
            <a:endParaRPr lang="en-US" sz="1000" dirty="0"/>
          </a:p>
        </p:txBody>
      </p:sp>
      <p:sp>
        <p:nvSpPr>
          <p:cNvPr id="12" name="Shape 10"/>
          <p:cNvSpPr/>
          <p:nvPr/>
        </p:nvSpPr>
        <p:spPr>
          <a:xfrm>
            <a:off x="786384" y="3474720"/>
            <a:ext cx="4791456" cy="0"/>
          </a:xfrm>
          <a:prstGeom prst="line">
            <a:avLst/>
          </a:prstGeom>
          <a:noFill/>
          <a:ln w="7620">
            <a:solidFill>
              <a:srgbClr val="183340"/>
            </a:solidFill>
            <a:prstDash val="solid"/>
            <a:headEnd type="none"/>
            <a:tailEnd type="none"/>
          </a:ln>
        </p:spPr>
      </p:sp>
      <p:sp>
        <p:nvSpPr>
          <p:cNvPr id="13" name="Text 11"/>
          <p:cNvSpPr/>
          <p:nvPr/>
        </p:nvSpPr>
        <p:spPr>
          <a:xfrm>
            <a:off x="786384" y="3602736"/>
            <a:ext cx="1243584" cy="201168"/>
          </a:xfrm>
          <a:prstGeom prst="rect">
            <a:avLst/>
          </a:prstGeom>
          <a:noFill/>
          <a:ln/>
        </p:spPr>
        <p:txBody>
          <a:bodyPr wrap="square" lIns="0" tIns="0" rIns="0" bIns="0" rtlCol="0" anchor="ctr">
            <a:normAutofit/>
          </a:bodyPr>
          <a:lstStyle/>
          <a:p>
            <a:pPr algn="l" indent="0" marL="0">
              <a:buNone/>
            </a:pPr>
            <a:r>
              <a:rPr lang="en-US" sz="850" b="1" dirty="0">
                <a:solidFill>
                  <a:srgbClr val="A7BBC5"/>
                </a:solidFill>
                <a:latin typeface="Aptos" pitchFamily="34" charset="0"/>
                <a:ea typeface="Aptos" pitchFamily="34" charset="-122"/>
                <a:cs typeface="Aptos" pitchFamily="34" charset="-120"/>
              </a:rPr>
              <a:t>Reference</a:t>
            </a:r>
            <a:endParaRPr lang="en-US" sz="850" dirty="0"/>
          </a:p>
        </p:txBody>
      </p:sp>
      <p:sp>
        <p:nvSpPr>
          <p:cNvPr id="14" name="Text 12"/>
          <p:cNvSpPr/>
          <p:nvPr/>
        </p:nvSpPr>
        <p:spPr>
          <a:xfrm>
            <a:off x="2048256" y="3602736"/>
            <a:ext cx="3520440" cy="201168"/>
          </a:xfrm>
          <a:prstGeom prst="rect">
            <a:avLst/>
          </a:prstGeom>
          <a:noFill/>
          <a:ln/>
        </p:spPr>
        <p:txBody>
          <a:bodyPr wrap="square" lIns="0" tIns="0" rIns="0" bIns="0" rtlCol="0" anchor="ctr">
            <a:normAutofit/>
          </a:bodyPr>
          <a:lstStyle/>
          <a:p>
            <a:pPr algn="l" indent="0" marL="0">
              <a:buNone/>
            </a:pPr>
            <a:r>
              <a:rPr lang="en-US" sz="1000" dirty="0">
                <a:solidFill>
                  <a:srgbClr val="F4F8FA"/>
                </a:solidFill>
                <a:latin typeface="Aptos" pitchFamily="34" charset="0"/>
                <a:ea typeface="Aptos" pitchFamily="34" charset="-122"/>
                <a:cs typeface="Aptos" pitchFamily="34" charset="-120"/>
              </a:rPr>
              <a:t>1991–2020 month-by-month</a:t>
            </a:r>
            <a:endParaRPr lang="en-US" sz="1000" dirty="0"/>
          </a:p>
        </p:txBody>
      </p:sp>
      <p:sp>
        <p:nvSpPr>
          <p:cNvPr id="15" name="Shape 13"/>
          <p:cNvSpPr/>
          <p:nvPr/>
        </p:nvSpPr>
        <p:spPr>
          <a:xfrm>
            <a:off x="786384" y="3913632"/>
            <a:ext cx="4791456" cy="0"/>
          </a:xfrm>
          <a:prstGeom prst="line">
            <a:avLst/>
          </a:prstGeom>
          <a:noFill/>
          <a:ln w="7620">
            <a:solidFill>
              <a:srgbClr val="183340"/>
            </a:solidFill>
            <a:prstDash val="solid"/>
            <a:headEnd type="none"/>
            <a:tailEnd type="none"/>
          </a:ln>
        </p:spPr>
      </p:sp>
      <p:sp>
        <p:nvSpPr>
          <p:cNvPr id="16" name="Text 14"/>
          <p:cNvSpPr/>
          <p:nvPr/>
        </p:nvSpPr>
        <p:spPr>
          <a:xfrm>
            <a:off x="786384" y="4041648"/>
            <a:ext cx="1243584" cy="201168"/>
          </a:xfrm>
          <a:prstGeom prst="rect">
            <a:avLst/>
          </a:prstGeom>
          <a:noFill/>
          <a:ln/>
        </p:spPr>
        <p:txBody>
          <a:bodyPr wrap="square" lIns="0" tIns="0" rIns="0" bIns="0" rtlCol="0" anchor="ctr">
            <a:normAutofit/>
          </a:bodyPr>
          <a:lstStyle/>
          <a:p>
            <a:pPr algn="l" indent="0" marL="0">
              <a:buNone/>
            </a:pPr>
            <a:r>
              <a:rPr lang="en-US" sz="850" b="1" dirty="0">
                <a:solidFill>
                  <a:srgbClr val="A7BBC5"/>
                </a:solidFill>
                <a:latin typeface="Aptos" pitchFamily="34" charset="0"/>
                <a:ea typeface="Aptos" pitchFamily="34" charset="-122"/>
                <a:cs typeface="Aptos" pitchFamily="34" charset="-120"/>
              </a:rPr>
              <a:t>Trend</a:t>
            </a:r>
            <a:endParaRPr lang="en-US" sz="850" dirty="0"/>
          </a:p>
        </p:txBody>
      </p:sp>
      <p:sp>
        <p:nvSpPr>
          <p:cNvPr id="17" name="Text 15"/>
          <p:cNvSpPr/>
          <p:nvPr/>
        </p:nvSpPr>
        <p:spPr>
          <a:xfrm>
            <a:off x="2048256" y="4041648"/>
            <a:ext cx="3520440" cy="201168"/>
          </a:xfrm>
          <a:prstGeom prst="rect">
            <a:avLst/>
          </a:prstGeom>
          <a:noFill/>
          <a:ln/>
        </p:spPr>
        <p:txBody>
          <a:bodyPr wrap="square" lIns="0" tIns="0" rIns="0" bIns="0" rtlCol="0" anchor="ctr">
            <a:normAutofit/>
          </a:bodyPr>
          <a:lstStyle/>
          <a:p>
            <a:pPr algn="l" indent="0" marL="0">
              <a:buNone/>
            </a:pPr>
            <a:r>
              <a:rPr lang="en-US" sz="1000" dirty="0">
                <a:solidFill>
                  <a:srgbClr val="F4F8FA"/>
                </a:solidFill>
                <a:latin typeface="Aptos" pitchFamily="34" charset="0"/>
                <a:ea typeface="Aptos" pitchFamily="34" charset="-122"/>
                <a:cs typeface="Aptos" pitchFamily="34" charset="-120"/>
              </a:rPr>
              <a:t>Theil–Sen slope</a:t>
            </a:r>
            <a:endParaRPr lang="en-US" sz="1000" dirty="0"/>
          </a:p>
        </p:txBody>
      </p:sp>
      <p:sp>
        <p:nvSpPr>
          <p:cNvPr id="18" name="Shape 16"/>
          <p:cNvSpPr/>
          <p:nvPr/>
        </p:nvSpPr>
        <p:spPr>
          <a:xfrm>
            <a:off x="786384" y="4352544"/>
            <a:ext cx="4791456" cy="0"/>
          </a:xfrm>
          <a:prstGeom prst="line">
            <a:avLst/>
          </a:prstGeom>
          <a:noFill/>
          <a:ln w="7620">
            <a:solidFill>
              <a:srgbClr val="183340"/>
            </a:solidFill>
            <a:prstDash val="solid"/>
            <a:headEnd type="none"/>
            <a:tailEnd type="none"/>
          </a:ln>
        </p:spPr>
      </p:sp>
      <p:sp>
        <p:nvSpPr>
          <p:cNvPr id="19" name="Text 17"/>
          <p:cNvSpPr/>
          <p:nvPr/>
        </p:nvSpPr>
        <p:spPr>
          <a:xfrm>
            <a:off x="786384" y="4480560"/>
            <a:ext cx="1243584" cy="201168"/>
          </a:xfrm>
          <a:prstGeom prst="rect">
            <a:avLst/>
          </a:prstGeom>
          <a:noFill/>
          <a:ln/>
        </p:spPr>
        <p:txBody>
          <a:bodyPr wrap="square" lIns="0" tIns="0" rIns="0" bIns="0" rtlCol="0" anchor="ctr">
            <a:normAutofit/>
          </a:bodyPr>
          <a:lstStyle/>
          <a:p>
            <a:pPr algn="l" indent="0" marL="0">
              <a:buNone/>
            </a:pPr>
            <a:r>
              <a:rPr lang="en-US" sz="850" b="1" dirty="0">
                <a:solidFill>
                  <a:srgbClr val="A7BBC5"/>
                </a:solidFill>
                <a:latin typeface="Aptos" pitchFamily="34" charset="0"/>
                <a:ea typeface="Aptos" pitchFamily="34" charset="-122"/>
                <a:cs typeface="Aptos" pitchFamily="34" charset="-120"/>
              </a:rPr>
              <a:t>Significance</a:t>
            </a:r>
            <a:endParaRPr lang="en-US" sz="850" dirty="0"/>
          </a:p>
        </p:txBody>
      </p:sp>
      <p:sp>
        <p:nvSpPr>
          <p:cNvPr id="20" name="Text 18"/>
          <p:cNvSpPr/>
          <p:nvPr/>
        </p:nvSpPr>
        <p:spPr>
          <a:xfrm>
            <a:off x="2048256" y="4480560"/>
            <a:ext cx="3520440" cy="201168"/>
          </a:xfrm>
          <a:prstGeom prst="rect">
            <a:avLst/>
          </a:prstGeom>
          <a:noFill/>
          <a:ln/>
        </p:spPr>
        <p:txBody>
          <a:bodyPr wrap="square" lIns="0" tIns="0" rIns="0" bIns="0" rtlCol="0" anchor="ctr">
            <a:normAutofit/>
          </a:bodyPr>
          <a:lstStyle/>
          <a:p>
            <a:pPr algn="l" indent="0" marL="0">
              <a:buNone/>
            </a:pPr>
            <a:r>
              <a:rPr lang="en-US" sz="1000" dirty="0">
                <a:solidFill>
                  <a:srgbClr val="F4F8FA"/>
                </a:solidFill>
                <a:latin typeface="Aptos" pitchFamily="34" charset="0"/>
                <a:ea typeface="Aptos" pitchFamily="34" charset="-122"/>
                <a:cs typeface="Aptos" pitchFamily="34" charset="-120"/>
              </a:rPr>
              <a:t>Modified Mann–Kendall (≥ 8 years)</a:t>
            </a:r>
            <a:endParaRPr lang="en-US" sz="1000" dirty="0"/>
          </a:p>
        </p:txBody>
      </p:sp>
      <p:sp>
        <p:nvSpPr>
          <p:cNvPr id="21" name="Shape 19"/>
          <p:cNvSpPr/>
          <p:nvPr/>
        </p:nvSpPr>
        <p:spPr>
          <a:xfrm>
            <a:off x="786384" y="4791456"/>
            <a:ext cx="4791456" cy="0"/>
          </a:xfrm>
          <a:prstGeom prst="line">
            <a:avLst/>
          </a:prstGeom>
          <a:noFill/>
          <a:ln w="7620">
            <a:solidFill>
              <a:srgbClr val="183340"/>
            </a:solidFill>
            <a:prstDash val="solid"/>
            <a:headEnd type="none"/>
            <a:tailEnd type="none"/>
          </a:ln>
        </p:spPr>
      </p:sp>
      <p:sp>
        <p:nvSpPr>
          <p:cNvPr id="22" name="Text 20"/>
          <p:cNvSpPr/>
          <p:nvPr/>
        </p:nvSpPr>
        <p:spPr>
          <a:xfrm>
            <a:off x="786384" y="4919472"/>
            <a:ext cx="1243584" cy="201168"/>
          </a:xfrm>
          <a:prstGeom prst="rect">
            <a:avLst/>
          </a:prstGeom>
          <a:noFill/>
          <a:ln/>
        </p:spPr>
        <p:txBody>
          <a:bodyPr wrap="square" lIns="0" tIns="0" rIns="0" bIns="0" rtlCol="0" anchor="ctr">
            <a:normAutofit/>
          </a:bodyPr>
          <a:lstStyle/>
          <a:p>
            <a:pPr algn="l" indent="0" marL="0">
              <a:buNone/>
            </a:pPr>
            <a:r>
              <a:rPr lang="en-US" sz="850" b="1" dirty="0">
                <a:solidFill>
                  <a:srgbClr val="A7BBC5"/>
                </a:solidFill>
                <a:latin typeface="Aptos" pitchFamily="34" charset="0"/>
                <a:ea typeface="Aptos" pitchFamily="34" charset="-122"/>
                <a:cs typeface="Aptos" pitchFamily="34" charset="-120"/>
              </a:rPr>
              <a:t>Spatial check</a:t>
            </a:r>
            <a:endParaRPr lang="en-US" sz="850" dirty="0"/>
          </a:p>
        </p:txBody>
      </p:sp>
      <p:sp>
        <p:nvSpPr>
          <p:cNvPr id="23" name="Text 21"/>
          <p:cNvSpPr/>
          <p:nvPr/>
        </p:nvSpPr>
        <p:spPr>
          <a:xfrm>
            <a:off x="2048256" y="4919472"/>
            <a:ext cx="3520440" cy="201168"/>
          </a:xfrm>
          <a:prstGeom prst="rect">
            <a:avLst/>
          </a:prstGeom>
          <a:noFill/>
          <a:ln/>
        </p:spPr>
        <p:txBody>
          <a:bodyPr wrap="square" lIns="0" tIns="0" rIns="0" bIns="0" rtlCol="0" anchor="ctr">
            <a:normAutofit/>
          </a:bodyPr>
          <a:lstStyle/>
          <a:p>
            <a:pPr algn="l" indent="0" marL="0">
              <a:buNone/>
            </a:pPr>
            <a:r>
              <a:rPr lang="en-US" sz="1000" dirty="0">
                <a:solidFill>
                  <a:srgbClr val="F4F8FA"/>
                </a:solidFill>
                <a:latin typeface="Aptos" pitchFamily="34" charset="0"/>
                <a:ea typeface="Aptos" pitchFamily="34" charset="-122"/>
                <a:cs typeface="Aptos" pitchFamily="34" charset="-120"/>
              </a:rPr>
              <a:t>5 × 5 sweep + BY-FDR</a:t>
            </a:r>
            <a:endParaRPr lang="en-US" sz="1000" dirty="0"/>
          </a:p>
        </p:txBody>
      </p:sp>
      <p:sp>
        <p:nvSpPr>
          <p:cNvPr id="24" name="Shape 22"/>
          <p:cNvSpPr/>
          <p:nvPr/>
        </p:nvSpPr>
        <p:spPr>
          <a:xfrm>
            <a:off x="6144768" y="2029968"/>
            <a:ext cx="5422392" cy="3547872"/>
          </a:xfrm>
          <a:prstGeom prst="roundRect">
            <a:avLst>
              <a:gd name="adj" fmla="val 3093"/>
            </a:avLst>
          </a:prstGeom>
          <a:solidFill>
            <a:srgbClr val="102938"/>
          </a:solidFill>
          <a:ln w="12700">
            <a:solidFill>
              <a:srgbClr val="102938">
                <a:alpha val="0"/>
              </a:srgbClr>
            </a:solidFill>
            <a:prstDash val="solid"/>
          </a:ln>
        </p:spPr>
      </p:sp>
      <p:sp>
        <p:nvSpPr>
          <p:cNvPr id="25" name="Shape 23"/>
          <p:cNvSpPr/>
          <p:nvPr/>
        </p:nvSpPr>
        <p:spPr>
          <a:xfrm>
            <a:off x="6419088" y="2322576"/>
            <a:ext cx="54864" cy="292608"/>
          </a:xfrm>
          <a:prstGeom prst="rect">
            <a:avLst/>
          </a:prstGeom>
          <a:solidFill>
            <a:srgbClr val="F2E84A"/>
          </a:solidFill>
          <a:ln w="12700">
            <a:solidFill>
              <a:srgbClr val="F2E84A">
                <a:alpha val="0"/>
              </a:srgbClr>
            </a:solidFill>
            <a:prstDash val="solid"/>
          </a:ln>
        </p:spPr>
      </p:sp>
      <p:sp>
        <p:nvSpPr>
          <p:cNvPr id="26" name="Text 24"/>
          <p:cNvSpPr/>
          <p:nvPr/>
        </p:nvSpPr>
        <p:spPr>
          <a:xfrm>
            <a:off x="6547104" y="2304288"/>
            <a:ext cx="2560320" cy="310896"/>
          </a:xfrm>
          <a:prstGeom prst="rect">
            <a:avLst/>
          </a:prstGeom>
          <a:noFill/>
          <a:ln/>
        </p:spPr>
        <p:txBody>
          <a:bodyPr wrap="square" lIns="0" tIns="0" rIns="0" bIns="0" rtlCol="0" anchor="ctr">
            <a:normAutofit/>
          </a:bodyPr>
          <a:lstStyle/>
          <a:p>
            <a:pPr algn="l" indent="0" marL="0">
              <a:buNone/>
            </a:pPr>
            <a:r>
              <a:rPr lang="en-US" sz="950" b="1" spc="50" kern="0" dirty="0">
                <a:solidFill>
                  <a:srgbClr val="F4F8FA"/>
                </a:solidFill>
                <a:latin typeface="Aptos" pitchFamily="34" charset="0"/>
                <a:ea typeface="Aptos" pitchFamily="34" charset="-122"/>
                <a:cs typeface="Aptos" pitchFamily="34" charset="-120"/>
              </a:rPr>
              <a:t>Evidence replay</a:t>
            </a:r>
            <a:endParaRPr lang="en-US" sz="950" dirty="0"/>
          </a:p>
        </p:txBody>
      </p:sp>
      <p:sp>
        <p:nvSpPr>
          <p:cNvPr id="27" name="Shape 25"/>
          <p:cNvSpPr/>
          <p:nvPr/>
        </p:nvSpPr>
        <p:spPr>
          <a:xfrm>
            <a:off x="6419088" y="2724912"/>
            <a:ext cx="384048" cy="384048"/>
          </a:xfrm>
          <a:prstGeom prst="ellipse">
            <a:avLst/>
          </a:prstGeom>
          <a:solidFill>
            <a:srgbClr val="1479FF"/>
          </a:solidFill>
          <a:ln w="12700">
            <a:solidFill>
              <a:srgbClr val="1479FF">
                <a:alpha val="0"/>
              </a:srgbClr>
            </a:solidFill>
            <a:prstDash val="solid"/>
          </a:ln>
        </p:spPr>
      </p:sp>
      <p:sp>
        <p:nvSpPr>
          <p:cNvPr id="28" name="Text 26"/>
          <p:cNvSpPr/>
          <p:nvPr/>
        </p:nvSpPr>
        <p:spPr>
          <a:xfrm>
            <a:off x="6419088" y="2734056"/>
            <a:ext cx="384048" cy="347472"/>
          </a:xfrm>
          <a:prstGeom prst="rect">
            <a:avLst/>
          </a:prstGeom>
          <a:noFill/>
          <a:ln/>
        </p:spPr>
        <p:txBody>
          <a:bodyPr wrap="square" lIns="0" tIns="0" rIns="0" bIns="0" rtlCol="0" anchor="ctr">
            <a:normAutofit/>
          </a:bodyPr>
          <a:lstStyle/>
          <a:p>
            <a:pPr algn="ctr" indent="0" marL="0">
              <a:buNone/>
            </a:pPr>
            <a:r>
              <a:rPr lang="en-US" sz="1100" b="1" dirty="0">
                <a:solidFill>
                  <a:srgbClr val="06131D"/>
                </a:solidFill>
                <a:latin typeface="Aptos" pitchFamily="34" charset="0"/>
                <a:ea typeface="Aptos" pitchFamily="34" charset="-122"/>
                <a:cs typeface="Aptos" pitchFamily="34" charset="-120"/>
              </a:rPr>
              <a:t>1</a:t>
            </a:r>
            <a:endParaRPr lang="en-US" sz="1100" dirty="0"/>
          </a:p>
        </p:txBody>
      </p:sp>
      <p:sp>
        <p:nvSpPr>
          <p:cNvPr id="29" name="Text 27"/>
          <p:cNvSpPr/>
          <p:nvPr/>
        </p:nvSpPr>
        <p:spPr>
          <a:xfrm>
            <a:off x="6949440" y="2734056"/>
            <a:ext cx="3383280" cy="228600"/>
          </a:xfrm>
          <a:prstGeom prst="rect">
            <a:avLst/>
          </a:prstGeom>
          <a:noFill/>
          <a:ln/>
        </p:spPr>
        <p:txBody>
          <a:bodyPr wrap="square" lIns="0" tIns="0" rIns="0" bIns="0" rtlCol="0" anchor="ctr">
            <a:normAutofit/>
          </a:bodyPr>
          <a:lstStyle/>
          <a:p>
            <a:pPr algn="l" indent="0" marL="0">
              <a:buNone/>
            </a:pPr>
            <a:r>
              <a:rPr lang="en-US" sz="960" dirty="0">
                <a:solidFill>
                  <a:srgbClr val="F4F8FA"/>
                </a:solidFill>
                <a:latin typeface="Aptos" pitchFamily="34" charset="0"/>
                <a:ea typeface="Aptos" pitchFamily="34" charset="-122"/>
                <a:cs typeface="Aptos" pitchFamily="34" charset="-120"/>
              </a:rPr>
              <a:t>Source &amp; retrieval</a:t>
            </a:r>
            <a:endParaRPr lang="en-US" sz="960" dirty="0"/>
          </a:p>
        </p:txBody>
      </p:sp>
      <p:sp>
        <p:nvSpPr>
          <p:cNvPr id="30" name="Shape 28"/>
          <p:cNvSpPr/>
          <p:nvPr/>
        </p:nvSpPr>
        <p:spPr>
          <a:xfrm>
            <a:off x="6419088" y="3081528"/>
            <a:ext cx="384048" cy="384048"/>
          </a:xfrm>
          <a:prstGeom prst="ellipse">
            <a:avLst/>
          </a:prstGeom>
          <a:solidFill>
            <a:srgbClr val="1479FF"/>
          </a:solidFill>
          <a:ln w="12700">
            <a:solidFill>
              <a:srgbClr val="1479FF">
                <a:alpha val="0"/>
              </a:srgbClr>
            </a:solidFill>
            <a:prstDash val="solid"/>
          </a:ln>
        </p:spPr>
      </p:sp>
      <p:sp>
        <p:nvSpPr>
          <p:cNvPr id="31" name="Text 29"/>
          <p:cNvSpPr/>
          <p:nvPr/>
        </p:nvSpPr>
        <p:spPr>
          <a:xfrm>
            <a:off x="6419088" y="3090672"/>
            <a:ext cx="384048" cy="347472"/>
          </a:xfrm>
          <a:prstGeom prst="rect">
            <a:avLst/>
          </a:prstGeom>
          <a:noFill/>
          <a:ln/>
        </p:spPr>
        <p:txBody>
          <a:bodyPr wrap="square" lIns="0" tIns="0" rIns="0" bIns="0" rtlCol="0" anchor="ctr">
            <a:normAutofit/>
          </a:bodyPr>
          <a:lstStyle/>
          <a:p>
            <a:pPr algn="ctr" indent="0" marL="0">
              <a:buNone/>
            </a:pPr>
            <a:r>
              <a:rPr lang="en-US" sz="1100" b="1" dirty="0">
                <a:solidFill>
                  <a:srgbClr val="06131D"/>
                </a:solidFill>
                <a:latin typeface="Aptos" pitchFamily="34" charset="0"/>
                <a:ea typeface="Aptos" pitchFamily="34" charset="-122"/>
                <a:cs typeface="Aptos" pitchFamily="34" charset="-120"/>
              </a:rPr>
              <a:t>2</a:t>
            </a:r>
            <a:endParaRPr lang="en-US" sz="1100" dirty="0"/>
          </a:p>
        </p:txBody>
      </p:sp>
      <p:sp>
        <p:nvSpPr>
          <p:cNvPr id="32" name="Text 30"/>
          <p:cNvSpPr/>
          <p:nvPr/>
        </p:nvSpPr>
        <p:spPr>
          <a:xfrm>
            <a:off x="6949440" y="3090672"/>
            <a:ext cx="3383280" cy="228600"/>
          </a:xfrm>
          <a:prstGeom prst="rect">
            <a:avLst/>
          </a:prstGeom>
          <a:noFill/>
          <a:ln/>
        </p:spPr>
        <p:txBody>
          <a:bodyPr wrap="square" lIns="0" tIns="0" rIns="0" bIns="0" rtlCol="0" anchor="ctr">
            <a:normAutofit/>
          </a:bodyPr>
          <a:lstStyle/>
          <a:p>
            <a:pPr algn="l" indent="0" marL="0">
              <a:buNone/>
            </a:pPr>
            <a:r>
              <a:rPr lang="en-US" sz="960" dirty="0">
                <a:solidFill>
                  <a:srgbClr val="F4F8FA"/>
                </a:solidFill>
                <a:latin typeface="Aptos" pitchFamily="34" charset="0"/>
                <a:ea typeface="Aptos" pitchFamily="34" charset="-122"/>
                <a:cs typeface="Aptos" pitchFamily="34" charset="-120"/>
              </a:rPr>
              <a:t>Quality gate</a:t>
            </a:r>
            <a:endParaRPr lang="en-US" sz="960" dirty="0"/>
          </a:p>
        </p:txBody>
      </p:sp>
      <p:sp>
        <p:nvSpPr>
          <p:cNvPr id="33" name="Shape 31"/>
          <p:cNvSpPr/>
          <p:nvPr/>
        </p:nvSpPr>
        <p:spPr>
          <a:xfrm>
            <a:off x="6419088" y="3438144"/>
            <a:ext cx="384048" cy="384048"/>
          </a:xfrm>
          <a:prstGeom prst="ellipse">
            <a:avLst/>
          </a:prstGeom>
          <a:solidFill>
            <a:srgbClr val="1479FF"/>
          </a:solidFill>
          <a:ln w="12700">
            <a:solidFill>
              <a:srgbClr val="1479FF">
                <a:alpha val="0"/>
              </a:srgbClr>
            </a:solidFill>
            <a:prstDash val="solid"/>
          </a:ln>
        </p:spPr>
      </p:sp>
      <p:sp>
        <p:nvSpPr>
          <p:cNvPr id="34" name="Text 32"/>
          <p:cNvSpPr/>
          <p:nvPr/>
        </p:nvSpPr>
        <p:spPr>
          <a:xfrm>
            <a:off x="6419088" y="3447288"/>
            <a:ext cx="384048" cy="347472"/>
          </a:xfrm>
          <a:prstGeom prst="rect">
            <a:avLst/>
          </a:prstGeom>
          <a:noFill/>
          <a:ln/>
        </p:spPr>
        <p:txBody>
          <a:bodyPr wrap="square" lIns="0" tIns="0" rIns="0" bIns="0" rtlCol="0" anchor="ctr">
            <a:normAutofit/>
          </a:bodyPr>
          <a:lstStyle/>
          <a:p>
            <a:pPr algn="ctr" indent="0" marL="0">
              <a:buNone/>
            </a:pPr>
            <a:r>
              <a:rPr lang="en-US" sz="1100" b="1" dirty="0">
                <a:solidFill>
                  <a:srgbClr val="06131D"/>
                </a:solidFill>
                <a:latin typeface="Aptos" pitchFamily="34" charset="0"/>
                <a:ea typeface="Aptos" pitchFamily="34" charset="-122"/>
                <a:cs typeface="Aptos" pitchFamily="34" charset="-120"/>
              </a:rPr>
              <a:t>3</a:t>
            </a:r>
            <a:endParaRPr lang="en-US" sz="1100" dirty="0"/>
          </a:p>
        </p:txBody>
      </p:sp>
      <p:sp>
        <p:nvSpPr>
          <p:cNvPr id="35" name="Text 33"/>
          <p:cNvSpPr/>
          <p:nvPr/>
        </p:nvSpPr>
        <p:spPr>
          <a:xfrm>
            <a:off x="6949440" y="3447288"/>
            <a:ext cx="3383280" cy="228600"/>
          </a:xfrm>
          <a:prstGeom prst="rect">
            <a:avLst/>
          </a:prstGeom>
          <a:noFill/>
          <a:ln/>
        </p:spPr>
        <p:txBody>
          <a:bodyPr wrap="square" lIns="0" tIns="0" rIns="0" bIns="0" rtlCol="0" anchor="ctr">
            <a:normAutofit/>
          </a:bodyPr>
          <a:lstStyle/>
          <a:p>
            <a:pPr algn="l" indent="0" marL="0">
              <a:buNone/>
            </a:pPr>
            <a:r>
              <a:rPr lang="en-US" sz="960" dirty="0">
                <a:solidFill>
                  <a:srgbClr val="F4F8FA"/>
                </a:solidFill>
                <a:latin typeface="Aptos" pitchFamily="34" charset="0"/>
                <a:ea typeface="Aptos" pitchFamily="34" charset="-122"/>
                <a:cs typeface="Aptos" pitchFamily="34" charset="-120"/>
              </a:rPr>
              <a:t>Annualization</a:t>
            </a:r>
            <a:endParaRPr lang="en-US" sz="960" dirty="0"/>
          </a:p>
        </p:txBody>
      </p:sp>
      <p:sp>
        <p:nvSpPr>
          <p:cNvPr id="36" name="Shape 34"/>
          <p:cNvSpPr/>
          <p:nvPr/>
        </p:nvSpPr>
        <p:spPr>
          <a:xfrm>
            <a:off x="6419088" y="3794760"/>
            <a:ext cx="384048" cy="384048"/>
          </a:xfrm>
          <a:prstGeom prst="ellipse">
            <a:avLst/>
          </a:prstGeom>
          <a:solidFill>
            <a:srgbClr val="1479FF"/>
          </a:solidFill>
          <a:ln w="12700">
            <a:solidFill>
              <a:srgbClr val="1479FF">
                <a:alpha val="0"/>
              </a:srgbClr>
            </a:solidFill>
            <a:prstDash val="solid"/>
          </a:ln>
        </p:spPr>
      </p:sp>
      <p:sp>
        <p:nvSpPr>
          <p:cNvPr id="37" name="Text 35"/>
          <p:cNvSpPr/>
          <p:nvPr/>
        </p:nvSpPr>
        <p:spPr>
          <a:xfrm>
            <a:off x="6419088" y="3803904"/>
            <a:ext cx="384048" cy="347472"/>
          </a:xfrm>
          <a:prstGeom prst="rect">
            <a:avLst/>
          </a:prstGeom>
          <a:noFill/>
          <a:ln/>
        </p:spPr>
        <p:txBody>
          <a:bodyPr wrap="square" lIns="0" tIns="0" rIns="0" bIns="0" rtlCol="0" anchor="ctr">
            <a:normAutofit/>
          </a:bodyPr>
          <a:lstStyle/>
          <a:p>
            <a:pPr algn="ctr" indent="0" marL="0">
              <a:buNone/>
            </a:pPr>
            <a:r>
              <a:rPr lang="en-US" sz="1100" b="1" dirty="0">
                <a:solidFill>
                  <a:srgbClr val="06131D"/>
                </a:solidFill>
                <a:latin typeface="Aptos" pitchFamily="34" charset="0"/>
                <a:ea typeface="Aptos" pitchFamily="34" charset="-122"/>
                <a:cs typeface="Aptos" pitchFamily="34" charset="-120"/>
              </a:rPr>
              <a:t>4</a:t>
            </a:r>
            <a:endParaRPr lang="en-US" sz="1100" dirty="0"/>
          </a:p>
        </p:txBody>
      </p:sp>
      <p:sp>
        <p:nvSpPr>
          <p:cNvPr id="38" name="Text 36"/>
          <p:cNvSpPr/>
          <p:nvPr/>
        </p:nvSpPr>
        <p:spPr>
          <a:xfrm>
            <a:off x="6949440" y="3803904"/>
            <a:ext cx="3383280" cy="228600"/>
          </a:xfrm>
          <a:prstGeom prst="rect">
            <a:avLst/>
          </a:prstGeom>
          <a:noFill/>
          <a:ln/>
        </p:spPr>
        <p:txBody>
          <a:bodyPr wrap="square" lIns="0" tIns="0" rIns="0" bIns="0" rtlCol="0" anchor="ctr">
            <a:normAutofit/>
          </a:bodyPr>
          <a:lstStyle/>
          <a:p>
            <a:pPr algn="l" indent="0" marL="0">
              <a:buNone/>
            </a:pPr>
            <a:r>
              <a:rPr lang="en-US" sz="960" dirty="0">
                <a:solidFill>
                  <a:srgbClr val="F4F8FA"/>
                </a:solidFill>
                <a:latin typeface="Aptos" pitchFamily="34" charset="0"/>
                <a:ea typeface="Aptos" pitchFamily="34" charset="-122"/>
                <a:cs typeface="Aptos" pitchFamily="34" charset="-120"/>
              </a:rPr>
              <a:t>Baseline</a:t>
            </a:r>
            <a:endParaRPr lang="en-US" sz="960" dirty="0"/>
          </a:p>
        </p:txBody>
      </p:sp>
      <p:sp>
        <p:nvSpPr>
          <p:cNvPr id="39" name="Shape 37"/>
          <p:cNvSpPr/>
          <p:nvPr/>
        </p:nvSpPr>
        <p:spPr>
          <a:xfrm>
            <a:off x="6419088" y="4151376"/>
            <a:ext cx="384048" cy="384048"/>
          </a:xfrm>
          <a:prstGeom prst="ellipse">
            <a:avLst/>
          </a:prstGeom>
          <a:solidFill>
            <a:srgbClr val="1479FF"/>
          </a:solidFill>
          <a:ln w="12700">
            <a:solidFill>
              <a:srgbClr val="1479FF">
                <a:alpha val="0"/>
              </a:srgbClr>
            </a:solidFill>
            <a:prstDash val="solid"/>
          </a:ln>
        </p:spPr>
      </p:sp>
      <p:sp>
        <p:nvSpPr>
          <p:cNvPr id="40" name="Text 38"/>
          <p:cNvSpPr/>
          <p:nvPr/>
        </p:nvSpPr>
        <p:spPr>
          <a:xfrm>
            <a:off x="6419088" y="4160520"/>
            <a:ext cx="384048" cy="347472"/>
          </a:xfrm>
          <a:prstGeom prst="rect">
            <a:avLst/>
          </a:prstGeom>
          <a:noFill/>
          <a:ln/>
        </p:spPr>
        <p:txBody>
          <a:bodyPr wrap="square" lIns="0" tIns="0" rIns="0" bIns="0" rtlCol="0" anchor="ctr">
            <a:normAutofit/>
          </a:bodyPr>
          <a:lstStyle/>
          <a:p>
            <a:pPr algn="ctr" indent="0" marL="0">
              <a:buNone/>
            </a:pPr>
            <a:r>
              <a:rPr lang="en-US" sz="1100" b="1" dirty="0">
                <a:solidFill>
                  <a:srgbClr val="06131D"/>
                </a:solidFill>
                <a:latin typeface="Aptos" pitchFamily="34" charset="0"/>
                <a:ea typeface="Aptos" pitchFamily="34" charset="-122"/>
                <a:cs typeface="Aptos" pitchFamily="34" charset="-120"/>
              </a:rPr>
              <a:t>5</a:t>
            </a:r>
            <a:endParaRPr lang="en-US" sz="1100" dirty="0"/>
          </a:p>
        </p:txBody>
      </p:sp>
      <p:sp>
        <p:nvSpPr>
          <p:cNvPr id="41" name="Text 39"/>
          <p:cNvSpPr/>
          <p:nvPr/>
        </p:nvSpPr>
        <p:spPr>
          <a:xfrm>
            <a:off x="6949440" y="4160520"/>
            <a:ext cx="3383280" cy="228600"/>
          </a:xfrm>
          <a:prstGeom prst="rect">
            <a:avLst/>
          </a:prstGeom>
          <a:noFill/>
          <a:ln/>
        </p:spPr>
        <p:txBody>
          <a:bodyPr wrap="square" lIns="0" tIns="0" rIns="0" bIns="0" rtlCol="0" anchor="ctr">
            <a:normAutofit/>
          </a:bodyPr>
          <a:lstStyle/>
          <a:p>
            <a:pPr algn="l" indent="0" marL="0">
              <a:buNone/>
            </a:pPr>
            <a:r>
              <a:rPr lang="en-US" sz="960" dirty="0">
                <a:solidFill>
                  <a:srgbClr val="F4F8FA"/>
                </a:solidFill>
                <a:latin typeface="Aptos" pitchFamily="34" charset="0"/>
                <a:ea typeface="Aptos" pitchFamily="34" charset="-122"/>
                <a:cs typeface="Aptos" pitchFamily="34" charset="-120"/>
              </a:rPr>
              <a:t>Trend</a:t>
            </a:r>
            <a:endParaRPr lang="en-US" sz="960" dirty="0"/>
          </a:p>
        </p:txBody>
      </p:sp>
      <p:sp>
        <p:nvSpPr>
          <p:cNvPr id="42" name="Shape 40"/>
          <p:cNvSpPr/>
          <p:nvPr/>
        </p:nvSpPr>
        <p:spPr>
          <a:xfrm>
            <a:off x="6419088" y="4507992"/>
            <a:ext cx="384048" cy="384048"/>
          </a:xfrm>
          <a:prstGeom prst="ellipse">
            <a:avLst/>
          </a:prstGeom>
          <a:solidFill>
            <a:srgbClr val="1479FF"/>
          </a:solidFill>
          <a:ln w="12700">
            <a:solidFill>
              <a:srgbClr val="1479FF">
                <a:alpha val="0"/>
              </a:srgbClr>
            </a:solidFill>
            <a:prstDash val="solid"/>
          </a:ln>
        </p:spPr>
      </p:sp>
      <p:sp>
        <p:nvSpPr>
          <p:cNvPr id="43" name="Text 41"/>
          <p:cNvSpPr/>
          <p:nvPr/>
        </p:nvSpPr>
        <p:spPr>
          <a:xfrm>
            <a:off x="6419088" y="4517136"/>
            <a:ext cx="384048" cy="347472"/>
          </a:xfrm>
          <a:prstGeom prst="rect">
            <a:avLst/>
          </a:prstGeom>
          <a:noFill/>
          <a:ln/>
        </p:spPr>
        <p:txBody>
          <a:bodyPr wrap="square" lIns="0" tIns="0" rIns="0" bIns="0" rtlCol="0" anchor="ctr">
            <a:normAutofit/>
          </a:bodyPr>
          <a:lstStyle/>
          <a:p>
            <a:pPr algn="ctr" indent="0" marL="0">
              <a:buNone/>
            </a:pPr>
            <a:r>
              <a:rPr lang="en-US" sz="1100" b="1" dirty="0">
                <a:solidFill>
                  <a:srgbClr val="06131D"/>
                </a:solidFill>
                <a:latin typeface="Aptos" pitchFamily="34" charset="0"/>
                <a:ea typeface="Aptos" pitchFamily="34" charset="-122"/>
                <a:cs typeface="Aptos" pitchFamily="34" charset="-120"/>
              </a:rPr>
              <a:t>6</a:t>
            </a:r>
            <a:endParaRPr lang="en-US" sz="1100" dirty="0"/>
          </a:p>
        </p:txBody>
      </p:sp>
      <p:sp>
        <p:nvSpPr>
          <p:cNvPr id="44" name="Text 42"/>
          <p:cNvSpPr/>
          <p:nvPr/>
        </p:nvSpPr>
        <p:spPr>
          <a:xfrm>
            <a:off x="6949440" y="4517136"/>
            <a:ext cx="3383280" cy="228600"/>
          </a:xfrm>
          <a:prstGeom prst="rect">
            <a:avLst/>
          </a:prstGeom>
          <a:noFill/>
          <a:ln/>
        </p:spPr>
        <p:txBody>
          <a:bodyPr wrap="square" lIns="0" tIns="0" rIns="0" bIns="0" rtlCol="0" anchor="ctr">
            <a:normAutofit/>
          </a:bodyPr>
          <a:lstStyle/>
          <a:p>
            <a:pPr algn="l" indent="0" marL="0">
              <a:buNone/>
            </a:pPr>
            <a:r>
              <a:rPr lang="en-US" sz="960" dirty="0">
                <a:solidFill>
                  <a:srgbClr val="F4F8FA"/>
                </a:solidFill>
                <a:latin typeface="Aptos" pitchFamily="34" charset="0"/>
                <a:ea typeface="Aptos" pitchFamily="34" charset="-122"/>
                <a:cs typeface="Aptos" pitchFamily="34" charset="-120"/>
              </a:rPr>
              <a:t>Significance</a:t>
            </a:r>
            <a:endParaRPr lang="en-US" sz="960" dirty="0"/>
          </a:p>
        </p:txBody>
      </p:sp>
      <p:sp>
        <p:nvSpPr>
          <p:cNvPr id="45" name="Shape 43"/>
          <p:cNvSpPr/>
          <p:nvPr/>
        </p:nvSpPr>
        <p:spPr>
          <a:xfrm>
            <a:off x="6419088" y="4864608"/>
            <a:ext cx="384048" cy="384048"/>
          </a:xfrm>
          <a:prstGeom prst="ellipse">
            <a:avLst/>
          </a:prstGeom>
          <a:solidFill>
            <a:srgbClr val="F2E84A"/>
          </a:solidFill>
          <a:ln w="12700">
            <a:solidFill>
              <a:srgbClr val="F2E84A">
                <a:alpha val="0"/>
              </a:srgbClr>
            </a:solidFill>
            <a:prstDash val="solid"/>
          </a:ln>
        </p:spPr>
      </p:sp>
      <p:sp>
        <p:nvSpPr>
          <p:cNvPr id="46" name="Text 44"/>
          <p:cNvSpPr/>
          <p:nvPr/>
        </p:nvSpPr>
        <p:spPr>
          <a:xfrm>
            <a:off x="6419088" y="4873752"/>
            <a:ext cx="384048" cy="347472"/>
          </a:xfrm>
          <a:prstGeom prst="rect">
            <a:avLst/>
          </a:prstGeom>
          <a:noFill/>
          <a:ln/>
        </p:spPr>
        <p:txBody>
          <a:bodyPr wrap="square" lIns="0" tIns="0" rIns="0" bIns="0" rtlCol="0" anchor="ctr">
            <a:normAutofit/>
          </a:bodyPr>
          <a:lstStyle/>
          <a:p>
            <a:pPr algn="ctr" indent="0" marL="0">
              <a:buNone/>
            </a:pPr>
            <a:r>
              <a:rPr lang="en-US" sz="1100" b="1" dirty="0">
                <a:solidFill>
                  <a:srgbClr val="06131D"/>
                </a:solidFill>
                <a:latin typeface="Aptos" pitchFamily="34" charset="0"/>
                <a:ea typeface="Aptos" pitchFamily="34" charset="-122"/>
                <a:cs typeface="Aptos" pitchFamily="34" charset="-120"/>
              </a:rPr>
              <a:t>7</a:t>
            </a:r>
            <a:endParaRPr lang="en-US" sz="1100" dirty="0"/>
          </a:p>
        </p:txBody>
      </p:sp>
      <p:sp>
        <p:nvSpPr>
          <p:cNvPr id="47" name="Text 45"/>
          <p:cNvSpPr/>
          <p:nvPr/>
        </p:nvSpPr>
        <p:spPr>
          <a:xfrm>
            <a:off x="6949440" y="4873752"/>
            <a:ext cx="3383280" cy="228600"/>
          </a:xfrm>
          <a:prstGeom prst="rect">
            <a:avLst/>
          </a:prstGeom>
          <a:noFill/>
          <a:ln/>
        </p:spPr>
        <p:txBody>
          <a:bodyPr wrap="square" lIns="0" tIns="0" rIns="0" bIns="0" rtlCol="0" anchor="ctr">
            <a:normAutofit/>
          </a:bodyPr>
          <a:lstStyle/>
          <a:p>
            <a:pPr algn="l" indent="0" marL="0">
              <a:buNone/>
            </a:pPr>
            <a:r>
              <a:rPr lang="en-US" sz="960" b="1" dirty="0">
                <a:solidFill>
                  <a:srgbClr val="F4F8FA"/>
                </a:solidFill>
                <a:latin typeface="Aptos" pitchFamily="34" charset="0"/>
                <a:ea typeface="Aptos" pitchFamily="34" charset="-122"/>
                <a:cs typeface="Aptos" pitchFamily="34" charset="-120"/>
              </a:rPr>
              <a:t>Spatial correction</a:t>
            </a:r>
            <a:endParaRPr lang="en-US" sz="960" dirty="0"/>
          </a:p>
        </p:txBody>
      </p:sp>
      <p:sp>
        <p:nvSpPr>
          <p:cNvPr id="48" name="Text 46"/>
          <p:cNvSpPr/>
          <p:nvPr/>
        </p:nvSpPr>
        <p:spPr>
          <a:xfrm>
            <a:off x="6419088" y="5148072"/>
            <a:ext cx="4526280" cy="402336"/>
          </a:xfrm>
          <a:prstGeom prst="rect">
            <a:avLst/>
          </a:prstGeom>
          <a:noFill/>
          <a:ln/>
        </p:spPr>
        <p:txBody>
          <a:bodyPr wrap="square" lIns="0" tIns="0" rIns="0" bIns="0" rtlCol="0" anchor="ctr">
            <a:normAutofit/>
          </a:bodyPr>
          <a:lstStyle/>
          <a:p>
            <a:pPr algn="l" indent="0" marL="0">
              <a:buNone/>
            </a:pPr>
            <a:r>
              <a:rPr lang="en-US" sz="930" dirty="0">
                <a:solidFill>
                  <a:srgbClr val="A7BBC5"/>
                </a:solidFill>
                <a:latin typeface="Aptos" pitchFamily="34" charset="0"/>
                <a:ea typeface="Aptos" pitchFamily="34" charset="-122"/>
                <a:cs typeface="Aptos" pitchFamily="34" charset="-120"/>
              </a:rPr>
              <a:t>Wildfire events (NASA EONET) are context only,</a:t>
            </a:r>
            <a:endParaRPr lang="en-US" sz="930" dirty="0"/>
          </a:p>
          <a:p>
            <a:pPr algn="l" indent="0" marL="0">
              <a:buNone/>
            </a:pPr>
            <a:r>
              <a:rPr lang="en-US" sz="930" dirty="0">
                <a:solidFill>
                  <a:srgbClr val="A7BBC5"/>
                </a:solidFill>
                <a:latin typeface="Aptos" pitchFamily="34" charset="0"/>
                <a:ea typeface="Aptos" pitchFamily="34" charset="-122"/>
                <a:cs typeface="Aptos" pitchFamily="34" charset="-120"/>
              </a:rPr>
              <a:t>not a climate-rate estimator.</a:t>
            </a:r>
            <a:endParaRPr lang="en-US" sz="930" dirty="0"/>
          </a:p>
        </p:txBody>
      </p:sp>
      <p:sp>
        <p:nvSpPr>
          <p:cNvPr id="49" name="Shape 47"/>
          <p:cNvSpPr/>
          <p:nvPr/>
        </p:nvSpPr>
        <p:spPr>
          <a:xfrm>
            <a:off x="6419088" y="5632704"/>
            <a:ext cx="1572768" cy="265176"/>
          </a:xfrm>
          <a:prstGeom prst="roundRect">
            <a:avLst>
              <a:gd name="adj" fmla="val 31034"/>
            </a:avLst>
          </a:prstGeom>
          <a:solidFill>
            <a:srgbClr val="F2E84A"/>
          </a:solidFill>
          <a:ln w="12700">
            <a:solidFill>
              <a:srgbClr val="F2E84A">
                <a:alpha val="0"/>
              </a:srgbClr>
            </a:solidFill>
            <a:prstDash val="solid"/>
          </a:ln>
        </p:spPr>
      </p:sp>
      <p:sp>
        <p:nvSpPr>
          <p:cNvPr id="50" name="Text 48"/>
          <p:cNvSpPr/>
          <p:nvPr/>
        </p:nvSpPr>
        <p:spPr>
          <a:xfrm>
            <a:off x="6510528" y="5641848"/>
            <a:ext cx="1389888" cy="228600"/>
          </a:xfrm>
          <a:prstGeom prst="rect">
            <a:avLst/>
          </a:prstGeom>
          <a:noFill/>
          <a:ln/>
        </p:spPr>
        <p:txBody>
          <a:bodyPr wrap="square" lIns="0" tIns="0" rIns="0" bIns="0" rtlCol="0" anchor="ctr">
            <a:normAutofit/>
          </a:bodyPr>
          <a:lstStyle/>
          <a:p>
            <a:pPr algn="ctr" indent="0" marL="0">
              <a:buNone/>
            </a:pPr>
            <a:r>
              <a:rPr lang="en-US" sz="850" b="1" spc="40" kern="0" dirty="0">
                <a:solidFill>
                  <a:srgbClr val="06131D"/>
                </a:solidFill>
                <a:latin typeface="Aptos" pitchFamily="34" charset="0"/>
                <a:ea typeface="Aptos" pitchFamily="34" charset="-122"/>
                <a:cs typeface="Aptos" pitchFamily="34" charset="-120"/>
              </a:rPr>
              <a:t>NO CAUSALITY CLAIM</a:t>
            </a:r>
            <a:endParaRPr lang="en-US" sz="850" dirty="0"/>
          </a:p>
        </p:txBody>
      </p:sp>
      <p:sp>
        <p:nvSpPr>
          <p:cNvPr id="25" name="Slide Number Placeholder 0"/>
          <p:cNvSpPr>
            <a:spLocks noGrp="1"/>
          </p:cNvSpPr>
          <p:nvPr>
            <p:ph type="sldNum" sz="quarter" idx="4294967295"/>
          </p:nvPr>
        </p:nvSpPr>
        <p:spPr>
          <a:xfrm>
            <a:off x="11759184" y="6556248"/>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A95A1"/>
                </a:solidFill>
                <a:latin typeface="Aptos"/>
                <a:ea typeface="Aptos"/>
                <a:cs typeface="Aptos"/>
              </a:defRPr>
            </a:lvl1pPr>
          </a:lstStyle>
          <a:p>
            <a:pPr algn="l"/>
            <a:fld id="{F7021451-1387-4CA6-816F-3879F97B5CBC}" type="slidenum">
              <a:rPr b="0" lang="en-US"/>
              <a:t>4</a:t>
            </a:fld>
            <a:endParaRPr lang="en-US"/>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30352" y="402336"/>
            <a:ext cx="2743200" cy="228600"/>
          </a:xfrm>
          <a:prstGeom prst="rect">
            <a:avLst/>
          </a:prstGeom>
          <a:noFill/>
          <a:ln/>
        </p:spPr>
        <p:txBody>
          <a:bodyPr wrap="square" lIns="0" tIns="0" rIns="0" bIns="0" rtlCol="0" anchor="ctr">
            <a:normAutofit/>
          </a:bodyPr>
          <a:lstStyle/>
          <a:p>
            <a:pPr algn="l" indent="0" marL="0">
              <a:buNone/>
            </a:pPr>
            <a:r>
              <a:rPr lang="en-US" sz="900" b="1" spc="140" kern="0" dirty="0">
                <a:solidFill>
                  <a:srgbClr val="41D9FF"/>
                </a:solidFill>
                <a:latin typeface="Aptos" pitchFamily="34" charset="0"/>
                <a:ea typeface="Aptos" pitchFamily="34" charset="-122"/>
                <a:cs typeface="Aptos" pitchFamily="34" charset="-120"/>
              </a:rPr>
              <a:t>04 / PRODUCT VIEW</a:t>
            </a:r>
            <a:endParaRPr lang="en-US" sz="900" dirty="0"/>
          </a:p>
        </p:txBody>
      </p:sp>
      <p:sp>
        <p:nvSpPr>
          <p:cNvPr id="3" name="Text 1"/>
          <p:cNvSpPr/>
          <p:nvPr/>
        </p:nvSpPr>
        <p:spPr>
          <a:xfrm>
            <a:off x="530352" y="749808"/>
            <a:ext cx="10698480" cy="594360"/>
          </a:xfrm>
          <a:prstGeom prst="rect">
            <a:avLst/>
          </a:prstGeom>
          <a:noFill/>
          <a:ln/>
        </p:spPr>
        <p:txBody>
          <a:bodyPr wrap="square" lIns="0" tIns="0" rIns="0" bIns="0" rtlCol="0" anchor="ctr">
            <a:normAutofit/>
          </a:bodyPr>
          <a:lstStyle/>
          <a:p>
            <a:pPr algn="l" indent="0" marL="0">
              <a:buNone/>
            </a:pPr>
            <a:r>
              <a:rPr lang="en-US" sz="2700" b="1" dirty="0">
                <a:solidFill>
                  <a:srgbClr val="F4F8FA"/>
                </a:solidFill>
                <a:latin typeface="Aptos Display" pitchFamily="34" charset="0"/>
                <a:ea typeface="Aptos Display" pitchFamily="34" charset="-122"/>
                <a:cs typeface="Aptos Display" pitchFamily="34" charset="-120"/>
              </a:rPr>
              <a:t>A case file for one place.</a:t>
            </a:r>
            <a:endParaRPr lang="en-US" sz="2700" dirty="0"/>
          </a:p>
        </p:txBody>
      </p:sp>
      <p:sp>
        <p:nvSpPr>
          <p:cNvPr id="4" name="Text 2"/>
          <p:cNvSpPr/>
          <p:nvPr/>
        </p:nvSpPr>
        <p:spPr>
          <a:xfrm>
            <a:off x="548640" y="1399032"/>
            <a:ext cx="10515600" cy="365760"/>
          </a:xfrm>
          <a:prstGeom prst="rect">
            <a:avLst/>
          </a:prstGeom>
          <a:noFill/>
          <a:ln/>
        </p:spPr>
        <p:txBody>
          <a:bodyPr wrap="square" lIns="0" tIns="0" rIns="0" bIns="0" rtlCol="0" anchor="ctr">
            <a:normAutofit/>
          </a:bodyPr>
          <a:lstStyle/>
          <a:p>
            <a:pPr algn="l" indent="0" marL="0">
              <a:buNone/>
            </a:pPr>
            <a:r>
              <a:rPr lang="en-US" sz="1150" dirty="0">
                <a:solidFill>
                  <a:srgbClr val="A7BBC5"/>
                </a:solidFill>
                <a:latin typeface="Aptos" pitchFamily="34" charset="0"/>
                <a:ea typeface="Aptos" pitchFamily="34" charset="-122"/>
                <a:cs typeface="Aptos" pitchFamily="34" charset="-120"/>
              </a:rPr>
              <a:t>Illustrative interface preview: the product keeps the user focused on one investigation while exposing the evidence chain.</a:t>
            </a:r>
            <a:endParaRPr lang="en-US" sz="1150" dirty="0"/>
          </a:p>
        </p:txBody>
      </p:sp>
      <p:sp>
        <p:nvSpPr>
          <p:cNvPr id="5" name="Shape 3"/>
          <p:cNvSpPr/>
          <p:nvPr/>
        </p:nvSpPr>
        <p:spPr>
          <a:xfrm>
            <a:off x="566928" y="1938528"/>
            <a:ext cx="10991088" cy="3968496"/>
          </a:xfrm>
          <a:prstGeom prst="roundRect">
            <a:avLst>
              <a:gd name="adj" fmla="val 2765"/>
            </a:avLst>
          </a:prstGeom>
          <a:solidFill>
            <a:srgbClr val="081A25"/>
          </a:solidFill>
          <a:ln w="12700">
            <a:solidFill>
              <a:srgbClr val="1B3947">
                <a:alpha val="65000"/>
              </a:srgbClr>
            </a:solidFill>
            <a:prstDash val="solid"/>
          </a:ln>
        </p:spPr>
      </p:sp>
      <p:sp>
        <p:nvSpPr>
          <p:cNvPr id="6" name="Shape 4"/>
          <p:cNvSpPr/>
          <p:nvPr/>
        </p:nvSpPr>
        <p:spPr>
          <a:xfrm>
            <a:off x="566928" y="1938528"/>
            <a:ext cx="10991088" cy="384048"/>
          </a:xfrm>
          <a:prstGeom prst="rect">
            <a:avLst/>
          </a:prstGeom>
          <a:solidFill>
            <a:srgbClr val="102938"/>
          </a:solidFill>
          <a:ln w="12700">
            <a:solidFill>
              <a:srgbClr val="102938">
                <a:alpha val="0"/>
              </a:srgbClr>
            </a:solidFill>
            <a:prstDash val="solid"/>
          </a:ln>
        </p:spPr>
      </p:sp>
      <p:sp>
        <p:nvSpPr>
          <p:cNvPr id="7" name="Shape 5"/>
          <p:cNvSpPr/>
          <p:nvPr/>
        </p:nvSpPr>
        <p:spPr>
          <a:xfrm>
            <a:off x="749808" y="2057400"/>
            <a:ext cx="82296" cy="82296"/>
          </a:xfrm>
          <a:prstGeom prst="ellipse">
            <a:avLst/>
          </a:prstGeom>
          <a:solidFill>
            <a:srgbClr val="FF6B6B"/>
          </a:solidFill>
          <a:ln w="12700">
            <a:solidFill>
              <a:srgbClr val="FF6B6B">
                <a:alpha val="0"/>
              </a:srgbClr>
            </a:solidFill>
            <a:prstDash val="solid"/>
          </a:ln>
        </p:spPr>
      </p:sp>
      <p:sp>
        <p:nvSpPr>
          <p:cNvPr id="8" name="Shape 6"/>
          <p:cNvSpPr/>
          <p:nvPr/>
        </p:nvSpPr>
        <p:spPr>
          <a:xfrm>
            <a:off x="932688" y="2057400"/>
            <a:ext cx="82296" cy="82296"/>
          </a:xfrm>
          <a:prstGeom prst="ellipse">
            <a:avLst/>
          </a:prstGeom>
          <a:solidFill>
            <a:srgbClr val="F2E84A"/>
          </a:solidFill>
          <a:ln w="12700">
            <a:solidFill>
              <a:srgbClr val="F2E84A">
                <a:alpha val="0"/>
              </a:srgbClr>
            </a:solidFill>
            <a:prstDash val="solid"/>
          </a:ln>
        </p:spPr>
      </p:sp>
      <p:sp>
        <p:nvSpPr>
          <p:cNvPr id="9" name="Shape 7"/>
          <p:cNvSpPr/>
          <p:nvPr/>
        </p:nvSpPr>
        <p:spPr>
          <a:xfrm>
            <a:off x="1115568" y="2057400"/>
            <a:ext cx="82296" cy="82296"/>
          </a:xfrm>
          <a:prstGeom prst="ellipse">
            <a:avLst/>
          </a:prstGeom>
          <a:solidFill>
            <a:srgbClr val="67E0A3"/>
          </a:solidFill>
          <a:ln w="12700">
            <a:solidFill>
              <a:srgbClr val="67E0A3">
                <a:alpha val="0"/>
              </a:srgbClr>
            </a:solidFill>
            <a:prstDash val="solid"/>
          </a:ln>
        </p:spPr>
      </p:sp>
      <p:sp>
        <p:nvSpPr>
          <p:cNvPr id="10" name="Text 8"/>
          <p:cNvSpPr/>
          <p:nvPr/>
        </p:nvSpPr>
        <p:spPr>
          <a:xfrm>
            <a:off x="1417320" y="2011680"/>
            <a:ext cx="3657600" cy="182880"/>
          </a:xfrm>
          <a:prstGeom prst="rect">
            <a:avLst/>
          </a:prstGeom>
          <a:noFill/>
          <a:ln/>
        </p:spPr>
        <p:txBody>
          <a:bodyPr wrap="square" lIns="0" tIns="0" rIns="0" bIns="0" rtlCol="0" anchor="ctr">
            <a:normAutofit/>
          </a:bodyPr>
          <a:lstStyle/>
          <a:p>
            <a:pPr algn="l" indent="0" marL="0">
              <a:buNone/>
            </a:pPr>
            <a:r>
              <a:rPr lang="en-US" sz="800" dirty="0">
                <a:solidFill>
                  <a:srgbClr val="A7BBC5"/>
                </a:solidFill>
                <a:latin typeface="Aptos" pitchFamily="34" charset="0"/>
                <a:ea typeface="Aptos" pitchFamily="34" charset="-122"/>
                <a:cs typeface="Aptos" pitchFamily="34" charset="-120"/>
              </a:rPr>
              <a:t>earthtrend.local / investigate</a:t>
            </a:r>
            <a:endParaRPr lang="en-US" sz="800" dirty="0"/>
          </a:p>
        </p:txBody>
      </p:sp>
      <p:sp>
        <p:nvSpPr>
          <p:cNvPr id="11" name="Text 9"/>
          <p:cNvSpPr/>
          <p:nvPr/>
        </p:nvSpPr>
        <p:spPr>
          <a:xfrm>
            <a:off x="841248" y="2560320"/>
            <a:ext cx="1417320" cy="201168"/>
          </a:xfrm>
          <a:prstGeom prst="rect">
            <a:avLst/>
          </a:prstGeom>
          <a:noFill/>
          <a:ln/>
        </p:spPr>
        <p:txBody>
          <a:bodyPr wrap="square" lIns="0" tIns="0" rIns="0" bIns="0" rtlCol="0" anchor="ctr">
            <a:normAutofit/>
          </a:bodyPr>
          <a:lstStyle/>
          <a:p>
            <a:pPr algn="l" indent="0" marL="0">
              <a:buNone/>
            </a:pPr>
            <a:r>
              <a:rPr lang="en-US" sz="800" b="1" spc="70" kern="0" dirty="0">
                <a:solidFill>
                  <a:srgbClr val="41D9FF"/>
                </a:solidFill>
                <a:latin typeface="Aptos" pitchFamily="34" charset="0"/>
                <a:ea typeface="Aptos" pitchFamily="34" charset="-122"/>
                <a:cs typeface="Aptos" pitchFamily="34" charset="-120"/>
              </a:rPr>
              <a:t>REFERENCE POINT</a:t>
            </a:r>
            <a:endParaRPr lang="en-US" sz="800" dirty="0"/>
          </a:p>
        </p:txBody>
      </p:sp>
      <p:sp>
        <p:nvSpPr>
          <p:cNvPr id="12" name="Text 10"/>
          <p:cNvSpPr/>
          <p:nvPr/>
        </p:nvSpPr>
        <p:spPr>
          <a:xfrm>
            <a:off x="841248" y="2834640"/>
            <a:ext cx="2103120" cy="320040"/>
          </a:xfrm>
          <a:prstGeom prst="rect">
            <a:avLst/>
          </a:prstGeom>
          <a:noFill/>
          <a:ln/>
        </p:spPr>
        <p:txBody>
          <a:bodyPr wrap="square" lIns="0" tIns="0" rIns="0" bIns="0" rtlCol="0" anchor="ctr">
            <a:normAutofit/>
          </a:bodyPr>
          <a:lstStyle/>
          <a:p>
            <a:pPr algn="l" indent="0" marL="0">
              <a:buNone/>
            </a:pPr>
            <a:r>
              <a:rPr lang="en-US" sz="1500" b="1" dirty="0">
                <a:solidFill>
                  <a:srgbClr val="F4F8FA"/>
                </a:solidFill>
                <a:latin typeface="Aptos" pitchFamily="34" charset="0"/>
                <a:ea typeface="Aptos" pitchFamily="34" charset="-122"/>
                <a:cs typeface="Aptos" pitchFamily="34" charset="-120"/>
              </a:rPr>
              <a:t>Bangladesh</a:t>
            </a:r>
            <a:endParaRPr lang="en-US" sz="1500" dirty="0"/>
          </a:p>
        </p:txBody>
      </p:sp>
      <p:sp>
        <p:nvSpPr>
          <p:cNvPr id="13" name="Text 11"/>
          <p:cNvSpPr/>
          <p:nvPr/>
        </p:nvSpPr>
        <p:spPr>
          <a:xfrm>
            <a:off x="841248" y="3182112"/>
            <a:ext cx="2011680" cy="219456"/>
          </a:xfrm>
          <a:prstGeom prst="rect">
            <a:avLst/>
          </a:prstGeom>
          <a:noFill/>
          <a:ln/>
        </p:spPr>
        <p:txBody>
          <a:bodyPr wrap="square" lIns="0" tIns="0" rIns="0" bIns="0" rtlCol="0" anchor="ctr">
            <a:normAutofit/>
          </a:bodyPr>
          <a:lstStyle/>
          <a:p>
            <a:pPr algn="l" indent="0" marL="0">
              <a:buNone/>
            </a:pPr>
            <a:r>
              <a:rPr lang="en-US" sz="950" dirty="0">
                <a:solidFill>
                  <a:srgbClr val="A7BBC5"/>
                </a:solidFill>
                <a:latin typeface="Aptos" pitchFamily="34" charset="0"/>
                <a:ea typeface="Aptos" pitchFamily="34" charset="-122"/>
                <a:cs typeface="Aptos" pitchFamily="34" charset="-120"/>
              </a:rPr>
              <a:t>23.8° N   /   90.4° E</a:t>
            </a:r>
            <a:endParaRPr lang="en-US" sz="950" dirty="0"/>
          </a:p>
        </p:txBody>
      </p:sp>
      <p:sp>
        <p:nvSpPr>
          <p:cNvPr id="14" name="Shape 12"/>
          <p:cNvSpPr/>
          <p:nvPr/>
        </p:nvSpPr>
        <p:spPr>
          <a:xfrm>
            <a:off x="841248" y="3584448"/>
            <a:ext cx="548640" cy="265176"/>
          </a:xfrm>
          <a:prstGeom prst="roundRect">
            <a:avLst>
              <a:gd name="adj" fmla="val 31034"/>
            </a:avLst>
          </a:prstGeom>
          <a:solidFill>
            <a:srgbClr val="1479FF"/>
          </a:solidFill>
          <a:ln w="12700">
            <a:solidFill>
              <a:srgbClr val="1479FF">
                <a:alpha val="0"/>
              </a:srgbClr>
            </a:solidFill>
            <a:prstDash val="solid"/>
          </a:ln>
        </p:spPr>
      </p:sp>
      <p:sp>
        <p:nvSpPr>
          <p:cNvPr id="15" name="Text 13"/>
          <p:cNvSpPr/>
          <p:nvPr/>
        </p:nvSpPr>
        <p:spPr>
          <a:xfrm>
            <a:off x="932688" y="3593592"/>
            <a:ext cx="365760" cy="228600"/>
          </a:xfrm>
          <a:prstGeom prst="rect">
            <a:avLst/>
          </a:prstGeom>
          <a:noFill/>
          <a:ln/>
        </p:spPr>
        <p:txBody>
          <a:bodyPr wrap="square" lIns="0" tIns="0" rIns="0" bIns="0" rtlCol="0" anchor="ctr">
            <a:normAutofit/>
          </a:bodyPr>
          <a:lstStyle/>
          <a:p>
            <a:pPr algn="ctr" indent="0" marL="0">
              <a:buNone/>
            </a:pPr>
            <a:r>
              <a:rPr lang="en-US" sz="850" b="1" spc="40" kern="0" dirty="0">
                <a:solidFill>
                  <a:srgbClr val="F4F8FA"/>
                </a:solidFill>
                <a:latin typeface="Aptos" pitchFamily="34" charset="0"/>
                <a:ea typeface="Aptos" pitchFamily="34" charset="-122"/>
                <a:cs typeface="Aptos" pitchFamily="34" charset="-120"/>
              </a:rPr>
              <a:t>T2M</a:t>
            </a:r>
            <a:endParaRPr lang="en-US" sz="850" dirty="0"/>
          </a:p>
        </p:txBody>
      </p:sp>
      <p:sp>
        <p:nvSpPr>
          <p:cNvPr id="16" name="Text 14"/>
          <p:cNvSpPr/>
          <p:nvPr/>
        </p:nvSpPr>
        <p:spPr>
          <a:xfrm>
            <a:off x="1490472" y="3602736"/>
            <a:ext cx="1508760" cy="182880"/>
          </a:xfrm>
          <a:prstGeom prst="rect">
            <a:avLst/>
          </a:prstGeom>
          <a:noFill/>
          <a:ln/>
        </p:spPr>
        <p:txBody>
          <a:bodyPr wrap="square" lIns="0" tIns="0" rIns="0" bIns="0" rtlCol="0" anchor="ctr">
            <a:normAutofit/>
          </a:bodyPr>
          <a:lstStyle/>
          <a:p>
            <a:pPr algn="l" indent="0" marL="0">
              <a:buNone/>
            </a:pPr>
            <a:r>
              <a:rPr lang="en-US" sz="950" dirty="0">
                <a:solidFill>
                  <a:srgbClr val="F4F8FA"/>
                </a:solidFill>
                <a:latin typeface="Aptos" pitchFamily="34" charset="0"/>
                <a:ea typeface="Aptos" pitchFamily="34" charset="-122"/>
                <a:cs typeface="Aptos" pitchFamily="34" charset="-120"/>
              </a:rPr>
              <a:t>Temperature</a:t>
            </a:r>
            <a:endParaRPr lang="en-US" sz="950" dirty="0"/>
          </a:p>
        </p:txBody>
      </p:sp>
      <p:sp>
        <p:nvSpPr>
          <p:cNvPr id="17" name="Text 15"/>
          <p:cNvSpPr/>
          <p:nvPr/>
        </p:nvSpPr>
        <p:spPr>
          <a:xfrm>
            <a:off x="841248" y="4059936"/>
            <a:ext cx="1691640" cy="228600"/>
          </a:xfrm>
          <a:prstGeom prst="rect">
            <a:avLst/>
          </a:prstGeom>
          <a:noFill/>
          <a:ln/>
        </p:spPr>
        <p:txBody>
          <a:bodyPr wrap="square" lIns="0" tIns="0" rIns="0" bIns="0" rtlCol="0" anchor="ctr">
            <a:normAutofit/>
          </a:bodyPr>
          <a:lstStyle/>
          <a:p>
            <a:pPr algn="l" indent="0" marL="0">
              <a:buNone/>
            </a:pPr>
            <a:r>
              <a:rPr lang="en-US" sz="1050" b="1" dirty="0">
                <a:solidFill>
                  <a:srgbClr val="F4F8FA"/>
                </a:solidFill>
                <a:latin typeface="Aptos" pitchFamily="34" charset="0"/>
                <a:ea typeface="Aptos" pitchFamily="34" charset="-122"/>
                <a:cs typeface="Aptos" pitchFamily="34" charset="-120"/>
              </a:rPr>
              <a:t>2015 — 2025</a:t>
            </a:r>
            <a:endParaRPr lang="en-US" sz="1050" dirty="0"/>
          </a:p>
        </p:txBody>
      </p:sp>
      <p:sp>
        <p:nvSpPr>
          <p:cNvPr id="18" name="Text 16"/>
          <p:cNvSpPr/>
          <p:nvPr/>
        </p:nvSpPr>
        <p:spPr>
          <a:xfrm>
            <a:off x="841248" y="4325112"/>
            <a:ext cx="2148840" cy="201168"/>
          </a:xfrm>
          <a:prstGeom prst="rect">
            <a:avLst/>
          </a:prstGeom>
          <a:noFill/>
          <a:ln/>
        </p:spPr>
        <p:txBody>
          <a:bodyPr wrap="square" lIns="0" tIns="0" rIns="0" bIns="0" rtlCol="0" anchor="ctr">
            <a:normAutofit/>
          </a:bodyPr>
          <a:lstStyle/>
          <a:p>
            <a:pPr algn="l" indent="0" marL="0">
              <a:buNone/>
            </a:pPr>
            <a:r>
              <a:rPr lang="en-US" sz="850" dirty="0">
                <a:solidFill>
                  <a:srgbClr val="A7BBC5"/>
                </a:solidFill>
                <a:latin typeface="Aptos" pitchFamily="34" charset="0"/>
                <a:ea typeface="Aptos" pitchFamily="34" charset="-122"/>
                <a:cs typeface="Aptos" pitchFamily="34" charset="-120"/>
              </a:rPr>
              <a:t>Reference: 1991 — 2020</a:t>
            </a:r>
            <a:endParaRPr lang="en-US" sz="850" dirty="0"/>
          </a:p>
        </p:txBody>
      </p:sp>
      <p:sp>
        <p:nvSpPr>
          <p:cNvPr id="19" name="Shape 17"/>
          <p:cNvSpPr/>
          <p:nvPr/>
        </p:nvSpPr>
        <p:spPr>
          <a:xfrm>
            <a:off x="841248" y="4800600"/>
            <a:ext cx="2359152" cy="658368"/>
          </a:xfrm>
          <a:prstGeom prst="roundRect">
            <a:avLst>
              <a:gd name="adj" fmla="val 16667"/>
            </a:avLst>
          </a:prstGeom>
          <a:solidFill>
            <a:srgbClr val="081A26"/>
          </a:solidFill>
          <a:ln w="12700">
            <a:solidFill>
              <a:srgbClr val="102938">
                <a:alpha val="65000"/>
              </a:srgbClr>
            </a:solidFill>
            <a:prstDash val="solid"/>
          </a:ln>
        </p:spPr>
      </p:sp>
      <p:sp>
        <p:nvSpPr>
          <p:cNvPr id="20" name="Text 18"/>
          <p:cNvSpPr/>
          <p:nvPr/>
        </p:nvSpPr>
        <p:spPr>
          <a:xfrm>
            <a:off x="1024128" y="4946904"/>
            <a:ext cx="603504" cy="155448"/>
          </a:xfrm>
          <a:prstGeom prst="rect">
            <a:avLst/>
          </a:prstGeom>
          <a:noFill/>
          <a:ln/>
        </p:spPr>
        <p:txBody>
          <a:bodyPr wrap="square" lIns="0" tIns="0" rIns="0" bIns="0" rtlCol="0" anchor="ctr">
            <a:normAutofit/>
          </a:bodyPr>
          <a:lstStyle/>
          <a:p>
            <a:pPr algn="l" indent="0" marL="0">
              <a:buNone/>
            </a:pPr>
            <a:r>
              <a:rPr lang="en-US" sz="780" b="1" spc="60" kern="0" dirty="0">
                <a:solidFill>
                  <a:srgbClr val="F2E84A"/>
                </a:solidFill>
                <a:latin typeface="Aptos" pitchFamily="34" charset="0"/>
                <a:ea typeface="Aptos" pitchFamily="34" charset="-122"/>
                <a:cs typeface="Aptos" pitchFamily="34" charset="-120"/>
              </a:rPr>
              <a:t>FINDING</a:t>
            </a:r>
            <a:endParaRPr lang="en-US" sz="780" dirty="0"/>
          </a:p>
        </p:txBody>
      </p:sp>
      <p:sp>
        <p:nvSpPr>
          <p:cNvPr id="21" name="Text 19"/>
          <p:cNvSpPr/>
          <p:nvPr/>
        </p:nvSpPr>
        <p:spPr>
          <a:xfrm>
            <a:off x="1024128" y="5166360"/>
            <a:ext cx="1874520" cy="164592"/>
          </a:xfrm>
          <a:prstGeom prst="rect">
            <a:avLst/>
          </a:prstGeom>
          <a:noFill/>
          <a:ln/>
        </p:spPr>
        <p:txBody>
          <a:bodyPr wrap="square" lIns="0" tIns="0" rIns="0" bIns="0" rtlCol="0" anchor="ctr">
            <a:normAutofit/>
          </a:bodyPr>
          <a:lstStyle/>
          <a:p>
            <a:pPr algn="l" indent="0" marL="0">
              <a:buNone/>
            </a:pPr>
            <a:r>
              <a:rPr lang="en-US" sz="910" b="1" dirty="0">
                <a:solidFill>
                  <a:srgbClr val="F4F8FA"/>
                </a:solidFill>
                <a:latin typeface="Aptos" pitchFamily="34" charset="0"/>
                <a:ea typeface="Aptos" pitchFamily="34" charset="-122"/>
                <a:cs typeface="Aptos" pitchFamily="34" charset="-120"/>
              </a:rPr>
              <a:t>Illustrative trend panel</a:t>
            </a:r>
            <a:endParaRPr lang="en-US" sz="910" dirty="0"/>
          </a:p>
        </p:txBody>
      </p:sp>
      <p:sp>
        <p:nvSpPr>
          <p:cNvPr id="22" name="Text 20"/>
          <p:cNvSpPr/>
          <p:nvPr/>
        </p:nvSpPr>
        <p:spPr>
          <a:xfrm>
            <a:off x="3401568" y="2578608"/>
            <a:ext cx="1417320" cy="201168"/>
          </a:xfrm>
          <a:prstGeom prst="rect">
            <a:avLst/>
          </a:prstGeom>
          <a:noFill/>
          <a:ln/>
        </p:spPr>
        <p:txBody>
          <a:bodyPr wrap="square" lIns="0" tIns="0" rIns="0" bIns="0" rtlCol="0" anchor="ctr">
            <a:normAutofit/>
          </a:bodyPr>
          <a:lstStyle/>
          <a:p>
            <a:pPr algn="l" indent="0" marL="0">
              <a:buNone/>
            </a:pPr>
            <a:r>
              <a:rPr lang="en-US" sz="800" b="1" spc="70" kern="0" dirty="0">
                <a:solidFill>
                  <a:srgbClr val="41D9FF"/>
                </a:solidFill>
                <a:latin typeface="Aptos" pitchFamily="34" charset="0"/>
                <a:ea typeface="Aptos" pitchFamily="34" charset="-122"/>
                <a:cs typeface="Aptos" pitchFamily="34" charset="-120"/>
              </a:rPr>
              <a:t>ANNUAL SERIES</a:t>
            </a:r>
            <a:endParaRPr lang="en-US" sz="800" dirty="0"/>
          </a:p>
        </p:txBody>
      </p:sp>
      <p:sp>
        <p:nvSpPr>
          <p:cNvPr id="23" name="Shape 21"/>
          <p:cNvSpPr/>
          <p:nvPr/>
        </p:nvSpPr>
        <p:spPr>
          <a:xfrm>
            <a:off x="3419856" y="3182112"/>
            <a:ext cx="4608576" cy="0"/>
          </a:xfrm>
          <a:prstGeom prst="line">
            <a:avLst/>
          </a:prstGeom>
          <a:noFill/>
          <a:ln w="6985">
            <a:solidFill>
              <a:srgbClr val="183340"/>
            </a:solidFill>
            <a:prstDash val="solid"/>
            <a:headEnd type="none"/>
            <a:tailEnd type="none"/>
          </a:ln>
        </p:spPr>
      </p:sp>
      <p:sp>
        <p:nvSpPr>
          <p:cNvPr id="24" name="Shape 22"/>
          <p:cNvSpPr/>
          <p:nvPr/>
        </p:nvSpPr>
        <p:spPr>
          <a:xfrm>
            <a:off x="3419856" y="3557016"/>
            <a:ext cx="4608576" cy="0"/>
          </a:xfrm>
          <a:prstGeom prst="line">
            <a:avLst/>
          </a:prstGeom>
          <a:noFill/>
          <a:ln w="6985">
            <a:solidFill>
              <a:srgbClr val="183340"/>
            </a:solidFill>
            <a:prstDash val="solid"/>
            <a:headEnd type="none"/>
            <a:tailEnd type="none"/>
          </a:ln>
        </p:spPr>
      </p:sp>
      <p:sp>
        <p:nvSpPr>
          <p:cNvPr id="25" name="Shape 23"/>
          <p:cNvSpPr/>
          <p:nvPr/>
        </p:nvSpPr>
        <p:spPr>
          <a:xfrm>
            <a:off x="3419856" y="3931920"/>
            <a:ext cx="4608576" cy="0"/>
          </a:xfrm>
          <a:prstGeom prst="line">
            <a:avLst/>
          </a:prstGeom>
          <a:noFill/>
          <a:ln w="6985">
            <a:solidFill>
              <a:srgbClr val="183340"/>
            </a:solidFill>
            <a:prstDash val="solid"/>
            <a:headEnd type="none"/>
            <a:tailEnd type="none"/>
          </a:ln>
        </p:spPr>
      </p:sp>
      <p:sp>
        <p:nvSpPr>
          <p:cNvPr id="26" name="Shape 24"/>
          <p:cNvSpPr/>
          <p:nvPr/>
        </p:nvSpPr>
        <p:spPr>
          <a:xfrm>
            <a:off x="3419856" y="4306824"/>
            <a:ext cx="4608576" cy="0"/>
          </a:xfrm>
          <a:prstGeom prst="line">
            <a:avLst/>
          </a:prstGeom>
          <a:noFill/>
          <a:ln w="6985">
            <a:solidFill>
              <a:srgbClr val="183340"/>
            </a:solidFill>
            <a:prstDash val="solid"/>
            <a:headEnd type="none"/>
            <a:tailEnd type="none"/>
          </a:ln>
        </p:spPr>
      </p:sp>
      <p:sp>
        <p:nvSpPr>
          <p:cNvPr id="27" name="Shape 25"/>
          <p:cNvSpPr/>
          <p:nvPr/>
        </p:nvSpPr>
        <p:spPr>
          <a:xfrm>
            <a:off x="3419856" y="4681728"/>
            <a:ext cx="4608576" cy="0"/>
          </a:xfrm>
          <a:prstGeom prst="line">
            <a:avLst/>
          </a:prstGeom>
          <a:noFill/>
          <a:ln w="6985">
            <a:solidFill>
              <a:srgbClr val="183340"/>
            </a:solidFill>
            <a:prstDash val="solid"/>
            <a:headEnd type="none"/>
            <a:tailEnd type="none"/>
          </a:ln>
        </p:spPr>
      </p:sp>
      <p:sp>
        <p:nvSpPr>
          <p:cNvPr id="28" name="Shape 26"/>
          <p:cNvSpPr/>
          <p:nvPr/>
        </p:nvSpPr>
        <p:spPr>
          <a:xfrm>
            <a:off x="3419856" y="5056632"/>
            <a:ext cx="4608576" cy="0"/>
          </a:xfrm>
          <a:prstGeom prst="line">
            <a:avLst/>
          </a:prstGeom>
          <a:noFill/>
          <a:ln w="6985">
            <a:solidFill>
              <a:srgbClr val="183340"/>
            </a:solidFill>
            <a:prstDash val="solid"/>
            <a:headEnd type="none"/>
            <a:tailEnd type="none"/>
          </a:ln>
        </p:spPr>
      </p:sp>
      <p:sp>
        <p:nvSpPr>
          <p:cNvPr id="29" name="Shape 27"/>
          <p:cNvSpPr/>
          <p:nvPr/>
        </p:nvSpPr>
        <p:spPr>
          <a:xfrm>
            <a:off x="3419856" y="3182112"/>
            <a:ext cx="0" cy="1874520"/>
          </a:xfrm>
          <a:prstGeom prst="line">
            <a:avLst/>
          </a:prstGeom>
          <a:noFill/>
          <a:ln w="6985">
            <a:solidFill>
              <a:srgbClr val="183340"/>
            </a:solidFill>
            <a:prstDash val="solid"/>
            <a:headEnd type="none"/>
            <a:tailEnd type="none"/>
          </a:ln>
        </p:spPr>
      </p:sp>
      <p:sp>
        <p:nvSpPr>
          <p:cNvPr id="30" name="Shape 28"/>
          <p:cNvSpPr/>
          <p:nvPr/>
        </p:nvSpPr>
        <p:spPr>
          <a:xfrm>
            <a:off x="3995928" y="3182112"/>
            <a:ext cx="0" cy="1874520"/>
          </a:xfrm>
          <a:prstGeom prst="line">
            <a:avLst/>
          </a:prstGeom>
          <a:noFill/>
          <a:ln w="6985">
            <a:solidFill>
              <a:srgbClr val="183340"/>
            </a:solidFill>
            <a:prstDash val="solid"/>
            <a:headEnd type="none"/>
            <a:tailEnd type="none"/>
          </a:ln>
        </p:spPr>
      </p:sp>
      <p:sp>
        <p:nvSpPr>
          <p:cNvPr id="31" name="Shape 29"/>
          <p:cNvSpPr/>
          <p:nvPr/>
        </p:nvSpPr>
        <p:spPr>
          <a:xfrm>
            <a:off x="4572000" y="3182112"/>
            <a:ext cx="0" cy="1874520"/>
          </a:xfrm>
          <a:prstGeom prst="line">
            <a:avLst/>
          </a:prstGeom>
          <a:noFill/>
          <a:ln w="6985">
            <a:solidFill>
              <a:srgbClr val="183340"/>
            </a:solidFill>
            <a:prstDash val="solid"/>
            <a:headEnd type="none"/>
            <a:tailEnd type="none"/>
          </a:ln>
        </p:spPr>
      </p:sp>
      <p:sp>
        <p:nvSpPr>
          <p:cNvPr id="32" name="Shape 30"/>
          <p:cNvSpPr/>
          <p:nvPr/>
        </p:nvSpPr>
        <p:spPr>
          <a:xfrm>
            <a:off x="5148072" y="3182112"/>
            <a:ext cx="0" cy="1874520"/>
          </a:xfrm>
          <a:prstGeom prst="line">
            <a:avLst/>
          </a:prstGeom>
          <a:noFill/>
          <a:ln w="6985">
            <a:solidFill>
              <a:srgbClr val="183340"/>
            </a:solidFill>
            <a:prstDash val="solid"/>
            <a:headEnd type="none"/>
            <a:tailEnd type="none"/>
          </a:ln>
        </p:spPr>
      </p:sp>
      <p:sp>
        <p:nvSpPr>
          <p:cNvPr id="33" name="Shape 31"/>
          <p:cNvSpPr/>
          <p:nvPr/>
        </p:nvSpPr>
        <p:spPr>
          <a:xfrm>
            <a:off x="5724144" y="3182112"/>
            <a:ext cx="0" cy="1874520"/>
          </a:xfrm>
          <a:prstGeom prst="line">
            <a:avLst/>
          </a:prstGeom>
          <a:noFill/>
          <a:ln w="6985">
            <a:solidFill>
              <a:srgbClr val="183340"/>
            </a:solidFill>
            <a:prstDash val="solid"/>
            <a:headEnd type="none"/>
            <a:tailEnd type="none"/>
          </a:ln>
        </p:spPr>
      </p:sp>
      <p:sp>
        <p:nvSpPr>
          <p:cNvPr id="34" name="Shape 32"/>
          <p:cNvSpPr/>
          <p:nvPr/>
        </p:nvSpPr>
        <p:spPr>
          <a:xfrm>
            <a:off x="6300216" y="3182112"/>
            <a:ext cx="0" cy="1874520"/>
          </a:xfrm>
          <a:prstGeom prst="line">
            <a:avLst/>
          </a:prstGeom>
          <a:noFill/>
          <a:ln w="6985">
            <a:solidFill>
              <a:srgbClr val="183340"/>
            </a:solidFill>
            <a:prstDash val="solid"/>
            <a:headEnd type="none"/>
            <a:tailEnd type="none"/>
          </a:ln>
        </p:spPr>
      </p:sp>
      <p:sp>
        <p:nvSpPr>
          <p:cNvPr id="35" name="Shape 33"/>
          <p:cNvSpPr/>
          <p:nvPr/>
        </p:nvSpPr>
        <p:spPr>
          <a:xfrm>
            <a:off x="6876288" y="3182112"/>
            <a:ext cx="0" cy="1874520"/>
          </a:xfrm>
          <a:prstGeom prst="line">
            <a:avLst/>
          </a:prstGeom>
          <a:noFill/>
          <a:ln w="6985">
            <a:solidFill>
              <a:srgbClr val="183340"/>
            </a:solidFill>
            <a:prstDash val="solid"/>
            <a:headEnd type="none"/>
            <a:tailEnd type="none"/>
          </a:ln>
        </p:spPr>
      </p:sp>
      <p:sp>
        <p:nvSpPr>
          <p:cNvPr id="36" name="Shape 34"/>
          <p:cNvSpPr/>
          <p:nvPr/>
        </p:nvSpPr>
        <p:spPr>
          <a:xfrm>
            <a:off x="7452360" y="3182112"/>
            <a:ext cx="0" cy="1874520"/>
          </a:xfrm>
          <a:prstGeom prst="line">
            <a:avLst/>
          </a:prstGeom>
          <a:noFill/>
          <a:ln w="6985">
            <a:solidFill>
              <a:srgbClr val="183340"/>
            </a:solidFill>
            <a:prstDash val="solid"/>
            <a:headEnd type="none"/>
            <a:tailEnd type="none"/>
          </a:ln>
        </p:spPr>
      </p:sp>
      <p:sp>
        <p:nvSpPr>
          <p:cNvPr id="37" name="Shape 35"/>
          <p:cNvSpPr/>
          <p:nvPr/>
        </p:nvSpPr>
        <p:spPr>
          <a:xfrm>
            <a:off x="8028432" y="3182112"/>
            <a:ext cx="0" cy="1874520"/>
          </a:xfrm>
          <a:prstGeom prst="line">
            <a:avLst/>
          </a:prstGeom>
          <a:noFill/>
          <a:ln w="6985">
            <a:solidFill>
              <a:srgbClr val="183340"/>
            </a:solidFill>
            <a:prstDash val="solid"/>
            <a:headEnd type="none"/>
            <a:tailEnd type="none"/>
          </a:ln>
        </p:spPr>
      </p:sp>
      <p:sp>
        <p:nvSpPr>
          <p:cNvPr id="38" name="Shape 36"/>
          <p:cNvSpPr/>
          <p:nvPr/>
        </p:nvSpPr>
        <p:spPr>
          <a:xfrm>
            <a:off x="3493008" y="4617720"/>
            <a:ext cx="566928" cy="-210312"/>
          </a:xfrm>
          <a:prstGeom prst="line">
            <a:avLst/>
          </a:prstGeom>
          <a:noFill/>
          <a:ln w="27940">
            <a:solidFill>
              <a:srgbClr val="41D9FF"/>
            </a:solidFill>
            <a:prstDash val="solid"/>
            <a:headEnd type="none"/>
            <a:tailEnd type="none"/>
          </a:ln>
        </p:spPr>
      </p:sp>
      <p:sp>
        <p:nvSpPr>
          <p:cNvPr id="39" name="Shape 37"/>
          <p:cNvSpPr/>
          <p:nvPr/>
        </p:nvSpPr>
        <p:spPr>
          <a:xfrm>
            <a:off x="4059936" y="4407408"/>
            <a:ext cx="566928" cy="100584"/>
          </a:xfrm>
          <a:prstGeom prst="line">
            <a:avLst/>
          </a:prstGeom>
          <a:noFill/>
          <a:ln w="27940">
            <a:solidFill>
              <a:srgbClr val="41D9FF"/>
            </a:solidFill>
            <a:prstDash val="solid"/>
            <a:headEnd type="none"/>
            <a:tailEnd type="none"/>
          </a:ln>
        </p:spPr>
      </p:sp>
      <p:sp>
        <p:nvSpPr>
          <p:cNvPr id="40" name="Shape 38"/>
          <p:cNvSpPr/>
          <p:nvPr/>
        </p:nvSpPr>
        <p:spPr>
          <a:xfrm>
            <a:off x="4626864" y="4507992"/>
            <a:ext cx="566928" cy="-320040"/>
          </a:xfrm>
          <a:prstGeom prst="line">
            <a:avLst/>
          </a:prstGeom>
          <a:noFill/>
          <a:ln w="27940">
            <a:solidFill>
              <a:srgbClr val="41D9FF"/>
            </a:solidFill>
            <a:prstDash val="solid"/>
            <a:headEnd type="none"/>
            <a:tailEnd type="none"/>
          </a:ln>
        </p:spPr>
      </p:sp>
      <p:sp>
        <p:nvSpPr>
          <p:cNvPr id="41" name="Shape 39"/>
          <p:cNvSpPr/>
          <p:nvPr/>
        </p:nvSpPr>
        <p:spPr>
          <a:xfrm>
            <a:off x="5193792" y="4187952"/>
            <a:ext cx="566928" cy="27432"/>
          </a:xfrm>
          <a:prstGeom prst="line">
            <a:avLst/>
          </a:prstGeom>
          <a:noFill/>
          <a:ln w="27940">
            <a:solidFill>
              <a:srgbClr val="41D9FF"/>
            </a:solidFill>
            <a:prstDash val="solid"/>
            <a:headEnd type="none"/>
            <a:tailEnd type="none"/>
          </a:ln>
        </p:spPr>
      </p:sp>
      <p:sp>
        <p:nvSpPr>
          <p:cNvPr id="42" name="Shape 40"/>
          <p:cNvSpPr/>
          <p:nvPr/>
        </p:nvSpPr>
        <p:spPr>
          <a:xfrm>
            <a:off x="5760720" y="4215384"/>
            <a:ext cx="566928" cy="-246888"/>
          </a:xfrm>
          <a:prstGeom prst="line">
            <a:avLst/>
          </a:prstGeom>
          <a:noFill/>
          <a:ln w="27940">
            <a:solidFill>
              <a:srgbClr val="41D9FF"/>
            </a:solidFill>
            <a:prstDash val="solid"/>
            <a:headEnd type="none"/>
            <a:tailEnd type="none"/>
          </a:ln>
        </p:spPr>
      </p:sp>
      <p:sp>
        <p:nvSpPr>
          <p:cNvPr id="43" name="Shape 41"/>
          <p:cNvSpPr/>
          <p:nvPr/>
        </p:nvSpPr>
        <p:spPr>
          <a:xfrm>
            <a:off x="6327648" y="3968496"/>
            <a:ext cx="566928" cy="-109728"/>
          </a:xfrm>
          <a:prstGeom prst="line">
            <a:avLst/>
          </a:prstGeom>
          <a:noFill/>
          <a:ln w="27940">
            <a:solidFill>
              <a:srgbClr val="41D9FF"/>
            </a:solidFill>
            <a:prstDash val="solid"/>
            <a:headEnd type="none"/>
            <a:tailEnd type="none"/>
          </a:ln>
        </p:spPr>
      </p:sp>
      <p:sp>
        <p:nvSpPr>
          <p:cNvPr id="44" name="Shape 42"/>
          <p:cNvSpPr/>
          <p:nvPr/>
        </p:nvSpPr>
        <p:spPr>
          <a:xfrm>
            <a:off x="6894576" y="3858768"/>
            <a:ext cx="566928" cy="-146304"/>
          </a:xfrm>
          <a:prstGeom prst="line">
            <a:avLst/>
          </a:prstGeom>
          <a:noFill/>
          <a:ln w="27940">
            <a:solidFill>
              <a:srgbClr val="41D9FF"/>
            </a:solidFill>
            <a:prstDash val="solid"/>
            <a:headEnd type="none"/>
            <a:tailEnd type="none"/>
          </a:ln>
        </p:spPr>
      </p:sp>
      <p:sp>
        <p:nvSpPr>
          <p:cNvPr id="45" name="Shape 43"/>
          <p:cNvSpPr/>
          <p:nvPr/>
        </p:nvSpPr>
        <p:spPr>
          <a:xfrm>
            <a:off x="7461504" y="3712464"/>
            <a:ext cx="512064" cy="-128016"/>
          </a:xfrm>
          <a:prstGeom prst="line">
            <a:avLst/>
          </a:prstGeom>
          <a:noFill/>
          <a:ln w="27940">
            <a:solidFill>
              <a:srgbClr val="41D9FF"/>
            </a:solidFill>
            <a:prstDash val="solid"/>
            <a:headEnd type="none"/>
            <a:tailEnd type="none"/>
          </a:ln>
        </p:spPr>
      </p:sp>
      <p:sp>
        <p:nvSpPr>
          <p:cNvPr id="46" name="Shape 44"/>
          <p:cNvSpPr/>
          <p:nvPr/>
        </p:nvSpPr>
        <p:spPr>
          <a:xfrm>
            <a:off x="3456432" y="4581144"/>
            <a:ext cx="73152" cy="73152"/>
          </a:xfrm>
          <a:prstGeom prst="ellipse">
            <a:avLst/>
          </a:prstGeom>
          <a:solidFill>
            <a:srgbClr val="41D9FF"/>
          </a:solidFill>
          <a:ln w="12700">
            <a:solidFill>
              <a:srgbClr val="41D9FF">
                <a:alpha val="0"/>
              </a:srgbClr>
            </a:solidFill>
            <a:prstDash val="solid"/>
          </a:ln>
        </p:spPr>
      </p:sp>
      <p:sp>
        <p:nvSpPr>
          <p:cNvPr id="47" name="Shape 45"/>
          <p:cNvSpPr/>
          <p:nvPr/>
        </p:nvSpPr>
        <p:spPr>
          <a:xfrm>
            <a:off x="4023360" y="4370832"/>
            <a:ext cx="73152" cy="73152"/>
          </a:xfrm>
          <a:prstGeom prst="ellipse">
            <a:avLst/>
          </a:prstGeom>
          <a:solidFill>
            <a:srgbClr val="41D9FF"/>
          </a:solidFill>
          <a:ln w="12700">
            <a:solidFill>
              <a:srgbClr val="41D9FF">
                <a:alpha val="0"/>
              </a:srgbClr>
            </a:solidFill>
            <a:prstDash val="solid"/>
          </a:ln>
        </p:spPr>
      </p:sp>
      <p:sp>
        <p:nvSpPr>
          <p:cNvPr id="48" name="Shape 46"/>
          <p:cNvSpPr/>
          <p:nvPr/>
        </p:nvSpPr>
        <p:spPr>
          <a:xfrm>
            <a:off x="4590288" y="4471416"/>
            <a:ext cx="73152" cy="73152"/>
          </a:xfrm>
          <a:prstGeom prst="ellipse">
            <a:avLst/>
          </a:prstGeom>
          <a:solidFill>
            <a:srgbClr val="41D9FF"/>
          </a:solidFill>
          <a:ln w="12700">
            <a:solidFill>
              <a:srgbClr val="41D9FF">
                <a:alpha val="0"/>
              </a:srgbClr>
            </a:solidFill>
            <a:prstDash val="solid"/>
          </a:ln>
        </p:spPr>
      </p:sp>
      <p:sp>
        <p:nvSpPr>
          <p:cNvPr id="49" name="Shape 47"/>
          <p:cNvSpPr/>
          <p:nvPr/>
        </p:nvSpPr>
        <p:spPr>
          <a:xfrm>
            <a:off x="5157216" y="4151376"/>
            <a:ext cx="73152" cy="73152"/>
          </a:xfrm>
          <a:prstGeom prst="ellipse">
            <a:avLst/>
          </a:prstGeom>
          <a:solidFill>
            <a:srgbClr val="41D9FF"/>
          </a:solidFill>
          <a:ln w="12700">
            <a:solidFill>
              <a:srgbClr val="41D9FF">
                <a:alpha val="0"/>
              </a:srgbClr>
            </a:solidFill>
            <a:prstDash val="solid"/>
          </a:ln>
        </p:spPr>
      </p:sp>
      <p:sp>
        <p:nvSpPr>
          <p:cNvPr id="50" name="Shape 48"/>
          <p:cNvSpPr/>
          <p:nvPr/>
        </p:nvSpPr>
        <p:spPr>
          <a:xfrm>
            <a:off x="5724144" y="4178808"/>
            <a:ext cx="73152" cy="73152"/>
          </a:xfrm>
          <a:prstGeom prst="ellipse">
            <a:avLst/>
          </a:prstGeom>
          <a:solidFill>
            <a:srgbClr val="41D9FF"/>
          </a:solidFill>
          <a:ln w="12700">
            <a:solidFill>
              <a:srgbClr val="41D9FF">
                <a:alpha val="0"/>
              </a:srgbClr>
            </a:solidFill>
            <a:prstDash val="solid"/>
          </a:ln>
        </p:spPr>
      </p:sp>
      <p:sp>
        <p:nvSpPr>
          <p:cNvPr id="51" name="Shape 49"/>
          <p:cNvSpPr/>
          <p:nvPr/>
        </p:nvSpPr>
        <p:spPr>
          <a:xfrm>
            <a:off x="6291072" y="3931920"/>
            <a:ext cx="73152" cy="73152"/>
          </a:xfrm>
          <a:prstGeom prst="ellipse">
            <a:avLst/>
          </a:prstGeom>
          <a:solidFill>
            <a:srgbClr val="41D9FF"/>
          </a:solidFill>
          <a:ln w="12700">
            <a:solidFill>
              <a:srgbClr val="41D9FF">
                <a:alpha val="0"/>
              </a:srgbClr>
            </a:solidFill>
            <a:prstDash val="solid"/>
          </a:ln>
        </p:spPr>
      </p:sp>
      <p:sp>
        <p:nvSpPr>
          <p:cNvPr id="52" name="Shape 50"/>
          <p:cNvSpPr/>
          <p:nvPr/>
        </p:nvSpPr>
        <p:spPr>
          <a:xfrm>
            <a:off x="6858000" y="3822192"/>
            <a:ext cx="73152" cy="73152"/>
          </a:xfrm>
          <a:prstGeom prst="ellipse">
            <a:avLst/>
          </a:prstGeom>
          <a:solidFill>
            <a:srgbClr val="41D9FF"/>
          </a:solidFill>
          <a:ln w="12700">
            <a:solidFill>
              <a:srgbClr val="41D9FF">
                <a:alpha val="0"/>
              </a:srgbClr>
            </a:solidFill>
            <a:prstDash val="solid"/>
          </a:ln>
        </p:spPr>
      </p:sp>
      <p:sp>
        <p:nvSpPr>
          <p:cNvPr id="53" name="Shape 51"/>
          <p:cNvSpPr/>
          <p:nvPr/>
        </p:nvSpPr>
        <p:spPr>
          <a:xfrm>
            <a:off x="7424928" y="3675888"/>
            <a:ext cx="73152" cy="73152"/>
          </a:xfrm>
          <a:prstGeom prst="ellipse">
            <a:avLst/>
          </a:prstGeom>
          <a:solidFill>
            <a:srgbClr val="41D9FF"/>
          </a:solidFill>
          <a:ln w="12700">
            <a:solidFill>
              <a:srgbClr val="41D9FF">
                <a:alpha val="0"/>
              </a:srgbClr>
            </a:solidFill>
            <a:prstDash val="solid"/>
          </a:ln>
        </p:spPr>
      </p:sp>
      <p:sp>
        <p:nvSpPr>
          <p:cNvPr id="54" name="Shape 52"/>
          <p:cNvSpPr/>
          <p:nvPr/>
        </p:nvSpPr>
        <p:spPr>
          <a:xfrm>
            <a:off x="7936992" y="3547872"/>
            <a:ext cx="73152" cy="73152"/>
          </a:xfrm>
          <a:prstGeom prst="ellipse">
            <a:avLst/>
          </a:prstGeom>
          <a:solidFill>
            <a:srgbClr val="41D9FF"/>
          </a:solidFill>
          <a:ln w="12700">
            <a:solidFill>
              <a:srgbClr val="41D9FF">
                <a:alpha val="0"/>
              </a:srgbClr>
            </a:solidFill>
            <a:prstDash val="solid"/>
          </a:ln>
        </p:spPr>
      </p:sp>
      <p:sp>
        <p:nvSpPr>
          <p:cNvPr id="55" name="Text 53"/>
          <p:cNvSpPr/>
          <p:nvPr/>
        </p:nvSpPr>
        <p:spPr>
          <a:xfrm>
            <a:off x="3383280" y="5175504"/>
            <a:ext cx="502920" cy="164592"/>
          </a:xfrm>
          <a:prstGeom prst="rect">
            <a:avLst/>
          </a:prstGeom>
          <a:noFill/>
          <a:ln/>
        </p:spPr>
        <p:txBody>
          <a:bodyPr wrap="square" lIns="0" tIns="0" rIns="0" bIns="0" rtlCol="0" anchor="ctr">
            <a:normAutofit/>
          </a:bodyPr>
          <a:lstStyle/>
          <a:p>
            <a:pPr algn="l" indent="0" marL="0">
              <a:buNone/>
            </a:pPr>
            <a:r>
              <a:rPr lang="en-US" sz="750" dirty="0">
                <a:solidFill>
                  <a:srgbClr val="A7BBC5"/>
                </a:solidFill>
                <a:latin typeface="Aptos" pitchFamily="34" charset="0"/>
                <a:ea typeface="Aptos" pitchFamily="34" charset="-122"/>
                <a:cs typeface="Aptos" pitchFamily="34" charset="-120"/>
              </a:rPr>
              <a:t>2015</a:t>
            </a:r>
            <a:endParaRPr lang="en-US" sz="750" dirty="0"/>
          </a:p>
        </p:txBody>
      </p:sp>
      <p:sp>
        <p:nvSpPr>
          <p:cNvPr id="56" name="Text 54"/>
          <p:cNvSpPr/>
          <p:nvPr/>
        </p:nvSpPr>
        <p:spPr>
          <a:xfrm>
            <a:off x="7516368" y="5175504"/>
            <a:ext cx="502920" cy="164592"/>
          </a:xfrm>
          <a:prstGeom prst="rect">
            <a:avLst/>
          </a:prstGeom>
          <a:noFill/>
          <a:ln/>
        </p:spPr>
        <p:txBody>
          <a:bodyPr wrap="square" lIns="0" tIns="0" rIns="0" bIns="0" rtlCol="0" anchor="ctr">
            <a:normAutofit/>
          </a:bodyPr>
          <a:lstStyle/>
          <a:p>
            <a:pPr algn="r" indent="0" marL="0">
              <a:buNone/>
            </a:pPr>
            <a:r>
              <a:rPr lang="en-US" sz="750" dirty="0">
                <a:solidFill>
                  <a:srgbClr val="A7BBC5"/>
                </a:solidFill>
                <a:latin typeface="Aptos" pitchFamily="34" charset="0"/>
                <a:ea typeface="Aptos" pitchFamily="34" charset="-122"/>
                <a:cs typeface="Aptos" pitchFamily="34" charset="-120"/>
              </a:rPr>
              <a:t>2025</a:t>
            </a:r>
            <a:endParaRPr lang="en-US" sz="750" dirty="0"/>
          </a:p>
        </p:txBody>
      </p:sp>
      <p:sp>
        <p:nvSpPr>
          <p:cNvPr id="57" name="Shape 55"/>
          <p:cNvSpPr/>
          <p:nvPr/>
        </p:nvSpPr>
        <p:spPr>
          <a:xfrm>
            <a:off x="8339328" y="2560320"/>
            <a:ext cx="2926080" cy="2487168"/>
          </a:xfrm>
          <a:prstGeom prst="roundRect">
            <a:avLst>
              <a:gd name="adj" fmla="val 4412"/>
            </a:avLst>
          </a:prstGeom>
          <a:solidFill>
            <a:srgbClr val="0D202C"/>
          </a:solidFill>
          <a:ln w="12700">
            <a:solidFill>
              <a:srgbClr val="102938">
                <a:alpha val="65000"/>
              </a:srgbClr>
            </a:solidFill>
            <a:prstDash val="solid"/>
          </a:ln>
        </p:spPr>
      </p:sp>
      <p:sp>
        <p:nvSpPr>
          <p:cNvPr id="58" name="Text 56"/>
          <p:cNvSpPr/>
          <p:nvPr/>
        </p:nvSpPr>
        <p:spPr>
          <a:xfrm>
            <a:off x="8595360" y="2816352"/>
            <a:ext cx="914400" cy="201168"/>
          </a:xfrm>
          <a:prstGeom prst="rect">
            <a:avLst/>
          </a:prstGeom>
          <a:noFill/>
          <a:ln/>
        </p:spPr>
        <p:txBody>
          <a:bodyPr wrap="square" lIns="0" tIns="0" rIns="0" bIns="0" rtlCol="0" anchor="ctr">
            <a:normAutofit/>
          </a:bodyPr>
          <a:lstStyle/>
          <a:p>
            <a:pPr algn="l" indent="0" marL="0">
              <a:buNone/>
            </a:pPr>
            <a:r>
              <a:rPr lang="en-US" sz="800" b="1" spc="70" kern="0" dirty="0">
                <a:solidFill>
                  <a:srgbClr val="F2E84A"/>
                </a:solidFill>
                <a:latin typeface="Aptos" pitchFamily="34" charset="0"/>
                <a:ea typeface="Aptos" pitchFamily="34" charset="-122"/>
                <a:cs typeface="Aptos" pitchFamily="34" charset="-120"/>
              </a:rPr>
              <a:t>EVIDENCE</a:t>
            </a:r>
            <a:endParaRPr lang="en-US" sz="800" dirty="0"/>
          </a:p>
        </p:txBody>
      </p:sp>
      <p:sp>
        <p:nvSpPr>
          <p:cNvPr id="59" name="Text 57"/>
          <p:cNvSpPr/>
          <p:nvPr/>
        </p:nvSpPr>
        <p:spPr>
          <a:xfrm>
            <a:off x="8595360" y="3200400"/>
            <a:ext cx="1078992" cy="182880"/>
          </a:xfrm>
          <a:prstGeom prst="rect">
            <a:avLst/>
          </a:prstGeom>
          <a:noFill/>
          <a:ln/>
        </p:spPr>
        <p:txBody>
          <a:bodyPr wrap="square" lIns="0" tIns="0" rIns="0" bIns="0" rtlCol="0" anchor="ctr">
            <a:normAutofit/>
          </a:bodyPr>
          <a:lstStyle/>
          <a:p>
            <a:pPr algn="l" indent="0" marL="0">
              <a:buNone/>
            </a:pPr>
            <a:r>
              <a:rPr lang="en-US" sz="850" dirty="0">
                <a:solidFill>
                  <a:srgbClr val="A7BBC5"/>
                </a:solidFill>
                <a:latin typeface="Aptos" pitchFamily="34" charset="0"/>
                <a:ea typeface="Aptos" pitchFamily="34" charset="-122"/>
                <a:cs typeface="Aptos" pitchFamily="34" charset="-120"/>
              </a:rPr>
              <a:t>Trend</a:t>
            </a:r>
            <a:endParaRPr lang="en-US" sz="850" dirty="0"/>
          </a:p>
        </p:txBody>
      </p:sp>
      <p:sp>
        <p:nvSpPr>
          <p:cNvPr id="60" name="Text 58"/>
          <p:cNvSpPr/>
          <p:nvPr/>
        </p:nvSpPr>
        <p:spPr>
          <a:xfrm>
            <a:off x="9656064" y="3200400"/>
            <a:ext cx="1335024" cy="182880"/>
          </a:xfrm>
          <a:prstGeom prst="rect">
            <a:avLst/>
          </a:prstGeom>
          <a:noFill/>
          <a:ln/>
        </p:spPr>
        <p:txBody>
          <a:bodyPr wrap="square" lIns="0" tIns="0" rIns="0" bIns="0" rtlCol="0" anchor="ctr">
            <a:normAutofit/>
          </a:bodyPr>
          <a:lstStyle/>
          <a:p>
            <a:pPr algn="r" indent="0" marL="0">
              <a:buNone/>
            </a:pPr>
            <a:r>
              <a:rPr lang="en-US" sz="880" b="1" dirty="0">
                <a:solidFill>
                  <a:srgbClr val="F4F8FA"/>
                </a:solidFill>
                <a:latin typeface="Aptos" pitchFamily="34" charset="0"/>
                <a:ea typeface="Aptos" pitchFamily="34" charset="-122"/>
                <a:cs typeface="Aptos" pitchFamily="34" charset="-120"/>
              </a:rPr>
              <a:t>Detected</a:t>
            </a:r>
            <a:endParaRPr lang="en-US" sz="880" dirty="0"/>
          </a:p>
        </p:txBody>
      </p:sp>
      <p:sp>
        <p:nvSpPr>
          <p:cNvPr id="61" name="Text 59"/>
          <p:cNvSpPr/>
          <p:nvPr/>
        </p:nvSpPr>
        <p:spPr>
          <a:xfrm>
            <a:off x="8595360" y="3621024"/>
            <a:ext cx="1078992" cy="182880"/>
          </a:xfrm>
          <a:prstGeom prst="rect">
            <a:avLst/>
          </a:prstGeom>
          <a:noFill/>
          <a:ln/>
        </p:spPr>
        <p:txBody>
          <a:bodyPr wrap="square" lIns="0" tIns="0" rIns="0" bIns="0" rtlCol="0" anchor="ctr">
            <a:normAutofit/>
          </a:bodyPr>
          <a:lstStyle/>
          <a:p>
            <a:pPr algn="l" indent="0" marL="0">
              <a:buNone/>
            </a:pPr>
            <a:r>
              <a:rPr lang="en-US" sz="850" dirty="0">
                <a:solidFill>
                  <a:srgbClr val="A7BBC5"/>
                </a:solidFill>
                <a:latin typeface="Aptos" pitchFamily="34" charset="0"/>
                <a:ea typeface="Aptos" pitchFamily="34" charset="-122"/>
                <a:cs typeface="Aptos" pitchFamily="34" charset="-120"/>
              </a:rPr>
              <a:t>Significance</a:t>
            </a:r>
            <a:endParaRPr lang="en-US" sz="850" dirty="0"/>
          </a:p>
        </p:txBody>
      </p:sp>
      <p:sp>
        <p:nvSpPr>
          <p:cNvPr id="62" name="Text 60"/>
          <p:cNvSpPr/>
          <p:nvPr/>
        </p:nvSpPr>
        <p:spPr>
          <a:xfrm>
            <a:off x="9656064" y="3621024"/>
            <a:ext cx="1335024" cy="182880"/>
          </a:xfrm>
          <a:prstGeom prst="rect">
            <a:avLst/>
          </a:prstGeom>
          <a:noFill/>
          <a:ln/>
        </p:spPr>
        <p:txBody>
          <a:bodyPr wrap="square" lIns="0" tIns="0" rIns="0" bIns="0" rtlCol="0" anchor="ctr">
            <a:normAutofit/>
          </a:bodyPr>
          <a:lstStyle/>
          <a:p>
            <a:pPr algn="r" indent="0" marL="0">
              <a:buNone/>
            </a:pPr>
            <a:r>
              <a:rPr lang="en-US" sz="880" b="1" dirty="0">
                <a:solidFill>
                  <a:srgbClr val="F4F8FA"/>
                </a:solidFill>
                <a:latin typeface="Aptos" pitchFamily="34" charset="0"/>
                <a:ea typeface="Aptos" pitchFamily="34" charset="-122"/>
                <a:cs typeface="Aptos" pitchFamily="34" charset="-120"/>
              </a:rPr>
              <a:t>Shown separately</a:t>
            </a:r>
            <a:endParaRPr lang="en-US" sz="880" dirty="0"/>
          </a:p>
        </p:txBody>
      </p:sp>
      <p:sp>
        <p:nvSpPr>
          <p:cNvPr id="63" name="Text 61"/>
          <p:cNvSpPr/>
          <p:nvPr/>
        </p:nvSpPr>
        <p:spPr>
          <a:xfrm>
            <a:off x="8595360" y="4041648"/>
            <a:ext cx="1078992" cy="182880"/>
          </a:xfrm>
          <a:prstGeom prst="rect">
            <a:avLst/>
          </a:prstGeom>
          <a:noFill/>
          <a:ln/>
        </p:spPr>
        <p:txBody>
          <a:bodyPr wrap="square" lIns="0" tIns="0" rIns="0" bIns="0" rtlCol="0" anchor="ctr">
            <a:normAutofit/>
          </a:bodyPr>
          <a:lstStyle/>
          <a:p>
            <a:pPr algn="l" indent="0" marL="0">
              <a:buNone/>
            </a:pPr>
            <a:r>
              <a:rPr lang="en-US" sz="850" dirty="0">
                <a:solidFill>
                  <a:srgbClr val="A7BBC5"/>
                </a:solidFill>
                <a:latin typeface="Aptos" pitchFamily="34" charset="0"/>
                <a:ea typeface="Aptos" pitchFamily="34" charset="-122"/>
                <a:cs typeface="Aptos" pitchFamily="34" charset="-120"/>
              </a:rPr>
              <a:t>Scope</a:t>
            </a:r>
            <a:endParaRPr lang="en-US" sz="850" dirty="0"/>
          </a:p>
        </p:txBody>
      </p:sp>
      <p:sp>
        <p:nvSpPr>
          <p:cNvPr id="64" name="Text 62"/>
          <p:cNvSpPr/>
          <p:nvPr/>
        </p:nvSpPr>
        <p:spPr>
          <a:xfrm>
            <a:off x="9656064" y="4041648"/>
            <a:ext cx="1335024" cy="182880"/>
          </a:xfrm>
          <a:prstGeom prst="rect">
            <a:avLst/>
          </a:prstGeom>
          <a:noFill/>
          <a:ln/>
        </p:spPr>
        <p:txBody>
          <a:bodyPr wrap="square" lIns="0" tIns="0" rIns="0" bIns="0" rtlCol="0" anchor="ctr">
            <a:normAutofit/>
          </a:bodyPr>
          <a:lstStyle/>
          <a:p>
            <a:pPr algn="r" indent="0" marL="0">
              <a:buNone/>
            </a:pPr>
            <a:r>
              <a:rPr lang="en-US" sz="880" b="1" dirty="0">
                <a:solidFill>
                  <a:srgbClr val="F4F8FA"/>
                </a:solidFill>
                <a:latin typeface="Aptos" pitchFamily="34" charset="0"/>
                <a:ea typeface="Aptos" pitchFamily="34" charset="-122"/>
                <a:cs typeface="Aptos" pitchFamily="34" charset="-120"/>
              </a:rPr>
              <a:t>Reference point</a:t>
            </a:r>
            <a:endParaRPr lang="en-US" sz="880" dirty="0"/>
          </a:p>
        </p:txBody>
      </p:sp>
      <p:sp>
        <p:nvSpPr>
          <p:cNvPr id="65" name="Text 63"/>
          <p:cNvSpPr/>
          <p:nvPr/>
        </p:nvSpPr>
        <p:spPr>
          <a:xfrm>
            <a:off x="8595360" y="4462272"/>
            <a:ext cx="1078992" cy="182880"/>
          </a:xfrm>
          <a:prstGeom prst="rect">
            <a:avLst/>
          </a:prstGeom>
          <a:noFill/>
          <a:ln/>
        </p:spPr>
        <p:txBody>
          <a:bodyPr wrap="square" lIns="0" tIns="0" rIns="0" bIns="0" rtlCol="0" anchor="ctr">
            <a:normAutofit/>
          </a:bodyPr>
          <a:lstStyle/>
          <a:p>
            <a:pPr algn="l" indent="0" marL="0">
              <a:buNone/>
            </a:pPr>
            <a:r>
              <a:rPr lang="en-US" sz="850" dirty="0">
                <a:solidFill>
                  <a:srgbClr val="A7BBC5"/>
                </a:solidFill>
                <a:latin typeface="Aptos" pitchFamily="34" charset="0"/>
                <a:ea typeface="Aptos" pitchFamily="34" charset="-122"/>
                <a:cs typeface="Aptos" pitchFamily="34" charset="-120"/>
              </a:rPr>
              <a:t>Causality</a:t>
            </a:r>
            <a:endParaRPr lang="en-US" sz="850" dirty="0"/>
          </a:p>
        </p:txBody>
      </p:sp>
      <p:sp>
        <p:nvSpPr>
          <p:cNvPr id="66" name="Text 64"/>
          <p:cNvSpPr/>
          <p:nvPr/>
        </p:nvSpPr>
        <p:spPr>
          <a:xfrm>
            <a:off x="9656064" y="4462272"/>
            <a:ext cx="1335024" cy="182880"/>
          </a:xfrm>
          <a:prstGeom prst="rect">
            <a:avLst/>
          </a:prstGeom>
          <a:noFill/>
          <a:ln/>
        </p:spPr>
        <p:txBody>
          <a:bodyPr wrap="square" lIns="0" tIns="0" rIns="0" bIns="0" rtlCol="0" anchor="ctr">
            <a:normAutofit/>
          </a:bodyPr>
          <a:lstStyle/>
          <a:p>
            <a:pPr algn="r" indent="0" marL="0">
              <a:buNone/>
            </a:pPr>
            <a:r>
              <a:rPr lang="en-US" sz="880" b="1" dirty="0">
                <a:solidFill>
                  <a:srgbClr val="F2E84A"/>
                </a:solidFill>
                <a:latin typeface="Aptos" pitchFamily="34" charset="0"/>
                <a:ea typeface="Aptos" pitchFamily="34" charset="-122"/>
                <a:cs typeface="Aptos" pitchFamily="34" charset="-120"/>
              </a:rPr>
              <a:t>Not established</a:t>
            </a:r>
            <a:endParaRPr lang="en-US" sz="880" dirty="0"/>
          </a:p>
        </p:txBody>
      </p:sp>
      <p:sp>
        <p:nvSpPr>
          <p:cNvPr id="67" name="Shape 65"/>
          <p:cNvSpPr/>
          <p:nvPr/>
        </p:nvSpPr>
        <p:spPr>
          <a:xfrm>
            <a:off x="8595360" y="5212080"/>
            <a:ext cx="2432304" cy="265176"/>
          </a:xfrm>
          <a:prstGeom prst="roundRect">
            <a:avLst>
              <a:gd name="adj" fmla="val 31034"/>
            </a:avLst>
          </a:prstGeom>
          <a:solidFill>
            <a:srgbClr val="1479FF"/>
          </a:solidFill>
          <a:ln w="12700">
            <a:solidFill>
              <a:srgbClr val="1479FF">
                <a:alpha val="0"/>
              </a:srgbClr>
            </a:solidFill>
            <a:prstDash val="solid"/>
          </a:ln>
        </p:spPr>
      </p:sp>
      <p:sp>
        <p:nvSpPr>
          <p:cNvPr id="68" name="Text 66"/>
          <p:cNvSpPr/>
          <p:nvPr/>
        </p:nvSpPr>
        <p:spPr>
          <a:xfrm>
            <a:off x="8686800" y="5221224"/>
            <a:ext cx="2249424" cy="228600"/>
          </a:xfrm>
          <a:prstGeom prst="rect">
            <a:avLst/>
          </a:prstGeom>
          <a:noFill/>
          <a:ln/>
        </p:spPr>
        <p:txBody>
          <a:bodyPr wrap="square" lIns="0" tIns="0" rIns="0" bIns="0" rtlCol="0" anchor="ctr">
            <a:normAutofit/>
          </a:bodyPr>
          <a:lstStyle/>
          <a:p>
            <a:pPr algn="ctr" indent="0" marL="0">
              <a:buNone/>
            </a:pPr>
            <a:r>
              <a:rPr lang="en-US" sz="850" b="1" spc="40" kern="0" dirty="0">
                <a:solidFill>
                  <a:srgbClr val="F4F8FA"/>
                </a:solidFill>
                <a:latin typeface="Aptos" pitchFamily="34" charset="0"/>
                <a:ea typeface="Aptos" pitchFamily="34" charset="-122"/>
                <a:cs typeface="Aptos" pitchFamily="34" charset="-120"/>
              </a:rPr>
              <a:t>PREVIEW · NOT A LIVE RESULT</a:t>
            </a:r>
            <a:endParaRPr lang="en-US" sz="850" dirty="0"/>
          </a:p>
        </p:txBody>
      </p:sp>
      <p:sp>
        <p:nvSpPr>
          <p:cNvPr id="25" name="Slide Number Placeholder 0"/>
          <p:cNvSpPr>
            <a:spLocks noGrp="1"/>
          </p:cNvSpPr>
          <p:nvPr>
            <p:ph type="sldNum" sz="quarter" idx="4294967295"/>
          </p:nvPr>
        </p:nvSpPr>
        <p:spPr>
          <a:xfrm>
            <a:off x="11759184" y="6556248"/>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A95A1"/>
                </a:solidFill>
                <a:latin typeface="Aptos"/>
                <a:ea typeface="Aptos"/>
                <a:cs typeface="Aptos"/>
              </a:defRPr>
            </a:lvl1pPr>
          </a:lstStyle>
          <a:p>
            <a:pPr algn="l"/>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30352" y="402336"/>
            <a:ext cx="2743200" cy="228600"/>
          </a:xfrm>
          <a:prstGeom prst="rect">
            <a:avLst/>
          </a:prstGeom>
          <a:noFill/>
          <a:ln/>
        </p:spPr>
        <p:txBody>
          <a:bodyPr wrap="square" lIns="0" tIns="0" rIns="0" bIns="0" rtlCol="0" anchor="ctr">
            <a:normAutofit/>
          </a:bodyPr>
          <a:lstStyle/>
          <a:p>
            <a:pPr algn="l" indent="0" marL="0">
              <a:buNone/>
            </a:pPr>
            <a:r>
              <a:rPr lang="en-US" sz="900" b="1" spc="140" kern="0" dirty="0">
                <a:solidFill>
                  <a:srgbClr val="41D9FF"/>
                </a:solidFill>
                <a:latin typeface="Aptos" pitchFamily="34" charset="0"/>
                <a:ea typeface="Aptos" pitchFamily="34" charset="-122"/>
                <a:cs typeface="Aptos" pitchFamily="34" charset="-120"/>
              </a:rPr>
              <a:t>05 / TRUST MODEL</a:t>
            </a:r>
            <a:endParaRPr lang="en-US" sz="900" dirty="0"/>
          </a:p>
        </p:txBody>
      </p:sp>
      <p:sp>
        <p:nvSpPr>
          <p:cNvPr id="3" name="Text 1"/>
          <p:cNvSpPr/>
          <p:nvPr/>
        </p:nvSpPr>
        <p:spPr>
          <a:xfrm>
            <a:off x="530352" y="749808"/>
            <a:ext cx="10698480" cy="594360"/>
          </a:xfrm>
          <a:prstGeom prst="rect">
            <a:avLst/>
          </a:prstGeom>
          <a:noFill/>
          <a:ln/>
        </p:spPr>
        <p:txBody>
          <a:bodyPr wrap="square" lIns="0" tIns="0" rIns="0" bIns="0" rtlCol="0" anchor="ctr">
            <a:normAutofit/>
          </a:bodyPr>
          <a:lstStyle/>
          <a:p>
            <a:pPr algn="l" indent="0" marL="0">
              <a:buNone/>
            </a:pPr>
            <a:r>
              <a:rPr lang="en-US" sz="2700" b="1" dirty="0">
                <a:solidFill>
                  <a:srgbClr val="F4F8FA"/>
                </a:solidFill>
                <a:latin typeface="Aptos Display" pitchFamily="34" charset="0"/>
                <a:ea typeface="Aptos Display" pitchFamily="34" charset="-122"/>
                <a:cs typeface="Aptos Display" pitchFamily="34" charset="-120"/>
              </a:rPr>
              <a:t>What the app refuses to pretend it knows.</a:t>
            </a:r>
            <a:endParaRPr lang="en-US" sz="2700" dirty="0"/>
          </a:p>
        </p:txBody>
      </p:sp>
      <p:sp>
        <p:nvSpPr>
          <p:cNvPr id="4" name="Text 2"/>
          <p:cNvSpPr/>
          <p:nvPr/>
        </p:nvSpPr>
        <p:spPr>
          <a:xfrm>
            <a:off x="548640" y="1399032"/>
            <a:ext cx="10515600" cy="365760"/>
          </a:xfrm>
          <a:prstGeom prst="rect">
            <a:avLst/>
          </a:prstGeom>
          <a:noFill/>
          <a:ln/>
        </p:spPr>
        <p:txBody>
          <a:bodyPr wrap="square" lIns="0" tIns="0" rIns="0" bIns="0" rtlCol="0" anchor="ctr">
            <a:normAutofit/>
          </a:bodyPr>
          <a:lstStyle/>
          <a:p>
            <a:pPr algn="l" indent="0" marL="0">
              <a:buNone/>
            </a:pPr>
            <a:r>
              <a:rPr lang="en-US" sz="1150" dirty="0">
                <a:solidFill>
                  <a:srgbClr val="A7BBC5"/>
                </a:solidFill>
                <a:latin typeface="Aptos" pitchFamily="34" charset="0"/>
                <a:ea typeface="Aptos" pitchFamily="34" charset="-122"/>
                <a:cs typeface="Aptos" pitchFamily="34" charset="-120"/>
              </a:rPr>
              <a:t>Guardrails are part of the product, not a footnote buried after the chart.</a:t>
            </a:r>
            <a:endParaRPr lang="en-US" sz="1150" dirty="0"/>
          </a:p>
        </p:txBody>
      </p:sp>
      <p:sp>
        <p:nvSpPr>
          <p:cNvPr id="5" name="Shape 3"/>
          <p:cNvSpPr/>
          <p:nvPr/>
        </p:nvSpPr>
        <p:spPr>
          <a:xfrm>
            <a:off x="603504" y="2112264"/>
            <a:ext cx="384048" cy="384048"/>
          </a:xfrm>
          <a:prstGeom prst="ellipse">
            <a:avLst/>
          </a:prstGeom>
          <a:solidFill>
            <a:srgbClr val="1479FF"/>
          </a:solidFill>
          <a:ln w="12700">
            <a:solidFill>
              <a:srgbClr val="1479FF">
                <a:alpha val="0"/>
              </a:srgbClr>
            </a:solidFill>
            <a:prstDash val="solid"/>
          </a:ln>
        </p:spPr>
      </p:sp>
      <p:sp>
        <p:nvSpPr>
          <p:cNvPr id="6" name="Text 4"/>
          <p:cNvSpPr/>
          <p:nvPr/>
        </p:nvSpPr>
        <p:spPr>
          <a:xfrm>
            <a:off x="603504" y="2121408"/>
            <a:ext cx="384048" cy="347472"/>
          </a:xfrm>
          <a:prstGeom prst="rect">
            <a:avLst/>
          </a:prstGeom>
          <a:noFill/>
          <a:ln/>
        </p:spPr>
        <p:txBody>
          <a:bodyPr wrap="square" lIns="0" tIns="0" rIns="0" bIns="0" rtlCol="0" anchor="ctr">
            <a:normAutofit/>
          </a:bodyPr>
          <a:lstStyle/>
          <a:p>
            <a:pPr algn="ctr" indent="0" marL="0">
              <a:buNone/>
            </a:pPr>
            <a:r>
              <a:rPr lang="en-US" sz="1100" b="1" dirty="0">
                <a:solidFill>
                  <a:srgbClr val="06131D"/>
                </a:solidFill>
                <a:latin typeface="Aptos" pitchFamily="34" charset="0"/>
                <a:ea typeface="Aptos" pitchFamily="34" charset="-122"/>
                <a:cs typeface="Aptos" pitchFamily="34" charset="-120"/>
              </a:rPr>
              <a:t>✓</a:t>
            </a:r>
            <a:endParaRPr lang="en-US" sz="1100" dirty="0"/>
          </a:p>
        </p:txBody>
      </p:sp>
      <p:sp>
        <p:nvSpPr>
          <p:cNvPr id="7" name="Text 5"/>
          <p:cNvSpPr/>
          <p:nvPr/>
        </p:nvSpPr>
        <p:spPr>
          <a:xfrm>
            <a:off x="1152144" y="2084832"/>
            <a:ext cx="2697480" cy="228600"/>
          </a:xfrm>
          <a:prstGeom prst="rect">
            <a:avLst/>
          </a:prstGeom>
          <a:noFill/>
          <a:ln/>
        </p:spPr>
        <p:txBody>
          <a:bodyPr wrap="square" lIns="0" tIns="0" rIns="0" bIns="0" rtlCol="0" anchor="ctr">
            <a:normAutofit/>
          </a:bodyPr>
          <a:lstStyle/>
          <a:p>
            <a:pPr algn="l" indent="0" marL="0">
              <a:buNone/>
            </a:pPr>
            <a:r>
              <a:rPr lang="en-US" sz="1000" b="1" dirty="0">
                <a:solidFill>
                  <a:srgbClr val="F4F8FA"/>
                </a:solidFill>
                <a:latin typeface="Aptos" pitchFamily="34" charset="0"/>
                <a:ea typeface="Aptos" pitchFamily="34" charset="-122"/>
                <a:cs typeface="Aptos" pitchFamily="34" charset="-120"/>
              </a:rPr>
              <a:t>POINT ≠ REGION</a:t>
            </a:r>
            <a:endParaRPr lang="en-US" sz="1000" dirty="0"/>
          </a:p>
        </p:txBody>
      </p:sp>
      <p:sp>
        <p:nvSpPr>
          <p:cNvPr id="8" name="Text 6"/>
          <p:cNvSpPr/>
          <p:nvPr/>
        </p:nvSpPr>
        <p:spPr>
          <a:xfrm>
            <a:off x="3767328" y="2084832"/>
            <a:ext cx="7269480" cy="292608"/>
          </a:xfrm>
          <a:prstGeom prst="rect">
            <a:avLst/>
          </a:prstGeom>
          <a:noFill/>
          <a:ln/>
        </p:spPr>
        <p:txBody>
          <a:bodyPr wrap="square" lIns="0" tIns="0" rIns="0" bIns="0" rtlCol="0" anchor="ctr">
            <a:normAutofit/>
          </a:bodyPr>
          <a:lstStyle/>
          <a:p>
            <a:pPr algn="l" indent="0" marL="0">
              <a:buNone/>
            </a:pPr>
            <a:r>
              <a:rPr lang="en-US" sz="1020" dirty="0">
                <a:solidFill>
                  <a:srgbClr val="A7BBC5"/>
                </a:solidFill>
                <a:latin typeface="Aptos" pitchFamily="34" charset="0"/>
                <a:ea typeface="Aptos" pitchFamily="34" charset="-122"/>
                <a:cs typeface="Aptos" pitchFamily="34" charset="-120"/>
              </a:rPr>
              <a:t>Reference-point scope is explicit.</a:t>
            </a:r>
            <a:endParaRPr lang="en-US" sz="1020" dirty="0"/>
          </a:p>
        </p:txBody>
      </p:sp>
      <p:sp>
        <p:nvSpPr>
          <p:cNvPr id="9" name="Shape 7"/>
          <p:cNvSpPr/>
          <p:nvPr/>
        </p:nvSpPr>
        <p:spPr>
          <a:xfrm>
            <a:off x="1152144" y="2505456"/>
            <a:ext cx="10049256" cy="0"/>
          </a:xfrm>
          <a:prstGeom prst="line">
            <a:avLst/>
          </a:prstGeom>
          <a:noFill/>
          <a:ln w="8890">
            <a:solidFill>
              <a:srgbClr val="183340"/>
            </a:solidFill>
            <a:prstDash val="solid"/>
            <a:headEnd type="none"/>
            <a:tailEnd type="none"/>
          </a:ln>
        </p:spPr>
      </p:sp>
      <p:sp>
        <p:nvSpPr>
          <p:cNvPr id="10" name="Shape 8"/>
          <p:cNvSpPr/>
          <p:nvPr/>
        </p:nvSpPr>
        <p:spPr>
          <a:xfrm>
            <a:off x="603504" y="2816352"/>
            <a:ext cx="384048" cy="384048"/>
          </a:xfrm>
          <a:prstGeom prst="ellipse">
            <a:avLst/>
          </a:prstGeom>
          <a:solidFill>
            <a:srgbClr val="1479FF"/>
          </a:solidFill>
          <a:ln w="12700">
            <a:solidFill>
              <a:srgbClr val="1479FF">
                <a:alpha val="0"/>
              </a:srgbClr>
            </a:solidFill>
            <a:prstDash val="solid"/>
          </a:ln>
        </p:spPr>
      </p:sp>
      <p:sp>
        <p:nvSpPr>
          <p:cNvPr id="11" name="Text 9"/>
          <p:cNvSpPr/>
          <p:nvPr/>
        </p:nvSpPr>
        <p:spPr>
          <a:xfrm>
            <a:off x="603504" y="2825496"/>
            <a:ext cx="384048" cy="347472"/>
          </a:xfrm>
          <a:prstGeom prst="rect">
            <a:avLst/>
          </a:prstGeom>
          <a:noFill/>
          <a:ln/>
        </p:spPr>
        <p:txBody>
          <a:bodyPr wrap="square" lIns="0" tIns="0" rIns="0" bIns="0" rtlCol="0" anchor="ctr">
            <a:normAutofit/>
          </a:bodyPr>
          <a:lstStyle/>
          <a:p>
            <a:pPr algn="ctr" indent="0" marL="0">
              <a:buNone/>
            </a:pPr>
            <a:r>
              <a:rPr lang="en-US" sz="1100" b="1" dirty="0">
                <a:solidFill>
                  <a:srgbClr val="06131D"/>
                </a:solidFill>
                <a:latin typeface="Aptos" pitchFamily="34" charset="0"/>
                <a:ea typeface="Aptos" pitchFamily="34" charset="-122"/>
                <a:cs typeface="Aptos" pitchFamily="34" charset="-120"/>
              </a:rPr>
              <a:t>✓</a:t>
            </a:r>
            <a:endParaRPr lang="en-US" sz="1100" dirty="0"/>
          </a:p>
        </p:txBody>
      </p:sp>
      <p:sp>
        <p:nvSpPr>
          <p:cNvPr id="12" name="Text 10"/>
          <p:cNvSpPr/>
          <p:nvPr/>
        </p:nvSpPr>
        <p:spPr>
          <a:xfrm>
            <a:off x="1152144" y="2788920"/>
            <a:ext cx="2697480" cy="228600"/>
          </a:xfrm>
          <a:prstGeom prst="rect">
            <a:avLst/>
          </a:prstGeom>
          <a:noFill/>
          <a:ln/>
        </p:spPr>
        <p:txBody>
          <a:bodyPr wrap="square" lIns="0" tIns="0" rIns="0" bIns="0" rtlCol="0" anchor="ctr">
            <a:normAutofit/>
          </a:bodyPr>
          <a:lstStyle/>
          <a:p>
            <a:pPr algn="l" indent="0" marL="0">
              <a:buNone/>
            </a:pPr>
            <a:r>
              <a:rPr lang="en-US" sz="1000" b="1" dirty="0">
                <a:solidFill>
                  <a:srgbClr val="F4F8FA"/>
                </a:solidFill>
                <a:latin typeface="Aptos" pitchFamily="34" charset="0"/>
                <a:ea typeface="Aptos" pitchFamily="34" charset="-122"/>
                <a:cs typeface="Aptos" pitchFamily="34" charset="-120"/>
              </a:rPr>
              <a:t>TREND ≠ CAUSALITY</a:t>
            </a:r>
            <a:endParaRPr lang="en-US" sz="1000" dirty="0"/>
          </a:p>
        </p:txBody>
      </p:sp>
      <p:sp>
        <p:nvSpPr>
          <p:cNvPr id="13" name="Text 11"/>
          <p:cNvSpPr/>
          <p:nvPr/>
        </p:nvSpPr>
        <p:spPr>
          <a:xfrm>
            <a:off x="3767328" y="2788920"/>
            <a:ext cx="7269480" cy="292608"/>
          </a:xfrm>
          <a:prstGeom prst="rect">
            <a:avLst/>
          </a:prstGeom>
          <a:noFill/>
          <a:ln/>
        </p:spPr>
        <p:txBody>
          <a:bodyPr wrap="square" lIns="0" tIns="0" rIns="0" bIns="0" rtlCol="0" anchor="ctr">
            <a:normAutofit/>
          </a:bodyPr>
          <a:lstStyle/>
          <a:p>
            <a:pPr algn="l" indent="0" marL="0">
              <a:buNone/>
            </a:pPr>
            <a:r>
              <a:rPr lang="en-US" sz="1020" dirty="0">
                <a:solidFill>
                  <a:srgbClr val="A7BBC5"/>
                </a:solidFill>
                <a:latin typeface="Aptos" pitchFamily="34" charset="0"/>
                <a:ea typeface="Aptos" pitchFamily="34" charset="-122"/>
                <a:cs typeface="Aptos" pitchFamily="34" charset="-120"/>
              </a:rPr>
              <a:t>Association is not presented as mechanism.</a:t>
            </a:r>
            <a:endParaRPr lang="en-US" sz="1020" dirty="0"/>
          </a:p>
        </p:txBody>
      </p:sp>
      <p:sp>
        <p:nvSpPr>
          <p:cNvPr id="14" name="Shape 12"/>
          <p:cNvSpPr/>
          <p:nvPr/>
        </p:nvSpPr>
        <p:spPr>
          <a:xfrm>
            <a:off x="1152144" y="3209544"/>
            <a:ext cx="10049256" cy="0"/>
          </a:xfrm>
          <a:prstGeom prst="line">
            <a:avLst/>
          </a:prstGeom>
          <a:noFill/>
          <a:ln w="8890">
            <a:solidFill>
              <a:srgbClr val="183340"/>
            </a:solidFill>
            <a:prstDash val="solid"/>
            <a:headEnd type="none"/>
            <a:tailEnd type="none"/>
          </a:ln>
        </p:spPr>
      </p:sp>
      <p:sp>
        <p:nvSpPr>
          <p:cNvPr id="15" name="Shape 13"/>
          <p:cNvSpPr/>
          <p:nvPr/>
        </p:nvSpPr>
        <p:spPr>
          <a:xfrm>
            <a:off x="603504" y="3520440"/>
            <a:ext cx="384048" cy="384048"/>
          </a:xfrm>
          <a:prstGeom prst="ellipse">
            <a:avLst/>
          </a:prstGeom>
          <a:solidFill>
            <a:srgbClr val="F2E84A"/>
          </a:solidFill>
          <a:ln w="12700">
            <a:solidFill>
              <a:srgbClr val="F2E84A">
                <a:alpha val="0"/>
              </a:srgbClr>
            </a:solidFill>
            <a:prstDash val="solid"/>
          </a:ln>
        </p:spPr>
      </p:sp>
      <p:sp>
        <p:nvSpPr>
          <p:cNvPr id="16" name="Text 14"/>
          <p:cNvSpPr/>
          <p:nvPr/>
        </p:nvSpPr>
        <p:spPr>
          <a:xfrm>
            <a:off x="603504" y="3529584"/>
            <a:ext cx="384048" cy="347472"/>
          </a:xfrm>
          <a:prstGeom prst="rect">
            <a:avLst/>
          </a:prstGeom>
          <a:noFill/>
          <a:ln/>
        </p:spPr>
        <p:txBody>
          <a:bodyPr wrap="square" lIns="0" tIns="0" rIns="0" bIns="0" rtlCol="0" anchor="ctr">
            <a:normAutofit/>
          </a:bodyPr>
          <a:lstStyle/>
          <a:p>
            <a:pPr algn="ctr" indent="0" marL="0">
              <a:buNone/>
            </a:pPr>
            <a:r>
              <a:rPr lang="en-US" sz="1100" b="1" dirty="0">
                <a:solidFill>
                  <a:srgbClr val="06131D"/>
                </a:solidFill>
                <a:latin typeface="Aptos" pitchFamily="34" charset="0"/>
                <a:ea typeface="Aptos" pitchFamily="34" charset="-122"/>
                <a:cs typeface="Aptos" pitchFamily="34" charset="-120"/>
              </a:rPr>
              <a:t>✓</a:t>
            </a:r>
            <a:endParaRPr lang="en-US" sz="1100" dirty="0"/>
          </a:p>
        </p:txBody>
      </p:sp>
      <p:sp>
        <p:nvSpPr>
          <p:cNvPr id="17" name="Text 15"/>
          <p:cNvSpPr/>
          <p:nvPr/>
        </p:nvSpPr>
        <p:spPr>
          <a:xfrm>
            <a:off x="1152144" y="3493008"/>
            <a:ext cx="2697480" cy="228600"/>
          </a:xfrm>
          <a:prstGeom prst="rect">
            <a:avLst/>
          </a:prstGeom>
          <a:noFill/>
          <a:ln/>
        </p:spPr>
        <p:txBody>
          <a:bodyPr wrap="square" lIns="0" tIns="0" rIns="0" bIns="0" rtlCol="0" anchor="ctr">
            <a:normAutofit/>
          </a:bodyPr>
          <a:lstStyle/>
          <a:p>
            <a:pPr algn="l" indent="0" marL="0">
              <a:buNone/>
            </a:pPr>
            <a:r>
              <a:rPr lang="en-US" sz="1000" b="1" dirty="0">
                <a:solidFill>
                  <a:srgbClr val="F2E84A"/>
                </a:solidFill>
                <a:latin typeface="Aptos" pitchFamily="34" charset="0"/>
                <a:ea typeface="Aptos" pitchFamily="34" charset="-122"/>
                <a:cs typeface="Aptos" pitchFamily="34" charset="-120"/>
              </a:rPr>
              <a:t>NON-SIGNIFICANCE ≠ NO CHANGE</a:t>
            </a:r>
            <a:endParaRPr lang="en-US" sz="1000" dirty="0"/>
          </a:p>
        </p:txBody>
      </p:sp>
      <p:sp>
        <p:nvSpPr>
          <p:cNvPr id="18" name="Text 16"/>
          <p:cNvSpPr/>
          <p:nvPr/>
        </p:nvSpPr>
        <p:spPr>
          <a:xfrm>
            <a:off x="3767328" y="3493008"/>
            <a:ext cx="7269480" cy="292608"/>
          </a:xfrm>
          <a:prstGeom prst="rect">
            <a:avLst/>
          </a:prstGeom>
          <a:noFill/>
          <a:ln/>
        </p:spPr>
        <p:txBody>
          <a:bodyPr wrap="square" lIns="0" tIns="0" rIns="0" bIns="0" rtlCol="0" anchor="ctr">
            <a:normAutofit/>
          </a:bodyPr>
          <a:lstStyle/>
          <a:p>
            <a:pPr algn="l" indent="0" marL="0">
              <a:buNone/>
            </a:pPr>
            <a:r>
              <a:rPr lang="en-US" sz="1020" dirty="0">
                <a:solidFill>
                  <a:srgbClr val="A7BBC5"/>
                </a:solidFill>
                <a:latin typeface="Aptos" pitchFamily="34" charset="0"/>
                <a:ea typeface="Aptos" pitchFamily="34" charset="-122"/>
                <a:cs typeface="Aptos" pitchFamily="34" charset="-120"/>
              </a:rPr>
              <a:t>A weak test result is not a claim of stability.</a:t>
            </a:r>
            <a:endParaRPr lang="en-US" sz="1020" dirty="0"/>
          </a:p>
        </p:txBody>
      </p:sp>
      <p:sp>
        <p:nvSpPr>
          <p:cNvPr id="19" name="Shape 17"/>
          <p:cNvSpPr/>
          <p:nvPr/>
        </p:nvSpPr>
        <p:spPr>
          <a:xfrm>
            <a:off x="1152144" y="3913632"/>
            <a:ext cx="10049256" cy="0"/>
          </a:xfrm>
          <a:prstGeom prst="line">
            <a:avLst/>
          </a:prstGeom>
          <a:noFill/>
          <a:ln w="8890">
            <a:solidFill>
              <a:srgbClr val="183340"/>
            </a:solidFill>
            <a:prstDash val="solid"/>
            <a:headEnd type="none"/>
            <a:tailEnd type="none"/>
          </a:ln>
        </p:spPr>
      </p:sp>
      <p:sp>
        <p:nvSpPr>
          <p:cNvPr id="20" name="Shape 18"/>
          <p:cNvSpPr/>
          <p:nvPr/>
        </p:nvSpPr>
        <p:spPr>
          <a:xfrm>
            <a:off x="603504" y="4224528"/>
            <a:ext cx="384048" cy="384048"/>
          </a:xfrm>
          <a:prstGeom prst="ellipse">
            <a:avLst/>
          </a:prstGeom>
          <a:solidFill>
            <a:srgbClr val="1479FF"/>
          </a:solidFill>
          <a:ln w="12700">
            <a:solidFill>
              <a:srgbClr val="1479FF">
                <a:alpha val="0"/>
              </a:srgbClr>
            </a:solidFill>
            <a:prstDash val="solid"/>
          </a:ln>
        </p:spPr>
      </p:sp>
      <p:sp>
        <p:nvSpPr>
          <p:cNvPr id="21" name="Text 19"/>
          <p:cNvSpPr/>
          <p:nvPr/>
        </p:nvSpPr>
        <p:spPr>
          <a:xfrm>
            <a:off x="603504" y="4233672"/>
            <a:ext cx="384048" cy="347472"/>
          </a:xfrm>
          <a:prstGeom prst="rect">
            <a:avLst/>
          </a:prstGeom>
          <a:noFill/>
          <a:ln/>
        </p:spPr>
        <p:txBody>
          <a:bodyPr wrap="square" lIns="0" tIns="0" rIns="0" bIns="0" rtlCol="0" anchor="ctr">
            <a:normAutofit/>
          </a:bodyPr>
          <a:lstStyle/>
          <a:p>
            <a:pPr algn="ctr" indent="0" marL="0">
              <a:buNone/>
            </a:pPr>
            <a:r>
              <a:rPr lang="en-US" sz="1100" b="1" dirty="0">
                <a:solidFill>
                  <a:srgbClr val="06131D"/>
                </a:solidFill>
                <a:latin typeface="Aptos" pitchFamily="34" charset="0"/>
                <a:ea typeface="Aptos" pitchFamily="34" charset="-122"/>
                <a:cs typeface="Aptos" pitchFamily="34" charset="-120"/>
              </a:rPr>
              <a:t>✓</a:t>
            </a:r>
            <a:endParaRPr lang="en-US" sz="1100" dirty="0"/>
          </a:p>
        </p:txBody>
      </p:sp>
      <p:sp>
        <p:nvSpPr>
          <p:cNvPr id="22" name="Text 20"/>
          <p:cNvSpPr/>
          <p:nvPr/>
        </p:nvSpPr>
        <p:spPr>
          <a:xfrm>
            <a:off x="1152144" y="4197096"/>
            <a:ext cx="2697480" cy="228600"/>
          </a:xfrm>
          <a:prstGeom prst="rect">
            <a:avLst/>
          </a:prstGeom>
          <a:noFill/>
          <a:ln/>
        </p:spPr>
        <p:txBody>
          <a:bodyPr wrap="square" lIns="0" tIns="0" rIns="0" bIns="0" rtlCol="0" anchor="ctr">
            <a:normAutofit/>
          </a:bodyPr>
          <a:lstStyle/>
          <a:p>
            <a:pPr algn="l" indent="0" marL="0">
              <a:buNone/>
            </a:pPr>
            <a:r>
              <a:rPr lang="en-US" sz="1000" b="1" dirty="0">
                <a:solidFill>
                  <a:srgbClr val="F4F8FA"/>
                </a:solidFill>
                <a:latin typeface="Aptos" pitchFamily="34" charset="0"/>
                <a:ea typeface="Aptos" pitchFamily="34" charset="-122"/>
                <a:cs typeface="Aptos" pitchFamily="34" charset="-120"/>
              </a:rPr>
              <a:t>SHORT RECORDS STAY DESCRIPTIVE</a:t>
            </a:r>
            <a:endParaRPr lang="en-US" sz="1000" dirty="0"/>
          </a:p>
        </p:txBody>
      </p:sp>
      <p:sp>
        <p:nvSpPr>
          <p:cNvPr id="23" name="Text 21"/>
          <p:cNvSpPr/>
          <p:nvPr/>
        </p:nvSpPr>
        <p:spPr>
          <a:xfrm>
            <a:off x="3767328" y="4197096"/>
            <a:ext cx="7269480" cy="292608"/>
          </a:xfrm>
          <a:prstGeom prst="rect">
            <a:avLst/>
          </a:prstGeom>
          <a:noFill/>
          <a:ln/>
        </p:spPr>
        <p:txBody>
          <a:bodyPr wrap="square" lIns="0" tIns="0" rIns="0" bIns="0" rtlCol="0" anchor="ctr">
            <a:normAutofit/>
          </a:bodyPr>
          <a:lstStyle/>
          <a:p>
            <a:pPr algn="l" indent="0" marL="0">
              <a:buNone/>
            </a:pPr>
            <a:r>
              <a:rPr lang="en-US" sz="1020" dirty="0">
                <a:solidFill>
                  <a:srgbClr val="A7BBC5"/>
                </a:solidFill>
                <a:latin typeface="Aptos" pitchFamily="34" charset="0"/>
                <a:ea typeface="Aptos" pitchFamily="34" charset="-122"/>
                <a:cs typeface="Aptos" pitchFamily="34" charset="-120"/>
              </a:rPr>
              <a:t>Insufficient history does not get a fake p-value.</a:t>
            </a:r>
            <a:endParaRPr lang="en-US" sz="1020" dirty="0"/>
          </a:p>
        </p:txBody>
      </p:sp>
      <p:sp>
        <p:nvSpPr>
          <p:cNvPr id="24" name="Shape 22"/>
          <p:cNvSpPr/>
          <p:nvPr/>
        </p:nvSpPr>
        <p:spPr>
          <a:xfrm>
            <a:off x="1152144" y="4617720"/>
            <a:ext cx="10049256" cy="0"/>
          </a:xfrm>
          <a:prstGeom prst="line">
            <a:avLst/>
          </a:prstGeom>
          <a:noFill/>
          <a:ln w="8890">
            <a:solidFill>
              <a:srgbClr val="183340"/>
            </a:solidFill>
            <a:prstDash val="solid"/>
            <a:headEnd type="none"/>
            <a:tailEnd type="none"/>
          </a:ln>
        </p:spPr>
      </p:sp>
      <p:sp>
        <p:nvSpPr>
          <p:cNvPr id="25" name="Shape 23"/>
          <p:cNvSpPr/>
          <p:nvPr/>
        </p:nvSpPr>
        <p:spPr>
          <a:xfrm>
            <a:off x="603504" y="4928616"/>
            <a:ext cx="384048" cy="384048"/>
          </a:xfrm>
          <a:prstGeom prst="ellipse">
            <a:avLst/>
          </a:prstGeom>
          <a:solidFill>
            <a:srgbClr val="1479FF"/>
          </a:solidFill>
          <a:ln w="12700">
            <a:solidFill>
              <a:srgbClr val="1479FF">
                <a:alpha val="0"/>
              </a:srgbClr>
            </a:solidFill>
            <a:prstDash val="solid"/>
          </a:ln>
        </p:spPr>
      </p:sp>
      <p:sp>
        <p:nvSpPr>
          <p:cNvPr id="26" name="Text 24"/>
          <p:cNvSpPr/>
          <p:nvPr/>
        </p:nvSpPr>
        <p:spPr>
          <a:xfrm>
            <a:off x="603504" y="4937760"/>
            <a:ext cx="384048" cy="347472"/>
          </a:xfrm>
          <a:prstGeom prst="rect">
            <a:avLst/>
          </a:prstGeom>
          <a:noFill/>
          <a:ln/>
        </p:spPr>
        <p:txBody>
          <a:bodyPr wrap="square" lIns="0" tIns="0" rIns="0" bIns="0" rtlCol="0" anchor="ctr">
            <a:normAutofit/>
          </a:bodyPr>
          <a:lstStyle/>
          <a:p>
            <a:pPr algn="ctr" indent="0" marL="0">
              <a:buNone/>
            </a:pPr>
            <a:r>
              <a:rPr lang="en-US" sz="1100" b="1" dirty="0">
                <a:solidFill>
                  <a:srgbClr val="06131D"/>
                </a:solidFill>
                <a:latin typeface="Aptos" pitchFamily="34" charset="0"/>
                <a:ea typeface="Aptos" pitchFamily="34" charset="-122"/>
                <a:cs typeface="Aptos" pitchFamily="34" charset="-120"/>
              </a:rPr>
              <a:t>✓</a:t>
            </a:r>
            <a:endParaRPr lang="en-US" sz="1100" dirty="0"/>
          </a:p>
        </p:txBody>
      </p:sp>
      <p:sp>
        <p:nvSpPr>
          <p:cNvPr id="27" name="Text 25"/>
          <p:cNvSpPr/>
          <p:nvPr/>
        </p:nvSpPr>
        <p:spPr>
          <a:xfrm>
            <a:off x="1152144" y="4901184"/>
            <a:ext cx="2697480" cy="228600"/>
          </a:xfrm>
          <a:prstGeom prst="rect">
            <a:avLst/>
          </a:prstGeom>
          <a:noFill/>
          <a:ln/>
        </p:spPr>
        <p:txBody>
          <a:bodyPr wrap="square" lIns="0" tIns="0" rIns="0" bIns="0" rtlCol="0" anchor="ctr">
            <a:normAutofit/>
          </a:bodyPr>
          <a:lstStyle/>
          <a:p>
            <a:pPr algn="l" indent="0" marL="0">
              <a:buNone/>
            </a:pPr>
            <a:r>
              <a:rPr lang="en-US" sz="1000" b="1" dirty="0">
                <a:solidFill>
                  <a:srgbClr val="F4F8FA"/>
                </a:solidFill>
                <a:latin typeface="Aptos" pitchFamily="34" charset="0"/>
                <a:ea typeface="Aptos" pitchFamily="34" charset="-122"/>
                <a:cs typeface="Aptos" pitchFamily="34" charset="-120"/>
              </a:rPr>
              <a:t>WILDFIRE FEED ≠ CLIMATE RATE</a:t>
            </a:r>
            <a:endParaRPr lang="en-US" sz="1000" dirty="0"/>
          </a:p>
        </p:txBody>
      </p:sp>
      <p:sp>
        <p:nvSpPr>
          <p:cNvPr id="28" name="Text 26"/>
          <p:cNvSpPr/>
          <p:nvPr/>
        </p:nvSpPr>
        <p:spPr>
          <a:xfrm>
            <a:off x="3767328" y="4901184"/>
            <a:ext cx="7269480" cy="292608"/>
          </a:xfrm>
          <a:prstGeom prst="rect">
            <a:avLst/>
          </a:prstGeom>
          <a:noFill/>
          <a:ln/>
        </p:spPr>
        <p:txBody>
          <a:bodyPr wrap="square" lIns="0" tIns="0" rIns="0" bIns="0" rtlCol="0" anchor="ctr">
            <a:normAutofit/>
          </a:bodyPr>
          <a:lstStyle/>
          <a:p>
            <a:pPr algn="l" indent="0" marL="0">
              <a:buNone/>
            </a:pPr>
            <a:r>
              <a:rPr lang="en-US" sz="1020" dirty="0">
                <a:solidFill>
                  <a:srgbClr val="A7BBC5"/>
                </a:solidFill>
                <a:latin typeface="Aptos" pitchFamily="34" charset="0"/>
                <a:ea typeface="Aptos" pitchFamily="34" charset="-122"/>
                <a:cs typeface="Aptos" pitchFamily="34" charset="-120"/>
              </a:rPr>
              <a:t>Event context is kept separate from climate trend inference.</a:t>
            </a:r>
            <a:endParaRPr lang="en-US" sz="1020" dirty="0"/>
          </a:p>
        </p:txBody>
      </p:sp>
      <p:sp>
        <p:nvSpPr>
          <p:cNvPr id="29" name="Shape 27"/>
          <p:cNvSpPr/>
          <p:nvPr/>
        </p:nvSpPr>
        <p:spPr>
          <a:xfrm>
            <a:off x="1152144" y="5321808"/>
            <a:ext cx="10049256" cy="0"/>
          </a:xfrm>
          <a:prstGeom prst="line">
            <a:avLst/>
          </a:prstGeom>
          <a:noFill/>
          <a:ln w="8890">
            <a:solidFill>
              <a:srgbClr val="183340"/>
            </a:solidFill>
            <a:prstDash val="solid"/>
            <a:headEnd type="none"/>
            <a:tailEnd type="none"/>
          </a:ln>
        </p:spPr>
      </p:sp>
      <p:sp>
        <p:nvSpPr>
          <p:cNvPr id="30" name="Shape 28"/>
          <p:cNvSpPr/>
          <p:nvPr/>
        </p:nvSpPr>
        <p:spPr>
          <a:xfrm>
            <a:off x="603504" y="5760720"/>
            <a:ext cx="10607040" cy="475488"/>
          </a:xfrm>
          <a:prstGeom prst="roundRect">
            <a:avLst>
              <a:gd name="adj" fmla="val 23077"/>
            </a:avLst>
          </a:prstGeom>
          <a:solidFill>
            <a:srgbClr val="081A26"/>
          </a:solidFill>
          <a:ln w="12700">
            <a:solidFill>
              <a:srgbClr val="F2E84A">
                <a:alpha val="65000"/>
              </a:srgbClr>
            </a:solidFill>
            <a:prstDash val="solid"/>
          </a:ln>
        </p:spPr>
      </p:sp>
      <p:sp>
        <p:nvSpPr>
          <p:cNvPr id="31" name="Text 29"/>
          <p:cNvSpPr/>
          <p:nvPr/>
        </p:nvSpPr>
        <p:spPr>
          <a:xfrm>
            <a:off x="822960" y="5897880"/>
            <a:ext cx="1051560" cy="164592"/>
          </a:xfrm>
          <a:prstGeom prst="rect">
            <a:avLst/>
          </a:prstGeom>
          <a:noFill/>
          <a:ln/>
        </p:spPr>
        <p:txBody>
          <a:bodyPr wrap="square" lIns="0" tIns="0" rIns="0" bIns="0" rtlCol="0" anchor="ctr">
            <a:normAutofit/>
          </a:bodyPr>
          <a:lstStyle/>
          <a:p>
            <a:pPr algn="l" indent="0" marL="0">
              <a:buNone/>
            </a:pPr>
            <a:r>
              <a:rPr lang="en-US" sz="800" b="1" spc="80" kern="0" dirty="0">
                <a:solidFill>
                  <a:srgbClr val="F2E84A"/>
                </a:solidFill>
                <a:latin typeface="Aptos" pitchFamily="34" charset="0"/>
                <a:ea typeface="Aptos" pitchFamily="34" charset="-122"/>
                <a:cs typeface="Aptos" pitchFamily="34" charset="-120"/>
              </a:rPr>
              <a:t>DESIGN RULE</a:t>
            </a:r>
            <a:endParaRPr lang="en-US" sz="800" dirty="0"/>
          </a:p>
        </p:txBody>
      </p:sp>
      <p:sp>
        <p:nvSpPr>
          <p:cNvPr id="32" name="Text 30"/>
          <p:cNvSpPr/>
          <p:nvPr/>
        </p:nvSpPr>
        <p:spPr>
          <a:xfrm>
            <a:off x="2048256" y="5852160"/>
            <a:ext cx="8138160" cy="219456"/>
          </a:xfrm>
          <a:prstGeom prst="rect">
            <a:avLst/>
          </a:prstGeom>
          <a:noFill/>
          <a:ln/>
        </p:spPr>
        <p:txBody>
          <a:bodyPr wrap="square" lIns="0" tIns="0" rIns="0" bIns="0" rtlCol="0" anchor="ctr">
            <a:normAutofit/>
          </a:bodyPr>
          <a:lstStyle/>
          <a:p>
            <a:pPr algn="l" indent="0" marL="0">
              <a:buNone/>
            </a:pPr>
            <a:r>
              <a:rPr lang="en-US" sz="1250" b="1" dirty="0">
                <a:solidFill>
                  <a:srgbClr val="F4F8FA"/>
                </a:solidFill>
                <a:latin typeface="Aptos" pitchFamily="34" charset="0"/>
                <a:ea typeface="Aptos" pitchFamily="34" charset="-122"/>
                <a:cs typeface="Aptos" pitchFamily="34" charset="-120"/>
              </a:rPr>
              <a:t>When evidence is weaker than the claim, weaken the claim.</a:t>
            </a:r>
            <a:endParaRPr lang="en-US" sz="1250" dirty="0"/>
          </a:p>
        </p:txBody>
      </p:sp>
      <p:sp>
        <p:nvSpPr>
          <p:cNvPr id="25" name="Slide Number Placeholder 0"/>
          <p:cNvSpPr>
            <a:spLocks noGrp="1"/>
          </p:cNvSpPr>
          <p:nvPr>
            <p:ph type="sldNum" sz="quarter" idx="4294967295"/>
          </p:nvPr>
        </p:nvSpPr>
        <p:spPr>
          <a:xfrm>
            <a:off x="11759184" y="6556248"/>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A95A1"/>
                </a:solidFill>
                <a:latin typeface="Aptos"/>
                <a:ea typeface="Aptos"/>
                <a:cs typeface="Aptos"/>
              </a:defRPr>
            </a:lvl1pPr>
          </a:lstStyle>
          <a:p>
            <a:pPr algn="l"/>
            <a:fld id="{F7021451-1387-4CA6-816F-3879F97B5CBC}" type="slidenum">
              <a:rPr b="0" lang="en-US"/>
              <a:t>6</a:t>
            </a:fld>
            <a:endParaRPr lang="en-US"/>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30352" y="402336"/>
            <a:ext cx="2743200" cy="228600"/>
          </a:xfrm>
          <a:prstGeom prst="rect">
            <a:avLst/>
          </a:prstGeom>
          <a:noFill/>
          <a:ln/>
        </p:spPr>
        <p:txBody>
          <a:bodyPr wrap="square" lIns="0" tIns="0" rIns="0" bIns="0" rtlCol="0" anchor="ctr">
            <a:normAutofit/>
          </a:bodyPr>
          <a:lstStyle/>
          <a:p>
            <a:pPr algn="l" indent="0" marL="0">
              <a:buNone/>
            </a:pPr>
            <a:r>
              <a:rPr lang="en-US" sz="900" b="1" spc="140" kern="0" dirty="0">
                <a:solidFill>
                  <a:srgbClr val="41D9FF"/>
                </a:solidFill>
                <a:latin typeface="Aptos" pitchFamily="34" charset="0"/>
                <a:ea typeface="Aptos" pitchFamily="34" charset="-122"/>
                <a:cs typeface="Aptos" pitchFamily="34" charset="-120"/>
              </a:rPr>
              <a:t>06 / WHY IT MATTERS</a:t>
            </a:r>
            <a:endParaRPr lang="en-US" sz="900" dirty="0"/>
          </a:p>
        </p:txBody>
      </p:sp>
      <p:sp>
        <p:nvSpPr>
          <p:cNvPr id="3" name="Text 1"/>
          <p:cNvSpPr/>
          <p:nvPr/>
        </p:nvSpPr>
        <p:spPr>
          <a:xfrm>
            <a:off x="530352" y="749808"/>
            <a:ext cx="10698480" cy="594360"/>
          </a:xfrm>
          <a:prstGeom prst="rect">
            <a:avLst/>
          </a:prstGeom>
          <a:noFill/>
          <a:ln/>
        </p:spPr>
        <p:txBody>
          <a:bodyPr wrap="square" lIns="0" tIns="0" rIns="0" bIns="0" rtlCol="0" anchor="ctr">
            <a:normAutofit/>
          </a:bodyPr>
          <a:lstStyle/>
          <a:p>
            <a:pPr algn="l" indent="0" marL="0">
              <a:buNone/>
            </a:pPr>
            <a:r>
              <a:rPr lang="en-US" sz="2700" b="1" dirty="0">
                <a:solidFill>
                  <a:srgbClr val="F4F8FA"/>
                </a:solidFill>
                <a:latin typeface="Aptos Display" pitchFamily="34" charset="0"/>
                <a:ea typeface="Aptos Display" pitchFamily="34" charset="-122"/>
                <a:cs typeface="Aptos Display" pitchFamily="34" charset="-120"/>
              </a:rPr>
              <a:t>From dashboard to investigation layer.</a:t>
            </a:r>
            <a:endParaRPr lang="en-US" sz="2700" dirty="0"/>
          </a:p>
        </p:txBody>
      </p:sp>
      <p:sp>
        <p:nvSpPr>
          <p:cNvPr id="4" name="Text 2"/>
          <p:cNvSpPr/>
          <p:nvPr/>
        </p:nvSpPr>
        <p:spPr>
          <a:xfrm>
            <a:off x="548640" y="1399032"/>
            <a:ext cx="10515600" cy="365760"/>
          </a:xfrm>
          <a:prstGeom prst="rect">
            <a:avLst/>
          </a:prstGeom>
          <a:noFill/>
          <a:ln/>
        </p:spPr>
        <p:txBody>
          <a:bodyPr wrap="square" lIns="0" tIns="0" rIns="0" bIns="0" rtlCol="0" anchor="ctr">
            <a:normAutofit/>
          </a:bodyPr>
          <a:lstStyle/>
          <a:p>
            <a:pPr algn="l" indent="0" marL="0">
              <a:buNone/>
            </a:pPr>
            <a:r>
              <a:rPr lang="en-US" sz="1150" dirty="0">
                <a:solidFill>
                  <a:srgbClr val="A7BBC5"/>
                </a:solidFill>
                <a:latin typeface="Aptos" pitchFamily="34" charset="0"/>
                <a:ea typeface="Aptos" pitchFamily="34" charset="-122"/>
                <a:cs typeface="Aptos" pitchFamily="34" charset="-120"/>
              </a:rPr>
              <a:t>EarthTrend Detective Pro turns NASA Earth-system measurements into findings people can trace, explain, and reuse.</a:t>
            </a:r>
            <a:endParaRPr lang="en-US" sz="1150" dirty="0"/>
          </a:p>
        </p:txBody>
      </p:sp>
      <p:sp>
        <p:nvSpPr>
          <p:cNvPr id="5" name="Text 3"/>
          <p:cNvSpPr/>
          <p:nvPr/>
        </p:nvSpPr>
        <p:spPr>
          <a:xfrm>
            <a:off x="621792" y="2157984"/>
            <a:ext cx="2148840" cy="502920"/>
          </a:xfrm>
          <a:prstGeom prst="rect">
            <a:avLst/>
          </a:prstGeom>
          <a:noFill/>
          <a:ln/>
        </p:spPr>
        <p:txBody>
          <a:bodyPr wrap="square" lIns="0" tIns="0" rIns="0" bIns="0" rtlCol="0" anchor="ctr">
            <a:normAutofit/>
          </a:bodyPr>
          <a:lstStyle/>
          <a:p>
            <a:pPr algn="l" indent="0" marL="0">
              <a:buNone/>
            </a:pPr>
            <a:r>
              <a:rPr lang="en-US" sz="2500" b="1" dirty="0">
                <a:solidFill>
                  <a:srgbClr val="41D9FF"/>
                </a:solidFill>
                <a:latin typeface="Aptos Display" pitchFamily="34" charset="0"/>
                <a:ea typeface="Aptos Display" pitchFamily="34" charset="-122"/>
                <a:cs typeface="Aptos Display" pitchFamily="34" charset="-120"/>
              </a:rPr>
              <a:t>01</a:t>
            </a:r>
            <a:endParaRPr lang="en-US" sz="2500" dirty="0"/>
          </a:p>
        </p:txBody>
      </p:sp>
      <p:sp>
        <p:nvSpPr>
          <p:cNvPr id="6" name="Text 4"/>
          <p:cNvSpPr/>
          <p:nvPr/>
        </p:nvSpPr>
        <p:spPr>
          <a:xfrm>
            <a:off x="621792" y="2679192"/>
            <a:ext cx="2148840" cy="365760"/>
          </a:xfrm>
          <a:prstGeom prst="rect">
            <a:avLst/>
          </a:prstGeom>
          <a:noFill/>
          <a:ln/>
        </p:spPr>
        <p:txBody>
          <a:bodyPr wrap="square" lIns="0" tIns="0" rIns="0" bIns="0" rtlCol="0" anchor="ctr">
            <a:normAutofit/>
          </a:bodyPr>
          <a:lstStyle/>
          <a:p>
            <a:pPr algn="l" indent="0" marL="0">
              <a:buNone/>
            </a:pPr>
            <a:r>
              <a:rPr lang="en-US" sz="950" dirty="0">
                <a:solidFill>
                  <a:srgbClr val="A7BBC5"/>
                </a:solidFill>
                <a:latin typeface="Aptos" pitchFamily="34" charset="0"/>
                <a:ea typeface="Aptos" pitchFamily="34" charset="-122"/>
                <a:cs typeface="Aptos" pitchFamily="34" charset="-120"/>
              </a:rPr>
              <a:t>NASA-driven investigation workflow</a:t>
            </a:r>
            <a:endParaRPr lang="en-US" sz="950" dirty="0"/>
          </a:p>
        </p:txBody>
      </p:sp>
      <p:sp>
        <p:nvSpPr>
          <p:cNvPr id="7" name="Text 5"/>
          <p:cNvSpPr/>
          <p:nvPr/>
        </p:nvSpPr>
        <p:spPr>
          <a:xfrm>
            <a:off x="2907792" y="2157984"/>
            <a:ext cx="1965960" cy="502920"/>
          </a:xfrm>
          <a:prstGeom prst="rect">
            <a:avLst/>
          </a:prstGeom>
          <a:noFill/>
          <a:ln/>
        </p:spPr>
        <p:txBody>
          <a:bodyPr wrap="square" lIns="0" tIns="0" rIns="0" bIns="0" rtlCol="0" anchor="ctr">
            <a:normAutofit/>
          </a:bodyPr>
          <a:lstStyle/>
          <a:p>
            <a:pPr algn="l" indent="0" marL="0">
              <a:buNone/>
            </a:pPr>
            <a:r>
              <a:rPr lang="en-US" sz="2500" b="1" dirty="0">
                <a:solidFill>
                  <a:srgbClr val="F4F8FA"/>
                </a:solidFill>
                <a:latin typeface="Aptos Display" pitchFamily="34" charset="0"/>
                <a:ea typeface="Aptos Display" pitchFamily="34" charset="-122"/>
                <a:cs typeface="Aptos Display" pitchFamily="34" charset="-120"/>
              </a:rPr>
              <a:t>05</a:t>
            </a:r>
            <a:endParaRPr lang="en-US" sz="2500" dirty="0"/>
          </a:p>
        </p:txBody>
      </p:sp>
      <p:sp>
        <p:nvSpPr>
          <p:cNvPr id="8" name="Text 6"/>
          <p:cNvSpPr/>
          <p:nvPr/>
        </p:nvSpPr>
        <p:spPr>
          <a:xfrm>
            <a:off x="2907792" y="2679192"/>
            <a:ext cx="1965960" cy="365760"/>
          </a:xfrm>
          <a:prstGeom prst="rect">
            <a:avLst/>
          </a:prstGeom>
          <a:noFill/>
          <a:ln/>
        </p:spPr>
        <p:txBody>
          <a:bodyPr wrap="square" lIns="0" tIns="0" rIns="0" bIns="0" rtlCol="0" anchor="ctr">
            <a:normAutofit/>
          </a:bodyPr>
          <a:lstStyle/>
          <a:p>
            <a:pPr algn="l" indent="0" marL="0">
              <a:buNone/>
            </a:pPr>
            <a:r>
              <a:rPr lang="en-US" sz="950" dirty="0">
                <a:solidFill>
                  <a:srgbClr val="A7BBC5"/>
                </a:solidFill>
                <a:latin typeface="Aptos" pitchFamily="34" charset="0"/>
                <a:ea typeface="Aptos" pitchFamily="34" charset="-122"/>
                <a:cs typeface="Aptos" pitchFamily="34" charset="-120"/>
              </a:rPr>
              <a:t>core evidence-chain checkpoints</a:t>
            </a:r>
            <a:endParaRPr lang="en-US" sz="950" dirty="0"/>
          </a:p>
        </p:txBody>
      </p:sp>
      <p:sp>
        <p:nvSpPr>
          <p:cNvPr id="9" name="Text 7"/>
          <p:cNvSpPr/>
          <p:nvPr/>
        </p:nvSpPr>
        <p:spPr>
          <a:xfrm>
            <a:off x="5074920" y="2157984"/>
            <a:ext cx="1965960" cy="502920"/>
          </a:xfrm>
          <a:prstGeom prst="rect">
            <a:avLst/>
          </a:prstGeom>
          <a:noFill/>
          <a:ln/>
        </p:spPr>
        <p:txBody>
          <a:bodyPr wrap="square" lIns="0" tIns="0" rIns="0" bIns="0" rtlCol="0" anchor="ctr">
            <a:normAutofit/>
          </a:bodyPr>
          <a:lstStyle/>
          <a:p>
            <a:pPr algn="l" indent="0" marL="0">
              <a:buNone/>
            </a:pPr>
            <a:r>
              <a:rPr lang="en-US" sz="2500" b="1" dirty="0">
                <a:solidFill>
                  <a:srgbClr val="F2E84A"/>
                </a:solidFill>
                <a:latin typeface="Aptos Display" pitchFamily="34" charset="0"/>
                <a:ea typeface="Aptos Display" pitchFamily="34" charset="-122"/>
                <a:cs typeface="Aptos Display" pitchFamily="34" charset="-120"/>
              </a:rPr>
              <a:t>07</a:t>
            </a:r>
            <a:endParaRPr lang="en-US" sz="2500" dirty="0"/>
          </a:p>
        </p:txBody>
      </p:sp>
      <p:sp>
        <p:nvSpPr>
          <p:cNvPr id="10" name="Text 8"/>
          <p:cNvSpPr/>
          <p:nvPr/>
        </p:nvSpPr>
        <p:spPr>
          <a:xfrm>
            <a:off x="5074920" y="2679192"/>
            <a:ext cx="1965960" cy="365760"/>
          </a:xfrm>
          <a:prstGeom prst="rect">
            <a:avLst/>
          </a:prstGeom>
          <a:noFill/>
          <a:ln/>
        </p:spPr>
        <p:txBody>
          <a:bodyPr wrap="square" lIns="0" tIns="0" rIns="0" bIns="0" rtlCol="0" anchor="ctr">
            <a:normAutofit/>
          </a:bodyPr>
          <a:lstStyle/>
          <a:p>
            <a:pPr algn="l" indent="0" marL="0">
              <a:buNone/>
            </a:pPr>
            <a:r>
              <a:rPr lang="en-US" sz="950" dirty="0">
                <a:solidFill>
                  <a:srgbClr val="A7BBC5"/>
                </a:solidFill>
                <a:latin typeface="Aptos" pitchFamily="34" charset="0"/>
                <a:ea typeface="Aptos" pitchFamily="34" charset="-122"/>
                <a:cs typeface="Aptos" pitchFamily="34" charset="-120"/>
              </a:rPr>
              <a:t>presentation slides / demo story</a:t>
            </a:r>
            <a:endParaRPr lang="en-US" sz="950" dirty="0"/>
          </a:p>
        </p:txBody>
      </p:sp>
      <p:sp>
        <p:nvSpPr>
          <p:cNvPr id="11" name="Text 9"/>
          <p:cNvSpPr/>
          <p:nvPr/>
        </p:nvSpPr>
        <p:spPr>
          <a:xfrm>
            <a:off x="7187184" y="2157984"/>
            <a:ext cx="1965960" cy="502920"/>
          </a:xfrm>
          <a:prstGeom prst="rect">
            <a:avLst/>
          </a:prstGeom>
          <a:noFill/>
          <a:ln/>
        </p:spPr>
        <p:txBody>
          <a:bodyPr wrap="square" lIns="0" tIns="0" rIns="0" bIns="0" rtlCol="0" anchor="ctr">
            <a:normAutofit/>
          </a:bodyPr>
          <a:lstStyle/>
          <a:p>
            <a:pPr algn="l" indent="0" marL="0">
              <a:buNone/>
            </a:pPr>
            <a:r>
              <a:rPr lang="en-US" sz="2500" b="1" dirty="0">
                <a:solidFill>
                  <a:srgbClr val="67E0A3"/>
                </a:solidFill>
                <a:latin typeface="Aptos Display" pitchFamily="34" charset="0"/>
                <a:ea typeface="Aptos Display" pitchFamily="34" charset="-122"/>
                <a:cs typeface="Aptos Display" pitchFamily="34" charset="-120"/>
              </a:rPr>
              <a:t>02</a:t>
            </a:r>
            <a:endParaRPr lang="en-US" sz="2500" dirty="0"/>
          </a:p>
        </p:txBody>
      </p:sp>
      <p:sp>
        <p:nvSpPr>
          <p:cNvPr id="12" name="Text 10"/>
          <p:cNvSpPr/>
          <p:nvPr/>
        </p:nvSpPr>
        <p:spPr>
          <a:xfrm>
            <a:off x="7187184" y="2679192"/>
            <a:ext cx="1965960" cy="365760"/>
          </a:xfrm>
          <a:prstGeom prst="rect">
            <a:avLst/>
          </a:prstGeom>
          <a:noFill/>
          <a:ln/>
        </p:spPr>
        <p:txBody>
          <a:bodyPr wrap="square" lIns="0" tIns="0" rIns="0" bIns="0" rtlCol="0" anchor="ctr">
            <a:normAutofit/>
          </a:bodyPr>
          <a:lstStyle/>
          <a:p>
            <a:pPr algn="l" indent="0" marL="0">
              <a:buNone/>
            </a:pPr>
            <a:r>
              <a:rPr lang="en-US" sz="950" dirty="0">
                <a:solidFill>
                  <a:srgbClr val="A7BBC5"/>
                </a:solidFill>
                <a:latin typeface="Aptos" pitchFamily="34" charset="0"/>
                <a:ea typeface="Aptos" pitchFamily="34" charset="-122"/>
                <a:cs typeface="Aptos" pitchFamily="34" charset="-120"/>
              </a:rPr>
              <a:t>public artifacts: app + GitHub</a:t>
            </a:r>
            <a:endParaRPr lang="en-US" sz="950" dirty="0"/>
          </a:p>
        </p:txBody>
      </p:sp>
      <p:sp>
        <p:nvSpPr>
          <p:cNvPr id="13" name="Shape 11"/>
          <p:cNvSpPr/>
          <p:nvPr/>
        </p:nvSpPr>
        <p:spPr>
          <a:xfrm>
            <a:off x="621792" y="3886200"/>
            <a:ext cx="7909560" cy="1389888"/>
          </a:xfrm>
          <a:prstGeom prst="roundRect">
            <a:avLst>
              <a:gd name="adj" fmla="val 7895"/>
            </a:avLst>
          </a:prstGeom>
          <a:solidFill>
            <a:srgbClr val="0D202C"/>
          </a:solidFill>
          <a:ln w="12700">
            <a:solidFill>
              <a:srgbClr val="102938">
                <a:alpha val="65000"/>
              </a:srgbClr>
            </a:solidFill>
            <a:prstDash val="solid"/>
          </a:ln>
        </p:spPr>
      </p:sp>
      <p:sp>
        <p:nvSpPr>
          <p:cNvPr id="14" name="Text 12"/>
          <p:cNvSpPr/>
          <p:nvPr/>
        </p:nvSpPr>
        <p:spPr>
          <a:xfrm>
            <a:off x="896112" y="4169664"/>
            <a:ext cx="1417320" cy="182880"/>
          </a:xfrm>
          <a:prstGeom prst="rect">
            <a:avLst/>
          </a:prstGeom>
          <a:noFill/>
          <a:ln/>
        </p:spPr>
        <p:txBody>
          <a:bodyPr wrap="square" lIns="0" tIns="0" rIns="0" bIns="0" rtlCol="0" anchor="ctr">
            <a:normAutofit/>
          </a:bodyPr>
          <a:lstStyle/>
          <a:p>
            <a:pPr algn="l" indent="0" marL="0">
              <a:buNone/>
            </a:pPr>
            <a:r>
              <a:rPr lang="en-US" sz="800" b="1" spc="80" kern="0" dirty="0">
                <a:solidFill>
                  <a:srgbClr val="41D9FF"/>
                </a:solidFill>
                <a:latin typeface="Aptos" pitchFamily="34" charset="0"/>
                <a:ea typeface="Aptos" pitchFamily="34" charset="-122"/>
                <a:cs typeface="Aptos" pitchFamily="34" charset="-120"/>
              </a:rPr>
              <a:t>SUBMISSION STACK</a:t>
            </a:r>
            <a:endParaRPr lang="en-US" sz="800" dirty="0"/>
          </a:p>
        </p:txBody>
      </p:sp>
      <p:sp>
        <p:nvSpPr>
          <p:cNvPr id="15" name="Text 13"/>
          <p:cNvSpPr/>
          <p:nvPr/>
        </p:nvSpPr>
        <p:spPr>
          <a:xfrm>
            <a:off x="896112" y="4498848"/>
            <a:ext cx="914400" cy="201168"/>
          </a:xfrm>
          <a:prstGeom prst="rect">
            <a:avLst/>
          </a:prstGeom>
          <a:noFill/>
          <a:ln/>
        </p:spPr>
        <p:txBody>
          <a:bodyPr wrap="square" lIns="0" tIns="0" rIns="0" bIns="0" rtlCol="0" anchor="ctr">
            <a:normAutofit/>
          </a:bodyPr>
          <a:lstStyle/>
          <a:p>
            <a:pPr algn="l" indent="0" marL="0">
              <a:buNone/>
            </a:pPr>
            <a:r>
              <a:rPr lang="en-US" sz="800" b="1" dirty="0">
                <a:solidFill>
                  <a:srgbClr val="A7BBC5"/>
                </a:solidFill>
                <a:latin typeface="Aptos" pitchFamily="34" charset="0"/>
                <a:ea typeface="Aptos" pitchFamily="34" charset="-122"/>
                <a:cs typeface="Aptos" pitchFamily="34" charset="-120"/>
              </a:rPr>
              <a:t>FINAL APP</a:t>
            </a:r>
            <a:endParaRPr lang="en-US" sz="800" dirty="0"/>
          </a:p>
        </p:txBody>
      </p:sp>
      <p:sp>
        <p:nvSpPr>
          <p:cNvPr id="16" name="Text 14"/>
          <p:cNvSpPr/>
          <p:nvPr/>
        </p:nvSpPr>
        <p:spPr>
          <a:xfrm>
            <a:off x="1901952" y="4480560"/>
            <a:ext cx="4663440" cy="228600"/>
          </a:xfrm>
          <a:prstGeom prst="rect">
            <a:avLst/>
          </a:prstGeom>
          <a:noFill/>
          <a:ln/>
        </p:spPr>
        <p:txBody>
          <a:bodyPr wrap="square" lIns="0" tIns="0" rIns="0" bIns="0" rtlCol="0" anchor="ctr">
            <a:normAutofit/>
          </a:bodyPr>
          <a:lstStyle/>
          <a:p>
            <a:pPr algn="l" indent="0" marL="0">
              <a:buNone/>
            </a:pPr>
            <a:r>
              <a:rPr lang="en-US" sz="1050" b="1" dirty="0">
                <a:solidFill>
                  <a:srgbClr val="F4F8FA"/>
                </a:solidFill>
                <a:latin typeface="Aptos" pitchFamily="34" charset="0"/>
                <a:ea typeface="Aptos" pitchFamily="34" charset="-122"/>
                <a:cs typeface="Aptos" pitchFamily="34" charset="-120"/>
              </a:rPr>
              <a:t>earth-trend-detective.base44.app</a:t>
            </a:r>
            <a:endParaRPr lang="en-US" sz="1050" dirty="0"/>
          </a:p>
        </p:txBody>
      </p:sp>
      <p:sp>
        <p:nvSpPr>
          <p:cNvPr id="17" name="Text 15"/>
          <p:cNvSpPr/>
          <p:nvPr/>
        </p:nvSpPr>
        <p:spPr>
          <a:xfrm>
            <a:off x="896112" y="4837176"/>
            <a:ext cx="914400" cy="201168"/>
          </a:xfrm>
          <a:prstGeom prst="rect">
            <a:avLst/>
          </a:prstGeom>
          <a:noFill/>
          <a:ln/>
        </p:spPr>
        <p:txBody>
          <a:bodyPr wrap="square" lIns="0" tIns="0" rIns="0" bIns="0" rtlCol="0" anchor="ctr">
            <a:normAutofit/>
          </a:bodyPr>
          <a:lstStyle/>
          <a:p>
            <a:pPr algn="l" indent="0" marL="0">
              <a:buNone/>
            </a:pPr>
            <a:r>
              <a:rPr lang="en-US" sz="800" b="1" dirty="0">
                <a:solidFill>
                  <a:srgbClr val="A7BBC5"/>
                </a:solidFill>
                <a:latin typeface="Aptos" pitchFamily="34" charset="0"/>
                <a:ea typeface="Aptos" pitchFamily="34" charset="-122"/>
                <a:cs typeface="Aptos" pitchFamily="34" charset="-120"/>
              </a:rPr>
              <a:t>SOURCE</a:t>
            </a:r>
            <a:endParaRPr lang="en-US" sz="800" dirty="0"/>
          </a:p>
        </p:txBody>
      </p:sp>
      <p:sp>
        <p:nvSpPr>
          <p:cNvPr id="18" name="Text 16"/>
          <p:cNvSpPr/>
          <p:nvPr/>
        </p:nvSpPr>
        <p:spPr>
          <a:xfrm>
            <a:off x="1901952" y="4818888"/>
            <a:ext cx="6035040" cy="228600"/>
          </a:xfrm>
          <a:prstGeom prst="rect">
            <a:avLst/>
          </a:prstGeom>
          <a:noFill/>
          <a:ln/>
        </p:spPr>
        <p:txBody>
          <a:bodyPr wrap="square" lIns="0" tIns="0" rIns="0" bIns="0" rtlCol="0" anchor="ctr">
            <a:normAutofit/>
          </a:bodyPr>
          <a:lstStyle/>
          <a:p>
            <a:pPr algn="l" indent="0" marL="0">
              <a:buNone/>
            </a:pPr>
            <a:r>
              <a:rPr lang="en-US" sz="960" b="1" dirty="0">
                <a:solidFill>
                  <a:srgbClr val="F4F8FA"/>
                </a:solidFill>
                <a:latin typeface="Aptos" pitchFamily="34" charset="0"/>
                <a:ea typeface="Aptos" pitchFamily="34" charset="-122"/>
                <a:cs typeface="Aptos" pitchFamily="34" charset="-120"/>
              </a:rPr>
              <a:t>github.com/takiibneduha3-ux/earthtrend-detective</a:t>
            </a:r>
            <a:endParaRPr lang="en-US" sz="960" dirty="0"/>
          </a:p>
        </p:txBody>
      </p:sp>
      <p:sp>
        <p:nvSpPr>
          <p:cNvPr id="19" name="Text 17"/>
          <p:cNvSpPr/>
          <p:nvPr/>
        </p:nvSpPr>
        <p:spPr>
          <a:xfrm>
            <a:off x="896112" y="5212080"/>
            <a:ext cx="6903720" cy="274320"/>
          </a:xfrm>
          <a:prstGeom prst="rect">
            <a:avLst/>
          </a:prstGeom>
          <a:noFill/>
          <a:ln/>
        </p:spPr>
        <p:txBody>
          <a:bodyPr wrap="square" lIns="0" tIns="0" rIns="0" bIns="0" rtlCol="0" anchor="ctr">
            <a:normAutofit/>
          </a:bodyPr>
          <a:lstStyle/>
          <a:p>
            <a:pPr algn="l" indent="0" marL="0">
              <a:buNone/>
            </a:pPr>
            <a:r>
              <a:rPr lang="en-US" sz="850" dirty="0">
                <a:solidFill>
                  <a:srgbClr val="A7BBC5"/>
                </a:solidFill>
                <a:latin typeface="Aptos" pitchFamily="34" charset="0"/>
                <a:ea typeface="Aptos" pitchFamily="34" charset="-122"/>
                <a:cs typeface="Aptos" pitchFamily="34" charset="-120"/>
              </a:rPr>
              <a:t>AI disclosure: transparent use of AI-assisted development/design, with scientific rules kept explicit and reviewable.</a:t>
            </a:r>
            <a:endParaRPr lang="en-US" sz="850" dirty="0"/>
          </a:p>
        </p:txBody>
      </p:sp>
      <p:sp>
        <p:nvSpPr>
          <p:cNvPr id="20" name="Shape 18"/>
          <p:cNvSpPr/>
          <p:nvPr/>
        </p:nvSpPr>
        <p:spPr>
          <a:xfrm>
            <a:off x="8796528" y="3886200"/>
            <a:ext cx="2432304" cy="2011680"/>
          </a:xfrm>
          <a:prstGeom prst="roundRect">
            <a:avLst>
              <a:gd name="adj" fmla="val 5455"/>
            </a:avLst>
          </a:prstGeom>
          <a:solidFill>
            <a:srgbClr val="102938"/>
          </a:solidFill>
          <a:ln w="12700">
            <a:solidFill>
              <a:srgbClr val="102938">
                <a:alpha val="0"/>
              </a:srgbClr>
            </a:solidFill>
            <a:prstDash val="solid"/>
          </a:ln>
        </p:spPr>
      </p:sp>
      <p:sp>
        <p:nvSpPr>
          <p:cNvPr id="21" name="Text 19"/>
          <p:cNvSpPr/>
          <p:nvPr/>
        </p:nvSpPr>
        <p:spPr>
          <a:xfrm>
            <a:off x="9107424" y="4133088"/>
            <a:ext cx="1691640" cy="201168"/>
          </a:xfrm>
          <a:prstGeom prst="rect">
            <a:avLst/>
          </a:prstGeom>
          <a:noFill/>
          <a:ln/>
        </p:spPr>
        <p:txBody>
          <a:bodyPr wrap="square" lIns="0" tIns="0" rIns="0" bIns="0" rtlCol="0" anchor="ctr">
            <a:normAutofit/>
          </a:bodyPr>
          <a:lstStyle/>
          <a:p>
            <a:pPr algn="ctr" indent="0" marL="0">
              <a:buNone/>
            </a:pPr>
            <a:r>
              <a:rPr lang="en-US" sz="800" b="1" spc="80" kern="0" dirty="0">
                <a:solidFill>
                  <a:srgbClr val="F2E84A"/>
                </a:solidFill>
                <a:latin typeface="Aptos" pitchFamily="34" charset="0"/>
                <a:ea typeface="Aptos" pitchFamily="34" charset="-122"/>
                <a:cs typeface="Aptos" pitchFamily="34" charset="-120"/>
              </a:rPr>
              <a:t>OPEN THE APP</a:t>
            </a:r>
            <a:endParaRPr lang="en-US" sz="800" dirty="0"/>
          </a:p>
        </p:txBody>
      </p:sp>
      <p:pic>
        <p:nvPicPr>
          <p:cNvPr id="22" name="Image 0" descr="/mnt/data/earthtrend_app_qr.png">    </p:cNvPr>
          <p:cNvPicPr>
            <a:picLocks noChangeAspect="1"/>
          </p:cNvPicPr>
          <p:nvPr/>
        </p:nvPicPr>
        <p:blipFill>
          <a:blip r:embed="rId1"/>
          <a:stretch>
            <a:fillRect/>
          </a:stretch>
        </p:blipFill>
        <p:spPr>
          <a:xfrm>
            <a:off x="9464040" y="4462272"/>
            <a:ext cx="1097280" cy="1097280"/>
          </a:xfrm>
          <a:prstGeom prst="rect">
            <a:avLst/>
          </a:prstGeom>
        </p:spPr>
      </p:pic>
      <p:sp>
        <p:nvSpPr>
          <p:cNvPr id="23" name="Text 20"/>
          <p:cNvSpPr/>
          <p:nvPr/>
        </p:nvSpPr>
        <p:spPr>
          <a:xfrm>
            <a:off x="9098280" y="5650992"/>
            <a:ext cx="1810512" cy="182880"/>
          </a:xfrm>
          <a:prstGeom prst="rect">
            <a:avLst/>
          </a:prstGeom>
          <a:noFill/>
          <a:ln/>
        </p:spPr>
        <p:txBody>
          <a:bodyPr wrap="square" lIns="0" tIns="0" rIns="0" bIns="0" rtlCol="0" anchor="ctr">
            <a:normAutofit/>
          </a:bodyPr>
          <a:lstStyle/>
          <a:p>
            <a:pPr algn="ctr" indent="0" marL="0">
              <a:buNone/>
            </a:pPr>
            <a:r>
              <a:rPr lang="en-US" sz="850" dirty="0">
                <a:solidFill>
                  <a:srgbClr val="A7BBC5"/>
                </a:solidFill>
                <a:latin typeface="Aptos" pitchFamily="34" charset="0"/>
                <a:ea typeface="Aptos" pitchFamily="34" charset="-122"/>
                <a:cs typeface="Aptos" pitchFamily="34" charset="-120"/>
              </a:rPr>
              <a:t>Scan to launch</a:t>
            </a:r>
            <a:endParaRPr lang="en-US" sz="850" dirty="0"/>
          </a:p>
        </p:txBody>
      </p:sp>
      <p:sp>
        <p:nvSpPr>
          <p:cNvPr id="24" name="Text 21"/>
          <p:cNvSpPr/>
          <p:nvPr/>
        </p:nvSpPr>
        <p:spPr>
          <a:xfrm>
            <a:off x="10195560" y="6126480"/>
            <a:ext cx="914400" cy="182880"/>
          </a:xfrm>
          <a:prstGeom prst="rect">
            <a:avLst/>
          </a:prstGeom>
          <a:noFill/>
          <a:ln/>
        </p:spPr>
        <p:txBody>
          <a:bodyPr wrap="square" lIns="0" tIns="0" rIns="0" bIns="0" rtlCol="0" anchor="ctr">
            <a:normAutofit/>
          </a:bodyPr>
          <a:lstStyle/>
          <a:p>
            <a:pPr algn="r" indent="0" marL="0">
              <a:buNone/>
            </a:pPr>
            <a:r>
              <a:rPr lang="en-US" sz="900" b="1" dirty="0">
                <a:solidFill>
                  <a:srgbClr val="41D9FF"/>
                </a:solidFill>
                <a:latin typeface="Aptos" pitchFamily="34" charset="0"/>
                <a:ea typeface="Aptos" pitchFamily="34" charset="-122"/>
                <a:cs typeface="Aptos" pitchFamily="34" charset="-120"/>
              </a:rPr>
              <a:t>decoder</a:t>
            </a:r>
            <a:endParaRPr lang="en-US" sz="900" dirty="0"/>
          </a:p>
        </p:txBody>
      </p:sp>
      <p:sp>
        <p:nvSpPr>
          <p:cNvPr id="25" name="Slide Number Placeholder 0"/>
          <p:cNvSpPr>
            <a:spLocks noGrp="1"/>
          </p:cNvSpPr>
          <p:nvPr>
            <p:ph type="sldNum" sz="quarter" idx="4294967295"/>
          </p:nvPr>
        </p:nvSpPr>
        <p:spPr>
          <a:xfrm>
            <a:off x="11759184" y="6556248"/>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A95A1"/>
                </a:solidFill>
                <a:latin typeface="Aptos"/>
                <a:ea typeface="Aptos"/>
                <a:cs typeface="Aptos"/>
              </a:defRPr>
            </a:lvl1pPr>
          </a:lstStyle>
          <a:p>
            <a:pPr algn="l"/>
            <a:fld id="{F7021451-1387-4CA6-816F-3879F97B5CBC}" type="slidenum">
              <a:rPr b="0" lang="en-US"/>
              <a:t>7</a:t>
            </a:fld>
            <a:endParaRPr lang="en-US"/>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decoder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EarthTrend Detective Pro</dc:title>
  <dc:subject>NASA Space Apps Challenge 2026 — EarthTrend Detective Pro</dc:subject>
  <dc:creator>Team decoder</dc:creator>
  <cp:lastModifiedBy>Team decoder</cp:lastModifiedBy>
  <cp:revision>1</cp:revision>
  <dcterms:created xsi:type="dcterms:W3CDTF">2026-09-21T10:45:16Z</dcterms:created>
  <dcterms:modified xsi:type="dcterms:W3CDTF">2026-09-21T10:45:16Z</dcterms:modified>
</cp:coreProperties>
</file>